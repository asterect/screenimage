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ログイ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四角形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833"/>
              </a:avLst>
            </a:prstGeom>
            <a:solidFill>
              <a:srgbClr val="EEF2F6"/>
            </a:solidFill>
            <a:ln w="9525">
              <a:solidFill>
                <a:srgbClr val="CBD5E1"/>
              </a:solidFill>
            </a:ln>
          </p:spPr>
        </p:sp>
        <p:sp>
          <p:nvSpPr>
            <p:cNvPr id="3" name="四角形"/>
            <p:cNvSpPr/>
            <p:nvPr/>
          </p:nvSpPr>
          <p:spPr>
            <a:xfrm>
              <a:off x="4000500" y="1143000"/>
              <a:ext cx="4191000" cy="4476750"/>
            </a:xfrm>
            <a:prstGeom prst="roundRect">
              <a:avLst>
                <a:gd name="adj" fmla="val 136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" name="テキスト"/>
            <p:cNvSpPr txBox="1"/>
            <p:nvPr/>
          </p:nvSpPr>
          <p:spPr>
            <a:xfrm>
              <a:off x="4381500" y="1485900"/>
              <a:ext cx="34290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顧客管理システム</a:t>
              </a:r>
            </a:p>
          </p:txBody>
        </p:sp>
        <p:sp>
          <p:nvSpPr>
            <p:cNvPr id="5" name="テキスト"/>
            <p:cNvSpPr txBox="1"/>
            <p:nvPr/>
          </p:nvSpPr>
          <p:spPr>
            <a:xfrm>
              <a:off x="4381500" y="1847850"/>
              <a:ext cx="3429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64748B"/>
                  </a:solidFill>
                  <a:latin typeface="Meiryo UI"/>
                  <a:ea typeface="Meiryo UI"/>
                </a:rPr>
                <a:t>ユーザーIDとパスワードを入力してください</a:t>
              </a:r>
            </a:p>
          </p:txBody>
        </p:sp>
        <p:grpSp>
          <p:nvGrpSpPr>
            <p:cNvPr id="9" name="テキスト入力：ユーザーID"/>
            <p:cNvGrpSpPr/>
            <p:nvPr/>
          </p:nvGrpSpPr>
          <p:grpSpPr>
            <a:xfrm>
              <a:off x="4381500" y="2286000"/>
              <a:ext cx="3429000" cy="628650"/>
              <a:chOff x="4381500" y="2286000"/>
              <a:chExt cx="3429000" cy="628650"/>
            </a:xfrm>
          </p:grpSpPr>
          <p:sp>
            <p:nvSpPr>
              <p:cNvPr id="6" name="テキスト"/>
              <p:cNvSpPr txBox="1"/>
              <p:nvPr/>
            </p:nvSpPr>
            <p:spPr>
              <a:xfrm>
                <a:off x="4381500" y="2286000"/>
                <a:ext cx="3429000" cy="20955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ユーザーID</a:t>
                </a:r>
              </a:p>
            </p:txBody>
          </p:sp>
          <p:sp>
            <p:nvSpPr>
              <p:cNvPr id="7" name="四角形"/>
              <p:cNvSpPr/>
              <p:nvPr/>
            </p:nvSpPr>
            <p:spPr>
              <a:xfrm>
                <a:off x="4381500" y="2533650"/>
                <a:ext cx="3429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8" name="テキスト"/>
              <p:cNvSpPr txBox="1"/>
              <p:nvPr/>
            </p:nvSpPr>
            <p:spPr>
              <a:xfrm>
                <a:off x="4495800" y="2533650"/>
                <a:ext cx="3200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例）U123456</a:t>
                </a:r>
              </a:p>
            </p:txBody>
          </p:sp>
        </p:grpSp>
        <p:grpSp>
          <p:nvGrpSpPr>
            <p:cNvPr id="13" name="テキスト入力：パスワード"/>
            <p:cNvGrpSpPr/>
            <p:nvPr/>
          </p:nvGrpSpPr>
          <p:grpSpPr>
            <a:xfrm>
              <a:off x="4381500" y="3067050"/>
              <a:ext cx="3429000" cy="628650"/>
              <a:chOff x="4381500" y="3067050"/>
              <a:chExt cx="3429000" cy="628650"/>
            </a:xfrm>
          </p:grpSpPr>
          <p:sp>
            <p:nvSpPr>
              <p:cNvPr id="10" name="テキスト"/>
              <p:cNvSpPr txBox="1"/>
              <p:nvPr/>
            </p:nvSpPr>
            <p:spPr>
              <a:xfrm>
                <a:off x="4381500" y="3067050"/>
                <a:ext cx="3429000" cy="20955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パスワード</a:t>
                </a:r>
              </a:p>
            </p:txBody>
          </p:sp>
          <p:sp>
            <p:nvSpPr>
              <p:cNvPr id="11" name="四角形"/>
              <p:cNvSpPr/>
              <p:nvPr/>
            </p:nvSpPr>
            <p:spPr>
              <a:xfrm>
                <a:off x="4381500" y="3314700"/>
                <a:ext cx="3429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12" name="テキスト"/>
              <p:cNvSpPr txBox="1"/>
              <p:nvPr/>
            </p:nvSpPr>
            <p:spPr>
              <a:xfrm>
                <a:off x="4495800" y="3314700"/>
                <a:ext cx="3200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8文字以上</a:t>
                </a:r>
              </a:p>
            </p:txBody>
          </p:sp>
        </p:grpSp>
        <p:grpSp>
          <p:nvGrpSpPr>
            <p:cNvPr id="16" name="チェックボックス"/>
            <p:cNvGrpSpPr/>
            <p:nvPr/>
          </p:nvGrpSpPr>
          <p:grpSpPr>
            <a:xfrm>
              <a:off x="4381500" y="3810000"/>
              <a:ext cx="3429000" cy="266700"/>
              <a:chOff x="4381500" y="3810000"/>
              <a:chExt cx="3429000" cy="266700"/>
            </a:xfrm>
          </p:grpSpPr>
          <p:sp>
            <p:nvSpPr>
              <p:cNvPr id="14" name="四角形"/>
              <p:cNvSpPr/>
              <p:nvPr/>
            </p:nvSpPr>
            <p:spPr>
              <a:xfrm>
                <a:off x="4381500" y="3857625"/>
                <a:ext cx="17145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94A3B8"/>
                </a:solidFill>
              </a:ln>
            </p:spPr>
          </p:sp>
          <p:sp>
            <p:nvSpPr>
              <p:cNvPr id="15" name="テキスト"/>
              <p:cNvSpPr txBox="1"/>
              <p:nvPr/>
            </p:nvSpPr>
            <p:spPr>
              <a:xfrm>
                <a:off x="4629150" y="3829050"/>
                <a:ext cx="1526828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ログイン状態を保持する</a:t>
                </a:r>
              </a:p>
            </p:txBody>
          </p:sp>
        </p:grpSp>
        <p:grpSp>
          <p:nvGrpSpPr>
            <p:cNvPr id="19" name="ボタン：ログイン"/>
            <p:cNvGrpSpPr/>
            <p:nvPr/>
          </p:nvGrpSpPr>
          <p:grpSpPr>
            <a:xfrm>
              <a:off x="4381500" y="4229100"/>
              <a:ext cx="3429000" cy="419100"/>
              <a:chOff x="4381500" y="4229100"/>
              <a:chExt cx="3429000" cy="419100"/>
            </a:xfrm>
          </p:grpSpPr>
          <p:sp>
            <p:nvSpPr>
              <p:cNvPr id="17" name="四角形"/>
              <p:cNvSpPr/>
              <p:nvPr/>
            </p:nvSpPr>
            <p:spPr>
              <a:xfrm>
                <a:off x="4381500" y="4229100"/>
                <a:ext cx="34290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8" name="テキスト"/>
              <p:cNvSpPr txBox="1"/>
              <p:nvPr/>
            </p:nvSpPr>
            <p:spPr>
              <a:xfrm>
                <a:off x="4381500" y="4229100"/>
                <a:ext cx="3429000" cy="419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ログイン</a:t>
                </a:r>
              </a:p>
            </p:txBody>
          </p:sp>
        </p:grpSp>
        <p:grpSp>
          <p:nvGrpSpPr>
            <p:cNvPr id="22" name="ボタン：パスワードをお忘れの方"/>
            <p:cNvGrpSpPr/>
            <p:nvPr/>
          </p:nvGrpSpPr>
          <p:grpSpPr>
            <a:xfrm>
              <a:off x="4381500" y="4762500"/>
              <a:ext cx="3429000" cy="304800"/>
              <a:chOff x="4381500" y="4762500"/>
              <a:chExt cx="3429000" cy="304800"/>
            </a:xfrm>
          </p:grpSpPr>
          <p:sp>
            <p:nvSpPr>
              <p:cNvPr id="20" name="テキスト"/>
              <p:cNvSpPr txBox="1"/>
              <p:nvPr/>
            </p:nvSpPr>
            <p:spPr>
              <a:xfrm>
                <a:off x="4381500" y="4762500"/>
                <a:ext cx="34290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パスワードをお忘れの方</a:t>
                </a:r>
              </a:p>
            </p:txBody>
          </p:sp>
          <p:cxnSp>
            <p:nvCxnSpPr>
              <p:cNvPr id="21" name="線"/>
              <p:cNvCxnSpPr/>
              <p:nvPr/>
            </p:nvCxnSpPr>
            <p:spPr>
              <a:xfrm>
                <a:off x="5350073" y="5019675"/>
                <a:ext cx="1491853" cy="0"/>
              </a:xfrm>
              <a:prstGeom prst="line">
                <a:avLst/>
              </a:prstGeom>
              <a:ln w="9525">
                <a:solidFill>
                  <a:srgbClr val="2457C5"/>
                </a:solidFill>
              </a:ln>
            </p:spPr>
          </p:cxnSp>
        </p:grpSp>
        <p:sp>
          <p:nvSpPr>
            <p:cNvPr id="23" name="テキスト"/>
            <p:cNvSpPr txBox="1"/>
            <p:nvPr/>
          </p:nvSpPr>
          <p:spPr>
            <a:xfrm>
              <a:off x="4000500" y="5143500"/>
              <a:ext cx="41910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215"/>
                </a:lnSpc>
                <a:buNone/>
              </a:pPr>
              <a:r>
                <a:rPr lang="ja-JP" altLang="en-US" sz="900" b="0" dirty="0">
                  <a:solidFill>
                    <a:srgbClr val="64748B"/>
                  </a:solidFill>
                  <a:latin typeface="Meiryo UI"/>
                  <a:ea typeface="Meiryo UI"/>
                </a:rPr>
                <a:t>初めて利用する方は、システム管理者に利用申請をしてください。</a:t>
              </a:r>
            </a:p>
          </p:txBody>
        </p:sp>
        <p:sp>
          <p:nvSpPr>
            <p:cNvPr id="24" name="テキスト"/>
            <p:cNvSpPr txBox="1"/>
            <p:nvPr/>
          </p:nvSpPr>
          <p:spPr>
            <a:xfrm>
              <a:off x="0" y="6400800"/>
              <a:ext cx="12192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215"/>
                </a:lnSpc>
                <a:buNone/>
              </a:pPr>
              <a:r>
                <a:rPr lang="ja-JP" altLang="en-US" sz="900" b="0" dirty="0">
                  <a:solidFill>
                    <a:srgbClr val="94A3B8"/>
                  </a:solidFill>
                  <a:latin typeface="Meiryo UI"/>
                  <a:ea typeface="Meiryo UI"/>
                </a:rPr>
                <a:t>© 2026 Sample Corporation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ホー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四角形"/>
              <p:cNvSpPr/>
              <p:nvPr/>
            </p:nvSpPr>
            <p:spPr>
              <a:xfrm>
                <a:off x="76200" y="6477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3" name="四角形"/>
              <p:cNvSpPr/>
              <p:nvPr/>
            </p:nvSpPr>
            <p:spPr>
              <a:xfrm>
                <a:off x="76200" y="7239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4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5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6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sp>
          <p:nvSpPr>
            <p:cNvPr id="22" name="テキスト"/>
            <p:cNvSpPr txBox="1"/>
            <p:nvPr/>
          </p:nvSpPr>
          <p:spPr>
            <a:xfrm>
              <a:off x="2400300" y="723900"/>
              <a:ext cx="396329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1F2937"/>
                  </a:solidFill>
                  <a:latin typeface="Meiryo UI"/>
                  <a:ea typeface="Meiryo UI"/>
                </a:rPr>
                <a:t>ホーム</a:t>
              </a:r>
            </a:p>
          </p:txBody>
        </p:sp>
      </p:grpSp>
      <p:grpSp>
        <p:nvGrpSpPr>
          <p:cNvPr id="26" name="見出し：ホーム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24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25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ホーム</a:t>
              </a:r>
            </a:p>
          </p:txBody>
        </p:sp>
      </p:grpSp>
      <p:sp>
        <p:nvSpPr>
          <p:cNvPr id="27" name="テキスト"/>
          <p:cNvSpPr txBox="1"/>
          <p:nvPr/>
        </p:nvSpPr>
        <p:spPr>
          <a:xfrm>
            <a:off x="2400300" y="1409700"/>
            <a:ext cx="9486900" cy="2667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1316"/>
              </a:lnSpc>
              <a:buNone/>
            </a:pPr>
            <a:r>
              <a:rPr lang="ja-JP" altLang="en-US" sz="975" b="0" dirty="0">
                <a:solidFill>
                  <a:srgbClr val="64748B"/>
                </a:solidFill>
                <a:latin typeface="Meiryo UI"/>
                <a:ea typeface="Meiryo UI"/>
              </a:rPr>
              <a:t>おはようございます、山田さん。　前回のログイン：2026/10/25 18:42</a:t>
            </a:r>
          </a:p>
        </p:txBody>
      </p:sp>
      <p:grpSp>
        <p:nvGrpSpPr>
          <p:cNvPr id="32" name="数値カード：未処理の申請"/>
          <p:cNvGrpSpPr/>
          <p:nvPr/>
        </p:nvGrpSpPr>
        <p:grpSpPr>
          <a:xfrm>
            <a:off x="2400300" y="1790700"/>
            <a:ext cx="2257425" cy="990600"/>
            <a:chOff x="2400300" y="1790700"/>
            <a:chExt cx="2257425" cy="990600"/>
          </a:xfrm>
        </p:grpSpPr>
        <p:sp>
          <p:nvSpPr>
            <p:cNvPr id="28" name="四角形"/>
            <p:cNvSpPr/>
            <p:nvPr/>
          </p:nvSpPr>
          <p:spPr>
            <a:xfrm>
              <a:off x="2400300" y="1790700"/>
              <a:ext cx="2257425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9" name="テキスト"/>
            <p:cNvSpPr txBox="1"/>
            <p:nvPr/>
          </p:nvSpPr>
          <p:spPr>
            <a:xfrm>
              <a:off x="2571750" y="1924050"/>
              <a:ext cx="1914525" cy="1905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64748B"/>
                  </a:solidFill>
                  <a:latin typeface="Meiryo UI"/>
                  <a:ea typeface="Meiryo UI"/>
                </a:rPr>
                <a:t>未処理の申請</a:t>
              </a:r>
            </a:p>
          </p:txBody>
        </p:sp>
        <p:sp>
          <p:nvSpPr>
            <p:cNvPr id="30" name="テキスト"/>
            <p:cNvSpPr txBox="1"/>
            <p:nvPr/>
          </p:nvSpPr>
          <p:spPr>
            <a:xfrm>
              <a:off x="2571750" y="2133600"/>
              <a:ext cx="1914525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buNone/>
              </a:pPr>
              <a:r>
                <a:rPr lang="ja-JP" altLang="en-US" sz="2250" b="1" dirty="0">
                  <a:solidFill>
                    <a:srgbClr val="1F2937"/>
                  </a:solidFill>
                  <a:latin typeface="Meiryo UI"/>
                  <a:ea typeface="Meiryo UI"/>
                </a:rPr>
                <a:t>8</a:t>
              </a:r>
              <a:r>
                <a:rPr lang="ja-JP" altLang="en-US" sz="1050" b="0" dirty="0">
                  <a:solidFill>
                    <a:srgbClr val="64748B"/>
                  </a:solidFill>
                  <a:latin typeface="Meiryo UI"/>
                  <a:ea typeface="Meiryo UI"/>
                </a:rPr>
                <a:t> 件</a:t>
              </a:r>
            </a:p>
          </p:txBody>
        </p:sp>
        <p:sp>
          <p:nvSpPr>
            <p:cNvPr id="31" name="テキスト"/>
            <p:cNvSpPr txBox="1"/>
            <p:nvPr/>
          </p:nvSpPr>
          <p:spPr>
            <a:xfrm>
              <a:off x="2571750" y="2495550"/>
              <a:ext cx="1914525" cy="17145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215"/>
                </a:lnSpc>
                <a:buNone/>
              </a:pPr>
              <a:r>
                <a:rPr lang="ja-JP" altLang="en-US" sz="900" b="1" dirty="0">
                  <a:solidFill>
                    <a:srgbClr val="2457C5"/>
                  </a:solidFill>
                  <a:latin typeface="Meiryo UI"/>
                  <a:ea typeface="Meiryo UI"/>
                </a:rPr>
                <a:t>本日期限 3 件</a:t>
              </a:r>
            </a:p>
          </p:txBody>
        </p:sp>
      </p:grpSp>
      <p:grpSp>
        <p:nvGrpSpPr>
          <p:cNvPr id="37" name="数値カード：承認待ち"/>
          <p:cNvGrpSpPr/>
          <p:nvPr/>
        </p:nvGrpSpPr>
        <p:grpSpPr>
          <a:xfrm>
            <a:off x="4810125" y="1790700"/>
            <a:ext cx="2257425" cy="990600"/>
            <a:chOff x="4810125" y="1790700"/>
            <a:chExt cx="2257425" cy="990600"/>
          </a:xfrm>
        </p:grpSpPr>
        <p:sp>
          <p:nvSpPr>
            <p:cNvPr id="33" name="四角形"/>
            <p:cNvSpPr/>
            <p:nvPr/>
          </p:nvSpPr>
          <p:spPr>
            <a:xfrm>
              <a:off x="4810125" y="1790700"/>
              <a:ext cx="2257425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4" name="テキスト"/>
            <p:cNvSpPr txBox="1"/>
            <p:nvPr/>
          </p:nvSpPr>
          <p:spPr>
            <a:xfrm>
              <a:off x="4981575" y="1924050"/>
              <a:ext cx="1914525" cy="1905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64748B"/>
                  </a:solidFill>
                  <a:latin typeface="Meiryo UI"/>
                  <a:ea typeface="Meiryo UI"/>
                </a:rPr>
                <a:t>承認待ち</a:t>
              </a:r>
            </a:p>
          </p:txBody>
        </p:sp>
        <p:sp>
          <p:nvSpPr>
            <p:cNvPr id="35" name="テキスト"/>
            <p:cNvSpPr txBox="1"/>
            <p:nvPr/>
          </p:nvSpPr>
          <p:spPr>
            <a:xfrm>
              <a:off x="4981575" y="2133600"/>
              <a:ext cx="1914525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buNone/>
              </a:pPr>
              <a:r>
                <a:rPr lang="ja-JP" altLang="en-US" sz="2250" b="1" dirty="0">
                  <a:solidFill>
                    <a:srgbClr val="1F2937"/>
                  </a:solidFill>
                  <a:latin typeface="Meiryo UI"/>
                  <a:ea typeface="Meiryo UI"/>
                </a:rPr>
                <a:t>5</a:t>
              </a:r>
              <a:r>
                <a:rPr lang="ja-JP" altLang="en-US" sz="1050" b="0" dirty="0">
                  <a:solidFill>
                    <a:srgbClr val="64748B"/>
                  </a:solidFill>
                  <a:latin typeface="Meiryo UI"/>
                  <a:ea typeface="Meiryo UI"/>
                </a:rPr>
                <a:t> 件</a:t>
              </a:r>
            </a:p>
          </p:txBody>
        </p:sp>
        <p:sp>
          <p:nvSpPr>
            <p:cNvPr id="36" name="テキスト"/>
            <p:cNvSpPr txBox="1"/>
            <p:nvPr/>
          </p:nvSpPr>
          <p:spPr>
            <a:xfrm>
              <a:off x="4981575" y="2495550"/>
              <a:ext cx="1914525" cy="17145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215"/>
                </a:lnSpc>
                <a:buNone/>
              </a:pPr>
              <a:r>
                <a:rPr lang="ja-JP" altLang="en-US" sz="900" b="1" dirty="0">
                  <a:solidFill>
                    <a:srgbClr val="2457C5"/>
                  </a:solidFill>
                  <a:latin typeface="Meiryo UI"/>
                  <a:ea typeface="Meiryo UI"/>
                </a:rPr>
                <a:t>うち至急 1 件</a:t>
              </a:r>
            </a:p>
          </p:txBody>
        </p:sp>
      </p:grpSp>
      <p:grpSp>
        <p:nvGrpSpPr>
          <p:cNvPr id="42" name="数値カード：今月の新規顧客"/>
          <p:cNvGrpSpPr/>
          <p:nvPr/>
        </p:nvGrpSpPr>
        <p:grpSpPr>
          <a:xfrm>
            <a:off x="7219950" y="1790700"/>
            <a:ext cx="2257425" cy="990600"/>
            <a:chOff x="7219950" y="1790700"/>
            <a:chExt cx="2257425" cy="990600"/>
          </a:xfrm>
        </p:grpSpPr>
        <p:sp>
          <p:nvSpPr>
            <p:cNvPr id="38" name="四角形"/>
            <p:cNvSpPr/>
            <p:nvPr/>
          </p:nvSpPr>
          <p:spPr>
            <a:xfrm>
              <a:off x="7219950" y="1790700"/>
              <a:ext cx="2257425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9" name="テキスト"/>
            <p:cNvSpPr txBox="1"/>
            <p:nvPr/>
          </p:nvSpPr>
          <p:spPr>
            <a:xfrm>
              <a:off x="7391400" y="1924050"/>
              <a:ext cx="1914525" cy="1905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64748B"/>
                  </a:solidFill>
                  <a:latin typeface="Meiryo UI"/>
                  <a:ea typeface="Meiryo UI"/>
                </a:rPr>
                <a:t>今月の新規顧客</a:t>
              </a:r>
            </a:p>
          </p:txBody>
        </p:sp>
        <p:sp>
          <p:nvSpPr>
            <p:cNvPr id="40" name="テキスト"/>
            <p:cNvSpPr txBox="1"/>
            <p:nvPr/>
          </p:nvSpPr>
          <p:spPr>
            <a:xfrm>
              <a:off x="7391400" y="2133600"/>
              <a:ext cx="1914525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buNone/>
              </a:pPr>
              <a:r>
                <a:rPr lang="ja-JP" altLang="en-US" sz="2250" b="1" dirty="0">
                  <a:solidFill>
                    <a:srgbClr val="1F2937"/>
                  </a:solidFill>
                  <a:latin typeface="Meiryo UI"/>
                  <a:ea typeface="Meiryo UI"/>
                </a:rPr>
                <a:t>42</a:t>
              </a:r>
              <a:r>
                <a:rPr lang="ja-JP" altLang="en-US" sz="1050" b="0" dirty="0">
                  <a:solidFill>
                    <a:srgbClr val="64748B"/>
                  </a:solidFill>
                  <a:latin typeface="Meiryo UI"/>
                  <a:ea typeface="Meiryo UI"/>
                </a:rPr>
                <a:t> 件</a:t>
              </a:r>
            </a:p>
          </p:txBody>
        </p:sp>
        <p:sp>
          <p:nvSpPr>
            <p:cNvPr id="41" name="テキスト"/>
            <p:cNvSpPr txBox="1"/>
            <p:nvPr/>
          </p:nvSpPr>
          <p:spPr>
            <a:xfrm>
              <a:off x="7391400" y="2495550"/>
              <a:ext cx="1914525" cy="17145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215"/>
                </a:lnSpc>
                <a:buNone/>
              </a:pPr>
              <a:r>
                <a:rPr lang="ja-JP" altLang="en-US" sz="900" b="1" dirty="0">
                  <a:solidFill>
                    <a:srgbClr val="2457C5"/>
                  </a:solidFill>
                  <a:latin typeface="Meiryo UI"/>
                  <a:ea typeface="Meiryo UI"/>
                </a:rPr>
                <a:t>前月比 +6 件</a:t>
              </a:r>
            </a:p>
          </p:txBody>
        </p:sp>
      </p:grpSp>
      <p:grpSp>
        <p:nvGrpSpPr>
          <p:cNvPr id="47" name="数値カード：お知らせ"/>
          <p:cNvGrpSpPr/>
          <p:nvPr/>
        </p:nvGrpSpPr>
        <p:grpSpPr>
          <a:xfrm>
            <a:off x="9629775" y="1790700"/>
            <a:ext cx="2257425" cy="990600"/>
            <a:chOff x="9629775" y="1790700"/>
            <a:chExt cx="2257425" cy="990600"/>
          </a:xfrm>
        </p:grpSpPr>
        <p:sp>
          <p:nvSpPr>
            <p:cNvPr id="43" name="四角形"/>
            <p:cNvSpPr/>
            <p:nvPr/>
          </p:nvSpPr>
          <p:spPr>
            <a:xfrm>
              <a:off x="9629775" y="1790700"/>
              <a:ext cx="2257425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4" name="テキスト"/>
            <p:cNvSpPr txBox="1"/>
            <p:nvPr/>
          </p:nvSpPr>
          <p:spPr>
            <a:xfrm>
              <a:off x="9801225" y="1924050"/>
              <a:ext cx="1914525" cy="1905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64748B"/>
                  </a:solidFill>
                  <a:latin typeface="Meiryo UI"/>
                  <a:ea typeface="Meiryo UI"/>
                </a:rPr>
                <a:t>お知らせ</a:t>
              </a:r>
            </a:p>
          </p:txBody>
        </p:sp>
        <p:sp>
          <p:nvSpPr>
            <p:cNvPr id="45" name="テキスト"/>
            <p:cNvSpPr txBox="1"/>
            <p:nvPr/>
          </p:nvSpPr>
          <p:spPr>
            <a:xfrm>
              <a:off x="9801225" y="2133600"/>
              <a:ext cx="1914525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buNone/>
              </a:pPr>
              <a:r>
                <a:rPr lang="ja-JP" altLang="en-US" sz="2250" b="1" dirty="0">
                  <a:solidFill>
                    <a:srgbClr val="1F2937"/>
                  </a:solidFill>
                  <a:latin typeface="Meiryo UI"/>
                  <a:ea typeface="Meiryo UI"/>
                </a:rPr>
                <a:t>2</a:t>
              </a:r>
              <a:r>
                <a:rPr lang="ja-JP" altLang="en-US" sz="1050" b="0" dirty="0">
                  <a:solidFill>
                    <a:srgbClr val="64748B"/>
                  </a:solidFill>
                  <a:latin typeface="Meiryo UI"/>
                  <a:ea typeface="Meiryo UI"/>
                </a:rPr>
                <a:t> 件</a:t>
              </a:r>
            </a:p>
          </p:txBody>
        </p:sp>
        <p:sp>
          <p:nvSpPr>
            <p:cNvPr id="46" name="テキスト"/>
            <p:cNvSpPr txBox="1"/>
            <p:nvPr/>
          </p:nvSpPr>
          <p:spPr>
            <a:xfrm>
              <a:off x="9801225" y="2495550"/>
              <a:ext cx="1914525" cy="17145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215"/>
                </a:lnSpc>
                <a:buNone/>
              </a:pPr>
              <a:r>
                <a:rPr lang="ja-JP" altLang="en-US" sz="900" b="1" dirty="0">
                  <a:solidFill>
                    <a:srgbClr val="2457C5"/>
                  </a:solidFill>
                  <a:latin typeface="Meiryo UI"/>
                  <a:ea typeface="Meiryo UI"/>
                </a:rPr>
                <a:t>未読あり</a:t>
              </a:r>
            </a:p>
          </p:txBody>
        </p:sp>
      </p:grpSp>
      <p:grpSp>
        <p:nvGrpSpPr>
          <p:cNvPr id="58" name="グループ"/>
          <p:cNvGrpSpPr/>
          <p:nvPr/>
        </p:nvGrpSpPr>
        <p:grpSpPr>
          <a:xfrm>
            <a:off x="2400300" y="2971800"/>
            <a:ext cx="5715000" cy="3581400"/>
            <a:chOff x="2400300" y="2971800"/>
            <a:chExt cx="5715000" cy="3581400"/>
          </a:xfrm>
        </p:grpSpPr>
        <p:grpSp>
          <p:nvGrpSpPr>
            <p:cNvPr id="53" name="グループ枠：お知らせ"/>
            <p:cNvGrpSpPr/>
            <p:nvPr/>
          </p:nvGrpSpPr>
          <p:grpSpPr>
            <a:xfrm>
              <a:off x="2400300" y="2971800"/>
              <a:ext cx="5715000" cy="3581400"/>
              <a:chOff x="2400300" y="2971800"/>
              <a:chExt cx="5715000" cy="3581400"/>
            </a:xfrm>
          </p:grpSpPr>
          <p:sp>
            <p:nvSpPr>
              <p:cNvPr id="48" name="四角形"/>
              <p:cNvSpPr/>
              <p:nvPr/>
            </p:nvSpPr>
            <p:spPr>
              <a:xfrm>
                <a:off x="2400300" y="2971800"/>
                <a:ext cx="5715000" cy="3581400"/>
              </a:xfrm>
              <a:prstGeom prst="roundRect">
                <a:avLst>
                  <a:gd name="adj" fmla="val 1596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9" name="四角形"/>
              <p:cNvSpPr/>
              <p:nvPr/>
            </p:nvSpPr>
            <p:spPr>
              <a:xfrm>
                <a:off x="2409825" y="2981325"/>
                <a:ext cx="56959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50" name="四角形"/>
              <p:cNvSpPr/>
              <p:nvPr/>
            </p:nvSpPr>
            <p:spPr>
              <a:xfrm>
                <a:off x="2409825" y="3162300"/>
                <a:ext cx="56959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51" name="線"/>
              <p:cNvCxnSpPr/>
              <p:nvPr/>
            </p:nvCxnSpPr>
            <p:spPr>
              <a:xfrm>
                <a:off x="2400300" y="3362325"/>
                <a:ext cx="57150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52" name="テキスト"/>
              <p:cNvSpPr txBox="1"/>
              <p:nvPr/>
            </p:nvSpPr>
            <p:spPr>
              <a:xfrm>
                <a:off x="2552700" y="2981325"/>
                <a:ext cx="54102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お知らせ</a:t>
                </a:r>
              </a:p>
            </p:txBody>
          </p:sp>
        </p:grpSp>
        <p:grpSp>
          <p:nvGrpSpPr>
            <p:cNvPr id="57" name="ボタン：すべて見る"/>
            <p:cNvGrpSpPr/>
            <p:nvPr/>
          </p:nvGrpSpPr>
          <p:grpSpPr>
            <a:xfrm>
              <a:off x="2552700" y="5715000"/>
              <a:ext cx="1143000" cy="342900"/>
              <a:chOff x="2552700" y="5715000"/>
              <a:chExt cx="1143000" cy="342900"/>
            </a:xfrm>
          </p:grpSpPr>
          <p:sp>
            <p:nvSpPr>
              <p:cNvPr id="55" name="テキスト"/>
              <p:cNvSpPr txBox="1"/>
              <p:nvPr/>
            </p:nvSpPr>
            <p:spPr>
              <a:xfrm>
                <a:off x="2552700" y="5715000"/>
                <a:ext cx="1143000" cy="3429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すべて見る</a:t>
                </a:r>
              </a:p>
            </p:txBody>
          </p:sp>
          <p:cxnSp>
            <p:nvCxnSpPr>
              <p:cNvPr id="56" name="線"/>
              <p:cNvCxnSpPr/>
              <p:nvPr/>
            </p:nvCxnSpPr>
            <p:spPr>
              <a:xfrm>
                <a:off x="2784574" y="5991225"/>
                <a:ext cx="679252" cy="0"/>
              </a:xfrm>
              <a:prstGeom prst="line">
                <a:avLst/>
              </a:prstGeom>
              <a:ln w="9525">
                <a:solidFill>
                  <a:srgbClr val="2457C5"/>
                </a:solidFill>
              </a:ln>
            </p:spPr>
          </p:cxnSp>
        </p:grpSp>
      </p:grpSp>
      <p:graphicFrame>
        <p:nvGraphicFramePr>
          <p:cNvPr id="54" name="表"/>
          <p:cNvGraphicFramePr>
            <a:graphicFrameLocks noGrp="1"/>
          </p:cNvGraphicFramePr>
          <p:nvPr/>
        </p:nvGraphicFramePr>
        <p:xfrm>
          <a:off x="2552700" y="3505200"/>
          <a:ext cx="5410200" cy="2057400"/>
        </p:xfrm>
        <a:graphic>
          <a:graphicData uri="http://schemas.openxmlformats.org/drawingml/2006/table">
            <a:tbl>
              <a:tblPr firstRow="1"/>
              <a:tblGrid>
                <a:gridCol w="1114425"/>
                <a:gridCol w="857250"/>
                <a:gridCol w="3438525"/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日付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区分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件名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2026/10/24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重要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11月の定期メンテナンスのお知らせ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連絡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帳票レイアウトを一部変更しました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2026/10/15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連絡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操作マニュアル（第3版）を公開しました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2026/10/01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重要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パスワードの定期変更のお願い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2026/09/28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連絡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問い合わせ窓口の受付時間変更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0" name="グループ"/>
          <p:cNvGrpSpPr/>
          <p:nvPr/>
        </p:nvGrpSpPr>
        <p:grpSpPr>
          <a:xfrm>
            <a:off x="8267700" y="2971800"/>
            <a:ext cx="3619500" cy="3581400"/>
            <a:chOff x="8267700" y="2971800"/>
            <a:chExt cx="3619500" cy="3581400"/>
          </a:xfrm>
        </p:grpSpPr>
        <p:grpSp>
          <p:nvGrpSpPr>
            <p:cNvPr id="64" name="グループ枠：よく使う機能"/>
            <p:cNvGrpSpPr/>
            <p:nvPr/>
          </p:nvGrpSpPr>
          <p:grpSpPr>
            <a:xfrm>
              <a:off x="8267700" y="2971800"/>
              <a:ext cx="3619500" cy="3581400"/>
              <a:chOff x="8267700" y="2971800"/>
              <a:chExt cx="3619500" cy="3581400"/>
            </a:xfrm>
          </p:grpSpPr>
          <p:sp>
            <p:nvSpPr>
              <p:cNvPr id="59" name="四角形"/>
              <p:cNvSpPr/>
              <p:nvPr/>
            </p:nvSpPr>
            <p:spPr>
              <a:xfrm>
                <a:off x="8267700" y="2971800"/>
                <a:ext cx="3619500" cy="3581400"/>
              </a:xfrm>
              <a:prstGeom prst="roundRect">
                <a:avLst>
                  <a:gd name="adj" fmla="val 1596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0" name="四角形"/>
              <p:cNvSpPr/>
              <p:nvPr/>
            </p:nvSpPr>
            <p:spPr>
              <a:xfrm>
                <a:off x="8277225" y="2981325"/>
                <a:ext cx="36004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61" name="四角形"/>
              <p:cNvSpPr/>
              <p:nvPr/>
            </p:nvSpPr>
            <p:spPr>
              <a:xfrm>
                <a:off x="8277225" y="3162300"/>
                <a:ext cx="36004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62" name="線"/>
              <p:cNvCxnSpPr/>
              <p:nvPr/>
            </p:nvCxnSpPr>
            <p:spPr>
              <a:xfrm>
                <a:off x="8267700" y="3362325"/>
                <a:ext cx="36195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63" name="テキスト"/>
              <p:cNvSpPr txBox="1"/>
              <p:nvPr/>
            </p:nvSpPr>
            <p:spPr>
              <a:xfrm>
                <a:off x="8420100" y="2981325"/>
                <a:ext cx="33147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よく使う機能</a:t>
                </a:r>
              </a:p>
            </p:txBody>
          </p:sp>
        </p:grpSp>
        <p:grpSp>
          <p:nvGrpSpPr>
            <p:cNvPr id="67" name="ボタン：顧客を検索する"/>
            <p:cNvGrpSpPr/>
            <p:nvPr/>
          </p:nvGrpSpPr>
          <p:grpSpPr>
            <a:xfrm>
              <a:off x="8420100" y="3505200"/>
              <a:ext cx="3314700" cy="419100"/>
              <a:chOff x="8420100" y="3505200"/>
              <a:chExt cx="3314700" cy="419100"/>
            </a:xfrm>
          </p:grpSpPr>
          <p:sp>
            <p:nvSpPr>
              <p:cNvPr id="65" name="四角形"/>
              <p:cNvSpPr/>
              <p:nvPr/>
            </p:nvSpPr>
            <p:spPr>
              <a:xfrm>
                <a:off x="8420100" y="3505200"/>
                <a:ext cx="33147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 w="9525">
                <a:solidFill>
                  <a:srgbClr val="2457C5"/>
                </a:solidFill>
              </a:ln>
            </p:spPr>
          </p:sp>
          <p:sp>
            <p:nvSpPr>
              <p:cNvPr id="66" name="テキスト"/>
              <p:cNvSpPr txBox="1"/>
              <p:nvPr/>
            </p:nvSpPr>
            <p:spPr>
              <a:xfrm>
                <a:off x="8420100" y="3505200"/>
                <a:ext cx="3314700" cy="419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顧客を検索する</a:t>
                </a:r>
              </a:p>
            </p:txBody>
          </p:sp>
        </p:grpSp>
        <p:grpSp>
          <p:nvGrpSpPr>
            <p:cNvPr id="70" name="ボタン：新規顧客を登録する"/>
            <p:cNvGrpSpPr/>
            <p:nvPr/>
          </p:nvGrpSpPr>
          <p:grpSpPr>
            <a:xfrm>
              <a:off x="8420100" y="4038600"/>
              <a:ext cx="3314700" cy="419100"/>
              <a:chOff x="8420100" y="4038600"/>
              <a:chExt cx="3314700" cy="419100"/>
            </a:xfrm>
          </p:grpSpPr>
          <p:sp>
            <p:nvSpPr>
              <p:cNvPr id="68" name="四角形"/>
              <p:cNvSpPr/>
              <p:nvPr/>
            </p:nvSpPr>
            <p:spPr>
              <a:xfrm>
                <a:off x="8420100" y="4038600"/>
                <a:ext cx="33147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 w="9525">
                <a:solidFill>
                  <a:srgbClr val="2457C5"/>
                </a:solidFill>
              </a:ln>
            </p:spPr>
          </p:sp>
          <p:sp>
            <p:nvSpPr>
              <p:cNvPr id="69" name="テキスト"/>
              <p:cNvSpPr txBox="1"/>
              <p:nvPr/>
            </p:nvSpPr>
            <p:spPr>
              <a:xfrm>
                <a:off x="8420100" y="4038600"/>
                <a:ext cx="3314700" cy="419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新規顧客を登録する</a:t>
                </a:r>
              </a:p>
            </p:txBody>
          </p:sp>
        </p:grpSp>
        <p:grpSp>
          <p:nvGrpSpPr>
            <p:cNvPr id="73" name="ボタン：申請を承認する"/>
            <p:cNvGrpSpPr/>
            <p:nvPr/>
          </p:nvGrpSpPr>
          <p:grpSpPr>
            <a:xfrm>
              <a:off x="8420100" y="4572000"/>
              <a:ext cx="3314700" cy="419100"/>
              <a:chOff x="8420100" y="4572000"/>
              <a:chExt cx="3314700" cy="419100"/>
            </a:xfrm>
          </p:grpSpPr>
          <p:sp>
            <p:nvSpPr>
              <p:cNvPr id="71" name="四角形"/>
              <p:cNvSpPr/>
              <p:nvPr/>
            </p:nvSpPr>
            <p:spPr>
              <a:xfrm>
                <a:off x="8420100" y="4572000"/>
                <a:ext cx="33147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 w="9525">
                <a:solidFill>
                  <a:srgbClr val="2457C5"/>
                </a:solidFill>
              </a:ln>
            </p:spPr>
          </p:sp>
          <p:sp>
            <p:nvSpPr>
              <p:cNvPr id="72" name="テキスト"/>
              <p:cNvSpPr txBox="1"/>
              <p:nvPr/>
            </p:nvSpPr>
            <p:spPr>
              <a:xfrm>
                <a:off x="8420100" y="4572000"/>
                <a:ext cx="3314700" cy="419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申請を承認する</a:t>
                </a:r>
              </a:p>
            </p:txBody>
          </p:sp>
        </p:grpSp>
        <p:grpSp>
          <p:nvGrpSpPr>
            <p:cNvPr id="76" name="ボタン：帳票を出力する"/>
            <p:cNvGrpSpPr/>
            <p:nvPr/>
          </p:nvGrpSpPr>
          <p:grpSpPr>
            <a:xfrm>
              <a:off x="8420100" y="5105400"/>
              <a:ext cx="3314700" cy="419100"/>
              <a:chOff x="8420100" y="5105400"/>
              <a:chExt cx="3314700" cy="419100"/>
            </a:xfrm>
          </p:grpSpPr>
          <p:sp>
            <p:nvSpPr>
              <p:cNvPr id="74" name="四角形"/>
              <p:cNvSpPr/>
              <p:nvPr/>
            </p:nvSpPr>
            <p:spPr>
              <a:xfrm>
                <a:off x="8420100" y="5105400"/>
                <a:ext cx="33147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 w="9525">
                <a:solidFill>
                  <a:srgbClr val="2457C5"/>
                </a:solidFill>
              </a:ln>
            </p:spPr>
          </p:sp>
          <p:sp>
            <p:nvSpPr>
              <p:cNvPr id="75" name="テキスト"/>
              <p:cNvSpPr txBox="1"/>
              <p:nvPr/>
            </p:nvSpPr>
            <p:spPr>
              <a:xfrm>
                <a:off x="8420100" y="5105400"/>
                <a:ext cx="3314700" cy="419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帳票を出力する</a:t>
                </a:r>
              </a:p>
            </p:txBody>
          </p:sp>
        </p:grpSp>
        <p:grpSp>
          <p:nvGrpSpPr>
            <p:cNvPr id="79" name="ボタン：データを取り込む"/>
            <p:cNvGrpSpPr/>
            <p:nvPr/>
          </p:nvGrpSpPr>
          <p:grpSpPr>
            <a:xfrm>
              <a:off x="8420100" y="5638800"/>
              <a:ext cx="3314700" cy="419100"/>
              <a:chOff x="8420100" y="5638800"/>
              <a:chExt cx="3314700" cy="419100"/>
            </a:xfrm>
          </p:grpSpPr>
          <p:sp>
            <p:nvSpPr>
              <p:cNvPr id="77" name="四角形"/>
              <p:cNvSpPr/>
              <p:nvPr/>
            </p:nvSpPr>
            <p:spPr>
              <a:xfrm>
                <a:off x="8420100" y="5638800"/>
                <a:ext cx="33147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 w="9525">
                <a:solidFill>
                  <a:srgbClr val="2457C5"/>
                </a:solidFill>
              </a:ln>
            </p:spPr>
          </p:sp>
          <p:sp>
            <p:nvSpPr>
              <p:cNvPr id="78" name="テキスト"/>
              <p:cNvSpPr txBox="1"/>
              <p:nvPr/>
            </p:nvSpPr>
            <p:spPr>
              <a:xfrm>
                <a:off x="8420100" y="5638800"/>
                <a:ext cx="3314700" cy="419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データを取り込む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一覧・検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四角形"/>
              <p:cNvSpPr/>
              <p:nvPr/>
            </p:nvSpPr>
            <p:spPr>
              <a:xfrm>
                <a:off x="76200" y="10668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4" name="四角形"/>
              <p:cNvSpPr/>
              <p:nvPr/>
            </p:nvSpPr>
            <p:spPr>
              <a:xfrm>
                <a:off x="76200" y="11430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5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6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29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cxnSp>
            <p:nvCxnSpPr>
              <p:cNvPr id="26" name="線"/>
              <p:cNvCxnSpPr/>
              <p:nvPr/>
            </p:nvCxnSpPr>
            <p:spPr>
              <a:xfrm>
                <a:off x="361577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7" name="線"/>
              <p:cNvCxnSpPr/>
              <p:nvPr/>
            </p:nvCxnSpPr>
            <p:spPr>
              <a:xfrm flipH="1">
                <a:off x="361577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8" name="テキスト"/>
              <p:cNvSpPr txBox="1"/>
              <p:nvPr/>
            </p:nvSpPr>
            <p:spPr>
              <a:xfrm>
                <a:off x="376817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顧客一覧</a:t>
                </a:r>
              </a:p>
            </p:txBody>
          </p:sp>
        </p:grpSp>
      </p:grpSp>
      <p:grpSp>
        <p:nvGrpSpPr>
          <p:cNvPr id="33" name="見出し：顧客一覧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31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2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顧客一覧</a:t>
              </a:r>
            </a:p>
          </p:txBody>
        </p:sp>
      </p:grpSp>
      <p:grpSp>
        <p:nvGrpSpPr>
          <p:cNvPr id="75" name="グループ"/>
          <p:cNvGrpSpPr/>
          <p:nvPr/>
        </p:nvGrpSpPr>
        <p:grpSpPr>
          <a:xfrm>
            <a:off x="2400300" y="1485900"/>
            <a:ext cx="9486900" cy="2057400"/>
            <a:chOff x="2400300" y="1485900"/>
            <a:chExt cx="9486900" cy="2057400"/>
          </a:xfrm>
        </p:grpSpPr>
        <p:grpSp>
          <p:nvGrpSpPr>
            <p:cNvPr id="39" name="グループ枠：検索条件"/>
            <p:cNvGrpSpPr/>
            <p:nvPr/>
          </p:nvGrpSpPr>
          <p:grpSpPr>
            <a:xfrm>
              <a:off x="2400300" y="1485900"/>
              <a:ext cx="9486900" cy="2057400"/>
              <a:chOff x="2400300" y="1485900"/>
              <a:chExt cx="9486900" cy="2057400"/>
            </a:xfrm>
          </p:grpSpPr>
          <p:sp>
            <p:nvSpPr>
              <p:cNvPr id="34" name="四角形"/>
              <p:cNvSpPr/>
              <p:nvPr/>
            </p:nvSpPr>
            <p:spPr>
              <a:xfrm>
                <a:off x="2400300" y="1485900"/>
                <a:ext cx="9486900" cy="2057400"/>
              </a:xfrm>
              <a:prstGeom prst="roundRect">
                <a:avLst>
                  <a:gd name="adj" fmla="val 2778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5" name="四角形"/>
              <p:cNvSpPr/>
              <p:nvPr/>
            </p:nvSpPr>
            <p:spPr>
              <a:xfrm>
                <a:off x="2409825" y="1495425"/>
                <a:ext cx="94678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36" name="四角形"/>
              <p:cNvSpPr/>
              <p:nvPr/>
            </p:nvSpPr>
            <p:spPr>
              <a:xfrm>
                <a:off x="2409825" y="1676400"/>
                <a:ext cx="94678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37" name="線"/>
              <p:cNvCxnSpPr/>
              <p:nvPr/>
            </p:nvCxnSpPr>
            <p:spPr>
              <a:xfrm>
                <a:off x="2400300" y="1876425"/>
                <a:ext cx="94869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38" name="テキスト"/>
              <p:cNvSpPr txBox="1"/>
              <p:nvPr/>
            </p:nvSpPr>
            <p:spPr>
              <a:xfrm>
                <a:off x="2552700" y="1495425"/>
                <a:ext cx="91821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検索条件</a:t>
                </a:r>
              </a:p>
            </p:txBody>
          </p:sp>
        </p:grpSp>
        <p:grpSp>
          <p:nvGrpSpPr>
            <p:cNvPr id="43" name="テキスト入力：顧客番号"/>
            <p:cNvGrpSpPr/>
            <p:nvPr/>
          </p:nvGrpSpPr>
          <p:grpSpPr>
            <a:xfrm>
              <a:off x="2628900" y="1981200"/>
              <a:ext cx="4305300" cy="381000"/>
              <a:chOff x="2628900" y="1981200"/>
              <a:chExt cx="4305300" cy="381000"/>
            </a:xfrm>
          </p:grpSpPr>
          <p:sp>
            <p:nvSpPr>
              <p:cNvPr id="40" name="テキスト"/>
              <p:cNvSpPr txBox="1"/>
              <p:nvPr/>
            </p:nvSpPr>
            <p:spPr>
              <a:xfrm>
                <a:off x="2628900" y="19812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顧客番号</a:t>
                </a:r>
              </a:p>
            </p:txBody>
          </p:sp>
          <p:sp>
            <p:nvSpPr>
              <p:cNvPr id="41" name="四角形"/>
              <p:cNvSpPr/>
              <p:nvPr/>
            </p:nvSpPr>
            <p:spPr>
              <a:xfrm>
                <a:off x="4038600" y="1981200"/>
                <a:ext cx="2895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2" name="テキスト"/>
              <p:cNvSpPr txBox="1"/>
              <p:nvPr/>
            </p:nvSpPr>
            <p:spPr>
              <a:xfrm>
                <a:off x="4152900" y="1981200"/>
                <a:ext cx="2667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前方一致</a:t>
                </a:r>
              </a:p>
            </p:txBody>
          </p:sp>
        </p:grpSp>
        <p:grpSp>
          <p:nvGrpSpPr>
            <p:cNvPr id="47" name="テキスト入力：氏名（カナ）"/>
            <p:cNvGrpSpPr/>
            <p:nvPr/>
          </p:nvGrpSpPr>
          <p:grpSpPr>
            <a:xfrm>
              <a:off x="7200900" y="1981200"/>
              <a:ext cx="4457700" cy="381000"/>
              <a:chOff x="7200900" y="1981200"/>
              <a:chExt cx="4457700" cy="381000"/>
            </a:xfrm>
          </p:grpSpPr>
          <p:sp>
            <p:nvSpPr>
              <p:cNvPr id="44" name="テキスト"/>
              <p:cNvSpPr txBox="1"/>
              <p:nvPr/>
            </p:nvSpPr>
            <p:spPr>
              <a:xfrm>
                <a:off x="7200900" y="19812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氏名（カナ）</a:t>
                </a:r>
              </a:p>
            </p:txBody>
          </p:sp>
          <p:sp>
            <p:nvSpPr>
              <p:cNvPr id="45" name="四角形"/>
              <p:cNvSpPr/>
              <p:nvPr/>
            </p:nvSpPr>
            <p:spPr>
              <a:xfrm>
                <a:off x="8610600" y="1981200"/>
                <a:ext cx="3048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6" name="テキスト"/>
              <p:cNvSpPr txBox="1"/>
              <p:nvPr/>
            </p:nvSpPr>
            <p:spPr>
              <a:xfrm>
                <a:off x="8724900" y="1981200"/>
                <a:ext cx="2819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例）ヤマダ タロウ</a:t>
                </a:r>
              </a:p>
            </p:txBody>
          </p:sp>
        </p:grpSp>
        <p:grpSp>
          <p:nvGrpSpPr>
            <p:cNvPr id="52" name="プルダウン：担当店舗"/>
            <p:cNvGrpSpPr/>
            <p:nvPr/>
          </p:nvGrpSpPr>
          <p:grpSpPr>
            <a:xfrm>
              <a:off x="2628900" y="2476500"/>
              <a:ext cx="4305300" cy="381000"/>
              <a:chOff x="2628900" y="2476500"/>
              <a:chExt cx="4305300" cy="381000"/>
            </a:xfrm>
          </p:grpSpPr>
          <p:sp>
            <p:nvSpPr>
              <p:cNvPr id="48" name="テキスト"/>
              <p:cNvSpPr txBox="1"/>
              <p:nvPr/>
            </p:nvSpPr>
            <p:spPr>
              <a:xfrm>
                <a:off x="2628900" y="24765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担当店舗</a:t>
                </a:r>
              </a:p>
            </p:txBody>
          </p:sp>
          <p:sp>
            <p:nvSpPr>
              <p:cNvPr id="49" name="四角形"/>
              <p:cNvSpPr/>
              <p:nvPr/>
            </p:nvSpPr>
            <p:spPr>
              <a:xfrm>
                <a:off x="4038600" y="2476500"/>
                <a:ext cx="2895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0" name="テキスト"/>
              <p:cNvSpPr txBox="1"/>
              <p:nvPr/>
            </p:nvSpPr>
            <p:spPr>
              <a:xfrm>
                <a:off x="4152900" y="2476500"/>
                <a:ext cx="2476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すべて</a:t>
                </a:r>
              </a:p>
            </p:txBody>
          </p:sp>
          <p:sp>
            <p:nvSpPr>
              <p:cNvPr id="51" name="三角形"/>
              <p:cNvSpPr/>
              <p:nvPr/>
            </p:nvSpPr>
            <p:spPr>
              <a:xfrm rot="10800000">
                <a:off x="6686550" y="2638425"/>
                <a:ext cx="104775" cy="57150"/>
              </a:xfrm>
              <a:prstGeom prst="triangle">
                <a:avLst/>
              </a:prstGeom>
              <a:solidFill>
                <a:srgbClr val="64748B"/>
              </a:solidFill>
              <a:ln>
                <a:noFill/>
              </a:ln>
            </p:spPr>
          </p:sp>
        </p:grpSp>
        <p:grpSp>
          <p:nvGrpSpPr>
            <p:cNvPr id="60" name="日付入力：登録日"/>
            <p:cNvGrpSpPr/>
            <p:nvPr/>
          </p:nvGrpSpPr>
          <p:grpSpPr>
            <a:xfrm>
              <a:off x="7200900" y="2476500"/>
              <a:ext cx="2819400" cy="381000"/>
              <a:chOff x="7200900" y="2476500"/>
              <a:chExt cx="2819400" cy="381000"/>
            </a:xfrm>
          </p:grpSpPr>
          <p:sp>
            <p:nvSpPr>
              <p:cNvPr id="53" name="テキスト"/>
              <p:cNvSpPr txBox="1"/>
              <p:nvPr/>
            </p:nvSpPr>
            <p:spPr>
              <a:xfrm>
                <a:off x="7200900" y="24765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登録日</a:t>
                </a:r>
              </a:p>
            </p:txBody>
          </p:sp>
          <p:sp>
            <p:nvSpPr>
              <p:cNvPr id="54" name="四角形"/>
              <p:cNvSpPr/>
              <p:nvPr/>
            </p:nvSpPr>
            <p:spPr>
              <a:xfrm>
                <a:off x="8610600" y="2476500"/>
                <a:ext cx="14097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5" name="テキスト"/>
              <p:cNvSpPr txBox="1"/>
              <p:nvPr/>
            </p:nvSpPr>
            <p:spPr>
              <a:xfrm>
                <a:off x="8724900" y="2476500"/>
                <a:ext cx="952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YYYY/MM/DD</a:t>
                </a:r>
              </a:p>
            </p:txBody>
          </p:sp>
          <p:sp>
            <p:nvSpPr>
              <p:cNvPr id="56" name="四角形"/>
              <p:cNvSpPr/>
              <p:nvPr/>
            </p:nvSpPr>
            <p:spPr>
              <a:xfrm>
                <a:off x="9715500" y="2590800"/>
                <a:ext cx="171450" cy="161925"/>
              </a:xfrm>
              <a:prstGeom prst="roundRect">
                <a:avLst>
                  <a:gd name="adj" fmla="val 11765"/>
                </a:avLst>
              </a:prstGeom>
              <a:noFill/>
              <a:ln w="12383">
                <a:solidFill>
                  <a:srgbClr val="64748B"/>
                </a:solidFill>
              </a:ln>
            </p:spPr>
          </p:sp>
          <p:cxnSp>
            <p:nvCxnSpPr>
              <p:cNvPr id="57" name="線"/>
              <p:cNvCxnSpPr/>
              <p:nvPr/>
            </p:nvCxnSpPr>
            <p:spPr>
              <a:xfrm>
                <a:off x="9715500" y="2638425"/>
                <a:ext cx="171450" cy="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58" name="線"/>
              <p:cNvCxnSpPr/>
              <p:nvPr/>
            </p:nvCxnSpPr>
            <p:spPr>
              <a:xfrm>
                <a:off x="9763125" y="25717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59" name="線"/>
              <p:cNvCxnSpPr/>
              <p:nvPr/>
            </p:nvCxnSpPr>
            <p:spPr>
              <a:xfrm>
                <a:off x="9839325" y="25717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</p:grpSp>
        <p:sp>
          <p:nvSpPr>
            <p:cNvPr id="61" name="テキスト"/>
            <p:cNvSpPr txBox="1"/>
            <p:nvPr/>
          </p:nvSpPr>
          <p:spPr>
            <a:xfrm>
              <a:off x="10020300" y="2476500"/>
              <a:ext cx="3048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〜</a:t>
              </a:r>
            </a:p>
          </p:txBody>
        </p:sp>
        <p:grpSp>
          <p:nvGrpSpPr>
            <p:cNvPr id="68" name="日付入力"/>
            <p:cNvGrpSpPr/>
            <p:nvPr/>
          </p:nvGrpSpPr>
          <p:grpSpPr>
            <a:xfrm>
              <a:off x="10325100" y="2476500"/>
              <a:ext cx="1333500" cy="381000"/>
              <a:chOff x="10325100" y="2476500"/>
              <a:chExt cx="1333500" cy="381000"/>
            </a:xfrm>
          </p:grpSpPr>
          <p:sp>
            <p:nvSpPr>
              <p:cNvPr id="62" name="四角形"/>
              <p:cNvSpPr/>
              <p:nvPr/>
            </p:nvSpPr>
            <p:spPr>
              <a:xfrm>
                <a:off x="10325100" y="2476500"/>
                <a:ext cx="13335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3" name="テキスト"/>
              <p:cNvSpPr txBox="1"/>
              <p:nvPr/>
            </p:nvSpPr>
            <p:spPr>
              <a:xfrm>
                <a:off x="10439400" y="2476500"/>
                <a:ext cx="8763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YYYY/MM/DD</a:t>
                </a:r>
              </a:p>
            </p:txBody>
          </p:sp>
          <p:sp>
            <p:nvSpPr>
              <p:cNvPr id="64" name="四角形"/>
              <p:cNvSpPr/>
              <p:nvPr/>
            </p:nvSpPr>
            <p:spPr>
              <a:xfrm>
                <a:off x="11353800" y="2590800"/>
                <a:ext cx="171450" cy="161925"/>
              </a:xfrm>
              <a:prstGeom prst="roundRect">
                <a:avLst>
                  <a:gd name="adj" fmla="val 11765"/>
                </a:avLst>
              </a:prstGeom>
              <a:noFill/>
              <a:ln w="12383">
                <a:solidFill>
                  <a:srgbClr val="64748B"/>
                </a:solidFill>
              </a:ln>
            </p:spPr>
          </p:sp>
          <p:cxnSp>
            <p:nvCxnSpPr>
              <p:cNvPr id="65" name="線"/>
              <p:cNvCxnSpPr/>
              <p:nvPr/>
            </p:nvCxnSpPr>
            <p:spPr>
              <a:xfrm>
                <a:off x="11353800" y="2638425"/>
                <a:ext cx="171450" cy="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66" name="線"/>
              <p:cNvCxnSpPr/>
              <p:nvPr/>
            </p:nvCxnSpPr>
            <p:spPr>
              <a:xfrm>
                <a:off x="11401425" y="25717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67" name="線"/>
              <p:cNvCxnSpPr/>
              <p:nvPr/>
            </p:nvCxnSpPr>
            <p:spPr>
              <a:xfrm>
                <a:off x="11477625" y="25717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</p:grpSp>
        <p:grpSp>
          <p:nvGrpSpPr>
            <p:cNvPr id="71" name="ボタン：クリア"/>
            <p:cNvGrpSpPr/>
            <p:nvPr/>
          </p:nvGrpSpPr>
          <p:grpSpPr>
            <a:xfrm>
              <a:off x="9525000" y="3009900"/>
              <a:ext cx="990600" cy="381000"/>
              <a:chOff x="9525000" y="3009900"/>
              <a:chExt cx="990600" cy="381000"/>
            </a:xfrm>
          </p:grpSpPr>
          <p:sp>
            <p:nvSpPr>
              <p:cNvPr id="69" name="四角形"/>
              <p:cNvSpPr/>
              <p:nvPr/>
            </p:nvSpPr>
            <p:spPr>
              <a:xfrm>
                <a:off x="9525000" y="3009900"/>
                <a:ext cx="9906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0" name="テキスト"/>
              <p:cNvSpPr txBox="1"/>
              <p:nvPr/>
            </p:nvSpPr>
            <p:spPr>
              <a:xfrm>
                <a:off x="9525000" y="3009900"/>
                <a:ext cx="9906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クリア</a:t>
                </a:r>
              </a:p>
            </p:txBody>
          </p:sp>
        </p:grpSp>
        <p:grpSp>
          <p:nvGrpSpPr>
            <p:cNvPr id="74" name="ボタン：検索"/>
            <p:cNvGrpSpPr/>
            <p:nvPr/>
          </p:nvGrpSpPr>
          <p:grpSpPr>
            <a:xfrm>
              <a:off x="10629900" y="3009900"/>
              <a:ext cx="1028700" cy="381000"/>
              <a:chOff x="10629900" y="3009900"/>
              <a:chExt cx="1028700" cy="381000"/>
            </a:xfrm>
          </p:grpSpPr>
          <p:sp>
            <p:nvSpPr>
              <p:cNvPr id="72" name="四角形"/>
              <p:cNvSpPr/>
              <p:nvPr/>
            </p:nvSpPr>
            <p:spPr>
              <a:xfrm>
                <a:off x="10629900" y="3009900"/>
                <a:ext cx="10287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73" name="テキスト"/>
              <p:cNvSpPr txBox="1"/>
              <p:nvPr/>
            </p:nvSpPr>
            <p:spPr>
              <a:xfrm>
                <a:off x="10629900" y="3009900"/>
                <a:ext cx="10287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検索</a:t>
                </a:r>
              </a:p>
            </p:txBody>
          </p:sp>
        </p:grpSp>
      </p:grpSp>
      <p:sp>
        <p:nvSpPr>
          <p:cNvPr id="76" name="テキスト"/>
          <p:cNvSpPr txBox="1"/>
          <p:nvPr/>
        </p:nvSpPr>
        <p:spPr>
          <a:xfrm>
            <a:off x="2400300" y="3695700"/>
            <a:ext cx="2857500" cy="3429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1519"/>
              </a:lnSpc>
              <a:buNone/>
            </a:pPr>
            <a:r>
              <a:rPr lang="ja-JP" altLang="en-US" sz="1125" b="1" dirty="0">
                <a:solidFill>
                  <a:srgbClr val="1F2937"/>
                </a:solidFill>
                <a:latin typeface="Meiryo UI"/>
                <a:ea typeface="Meiryo UI"/>
              </a:rPr>
              <a:t>検索結果　128 件</a:t>
            </a:r>
          </a:p>
        </p:txBody>
      </p:sp>
      <p:grpSp>
        <p:nvGrpSpPr>
          <p:cNvPr id="79" name="ボタン：CSV出力"/>
          <p:cNvGrpSpPr/>
          <p:nvPr/>
        </p:nvGrpSpPr>
        <p:grpSpPr>
          <a:xfrm>
            <a:off x="9563100" y="3695700"/>
            <a:ext cx="1066800" cy="342900"/>
            <a:chOff x="9563100" y="3695700"/>
            <a:chExt cx="1066800" cy="342900"/>
          </a:xfrm>
        </p:grpSpPr>
        <p:sp>
          <p:nvSpPr>
            <p:cNvPr id="77" name="四角形"/>
            <p:cNvSpPr/>
            <p:nvPr/>
          </p:nvSpPr>
          <p:spPr>
            <a:xfrm>
              <a:off x="9563100" y="3695700"/>
              <a:ext cx="10668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8" name="テキスト"/>
            <p:cNvSpPr txBox="1"/>
            <p:nvPr/>
          </p:nvSpPr>
          <p:spPr>
            <a:xfrm>
              <a:off x="9563100" y="3695700"/>
              <a:ext cx="10668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CSV出力</a:t>
              </a:r>
            </a:p>
          </p:txBody>
        </p:sp>
      </p:grpSp>
      <p:grpSp>
        <p:nvGrpSpPr>
          <p:cNvPr id="82" name="ボタン：新規登録"/>
          <p:cNvGrpSpPr/>
          <p:nvPr/>
        </p:nvGrpSpPr>
        <p:grpSpPr>
          <a:xfrm>
            <a:off x="10744200" y="3695700"/>
            <a:ext cx="1143000" cy="342900"/>
            <a:chOff x="10744200" y="3695700"/>
            <a:chExt cx="1143000" cy="342900"/>
          </a:xfrm>
        </p:grpSpPr>
        <p:sp>
          <p:nvSpPr>
            <p:cNvPr id="80" name="四角形"/>
            <p:cNvSpPr/>
            <p:nvPr/>
          </p:nvSpPr>
          <p:spPr>
            <a:xfrm>
              <a:off x="10744200" y="3695700"/>
              <a:ext cx="1143000" cy="342900"/>
            </a:xfrm>
            <a:prstGeom prst="roundRect">
              <a:avLst>
                <a:gd name="adj" fmla="val 16667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81" name="テキスト"/>
            <p:cNvSpPr txBox="1"/>
            <p:nvPr/>
          </p:nvSpPr>
          <p:spPr>
            <a:xfrm>
              <a:off x="10744200" y="3695700"/>
              <a:ext cx="11430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新規登録</a:t>
              </a:r>
            </a:p>
          </p:txBody>
        </p:sp>
      </p:grpSp>
      <p:graphicFrame>
        <p:nvGraphicFramePr>
          <p:cNvPr id="83" name="表"/>
          <p:cNvGraphicFramePr>
            <a:graphicFrameLocks noGrp="1"/>
          </p:cNvGraphicFramePr>
          <p:nvPr/>
        </p:nvGraphicFramePr>
        <p:xfrm>
          <a:off x="2400300" y="4152900"/>
          <a:ext cx="9486900" cy="2057400"/>
        </p:xfrm>
        <a:graphic>
          <a:graphicData uri="http://schemas.openxmlformats.org/drawingml/2006/table">
            <a:tbl>
              <a:tblPr firstRow="1"/>
              <a:tblGrid>
                <a:gridCol w="1390650"/>
                <a:gridCol w="1619250"/>
                <a:gridCol w="1847850"/>
                <a:gridCol w="923925"/>
                <a:gridCol w="1390650"/>
                <a:gridCol w="1390650"/>
                <a:gridCol w="923925"/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顧客番号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氏名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氏名（カナ）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区分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担当者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登録日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状態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C-0012345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山田 太郎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ヤマダ タロウ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個人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佐藤 花子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2024/04/01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C-0012388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株式会社サンプル商事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カ）サンプルショウジ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法人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佐藤 花子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2024/05/12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C-0013021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鈴木 一郎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スズキ イチロウ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個人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高橋 健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2024/08/30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休止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C-0013457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高橋 美咲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タカハシ ミサキ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個人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高橋 健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2025/01/15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C-0014002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有限会社テスト工業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ユ）テストコウギョウ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法人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伊藤 由美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2025/06/03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99" name="ページ送り"/>
          <p:cNvGrpSpPr/>
          <p:nvPr/>
        </p:nvGrpSpPr>
        <p:grpSpPr>
          <a:xfrm>
            <a:off x="8267700" y="6324600"/>
            <a:ext cx="3619500" cy="304800"/>
            <a:chOff x="8267700" y="6324600"/>
            <a:chExt cx="3619500" cy="304800"/>
          </a:xfrm>
        </p:grpSpPr>
        <p:sp>
          <p:nvSpPr>
            <p:cNvPr id="84" name="テキスト"/>
            <p:cNvSpPr txBox="1"/>
            <p:nvPr/>
          </p:nvSpPr>
          <p:spPr>
            <a:xfrm>
              <a:off x="8267700" y="6324600"/>
              <a:ext cx="10287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64748B"/>
                  </a:solidFill>
                  <a:latin typeface="Meiryo UI"/>
                  <a:ea typeface="Meiryo UI"/>
                </a:rPr>
                <a:t>1〜5 件を表示</a:t>
              </a:r>
            </a:p>
          </p:txBody>
        </p:sp>
        <p:sp>
          <p:nvSpPr>
            <p:cNvPr id="85" name="四角形"/>
            <p:cNvSpPr/>
            <p:nvPr/>
          </p:nvSpPr>
          <p:spPr>
            <a:xfrm>
              <a:off x="9410700" y="63246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6" name="テキスト"/>
            <p:cNvSpPr txBox="1"/>
            <p:nvPr/>
          </p:nvSpPr>
          <p:spPr>
            <a:xfrm>
              <a:off x="9410700" y="63246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‹</a:t>
              </a:r>
            </a:p>
          </p:txBody>
        </p:sp>
        <p:sp>
          <p:nvSpPr>
            <p:cNvPr id="87" name="四角形"/>
            <p:cNvSpPr/>
            <p:nvPr/>
          </p:nvSpPr>
          <p:spPr>
            <a:xfrm>
              <a:off x="9772650" y="63246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88" name="テキスト"/>
            <p:cNvSpPr txBox="1"/>
            <p:nvPr/>
          </p:nvSpPr>
          <p:spPr>
            <a:xfrm>
              <a:off x="9772650" y="63246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1</a:t>
              </a:r>
            </a:p>
          </p:txBody>
        </p:sp>
        <p:sp>
          <p:nvSpPr>
            <p:cNvPr id="89" name="四角形"/>
            <p:cNvSpPr/>
            <p:nvPr/>
          </p:nvSpPr>
          <p:spPr>
            <a:xfrm>
              <a:off x="10134600" y="63246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0" name="テキスト"/>
            <p:cNvSpPr txBox="1"/>
            <p:nvPr/>
          </p:nvSpPr>
          <p:spPr>
            <a:xfrm>
              <a:off x="10134600" y="63246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2</a:t>
              </a:r>
            </a:p>
          </p:txBody>
        </p:sp>
        <p:sp>
          <p:nvSpPr>
            <p:cNvPr id="91" name="四角形"/>
            <p:cNvSpPr/>
            <p:nvPr/>
          </p:nvSpPr>
          <p:spPr>
            <a:xfrm>
              <a:off x="10496550" y="63246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2" name="テキスト"/>
            <p:cNvSpPr txBox="1"/>
            <p:nvPr/>
          </p:nvSpPr>
          <p:spPr>
            <a:xfrm>
              <a:off x="10496550" y="63246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3</a:t>
              </a:r>
            </a:p>
          </p:txBody>
        </p:sp>
        <p:sp>
          <p:nvSpPr>
            <p:cNvPr id="93" name="四角形"/>
            <p:cNvSpPr/>
            <p:nvPr/>
          </p:nvSpPr>
          <p:spPr>
            <a:xfrm>
              <a:off x="10858500" y="63246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4" name="テキスト"/>
            <p:cNvSpPr txBox="1"/>
            <p:nvPr/>
          </p:nvSpPr>
          <p:spPr>
            <a:xfrm>
              <a:off x="10858500" y="63246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4</a:t>
              </a:r>
            </a:p>
          </p:txBody>
        </p:sp>
        <p:sp>
          <p:nvSpPr>
            <p:cNvPr id="95" name="四角形"/>
            <p:cNvSpPr/>
            <p:nvPr/>
          </p:nvSpPr>
          <p:spPr>
            <a:xfrm>
              <a:off x="11220450" y="63246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6" name="テキスト"/>
            <p:cNvSpPr txBox="1"/>
            <p:nvPr/>
          </p:nvSpPr>
          <p:spPr>
            <a:xfrm>
              <a:off x="11220450" y="63246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5</a:t>
              </a:r>
            </a:p>
          </p:txBody>
        </p:sp>
        <p:sp>
          <p:nvSpPr>
            <p:cNvPr id="97" name="四角形"/>
            <p:cNvSpPr/>
            <p:nvPr/>
          </p:nvSpPr>
          <p:spPr>
            <a:xfrm>
              <a:off x="11582400" y="63246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8" name="テキスト"/>
            <p:cNvSpPr txBox="1"/>
            <p:nvPr/>
          </p:nvSpPr>
          <p:spPr>
            <a:xfrm>
              <a:off x="11582400" y="63246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›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詳細（照会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四角形"/>
              <p:cNvSpPr/>
              <p:nvPr/>
            </p:nvSpPr>
            <p:spPr>
              <a:xfrm>
                <a:off x="76200" y="10668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4" name="四角形"/>
              <p:cNvSpPr/>
              <p:nvPr/>
            </p:nvSpPr>
            <p:spPr>
              <a:xfrm>
                <a:off x="76200" y="11430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5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6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32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cxnSp>
            <p:nvCxnSpPr>
              <p:cNvPr id="26" name="線"/>
              <p:cNvCxnSpPr/>
              <p:nvPr/>
            </p:nvCxnSpPr>
            <p:spPr>
              <a:xfrm>
                <a:off x="361577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7" name="線"/>
              <p:cNvCxnSpPr/>
              <p:nvPr/>
            </p:nvCxnSpPr>
            <p:spPr>
              <a:xfrm flipH="1">
                <a:off x="361577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8" name="テキスト"/>
              <p:cNvSpPr txBox="1"/>
              <p:nvPr/>
            </p:nvSpPr>
            <p:spPr>
              <a:xfrm>
                <a:off x="376817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顧客一覧</a:t>
                </a:r>
              </a:p>
            </p:txBody>
          </p:sp>
          <p:cxnSp>
            <p:nvCxnSpPr>
              <p:cNvPr id="29" name="線"/>
              <p:cNvCxnSpPr/>
              <p:nvPr/>
            </p:nvCxnSpPr>
            <p:spPr>
              <a:xfrm>
                <a:off x="43587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30" name="線"/>
              <p:cNvCxnSpPr/>
              <p:nvPr/>
            </p:nvCxnSpPr>
            <p:spPr>
              <a:xfrm flipH="1">
                <a:off x="43587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31" name="テキスト"/>
              <p:cNvSpPr txBox="1"/>
              <p:nvPr/>
            </p:nvSpPr>
            <p:spPr>
              <a:xfrm>
                <a:off x="451112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顧客詳細</a:t>
                </a:r>
              </a:p>
            </p:txBody>
          </p:sp>
        </p:grpSp>
      </p:grpSp>
      <p:grpSp>
        <p:nvGrpSpPr>
          <p:cNvPr id="36" name="見出し：山田 太郎 様"/>
          <p:cNvGrpSpPr/>
          <p:nvPr/>
        </p:nvGrpSpPr>
        <p:grpSpPr>
          <a:xfrm>
            <a:off x="2400300" y="990600"/>
            <a:ext cx="2095500" cy="381000"/>
            <a:chOff x="2400300" y="990600"/>
            <a:chExt cx="2095500" cy="381000"/>
          </a:xfrm>
        </p:grpSpPr>
        <p:sp>
          <p:nvSpPr>
            <p:cNvPr id="34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5" name="テキスト"/>
            <p:cNvSpPr txBox="1"/>
            <p:nvPr/>
          </p:nvSpPr>
          <p:spPr>
            <a:xfrm>
              <a:off x="2552700" y="990600"/>
              <a:ext cx="19431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山田 太郎 様</a:t>
              </a:r>
            </a:p>
          </p:txBody>
        </p:sp>
      </p:grpSp>
      <p:grpSp>
        <p:nvGrpSpPr>
          <p:cNvPr id="39" name="ステータス：有効"/>
          <p:cNvGrpSpPr/>
          <p:nvPr/>
        </p:nvGrpSpPr>
        <p:grpSpPr>
          <a:xfrm>
            <a:off x="4000500" y="1057275"/>
            <a:ext cx="609600" cy="247650"/>
            <a:chOff x="4000500" y="1057275"/>
            <a:chExt cx="609600" cy="247650"/>
          </a:xfrm>
        </p:grpSpPr>
        <p:sp>
          <p:nvSpPr>
            <p:cNvPr id="37" name="四角形"/>
            <p:cNvSpPr/>
            <p:nvPr/>
          </p:nvSpPr>
          <p:spPr>
            <a:xfrm>
              <a:off x="4000500" y="105727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8" name="テキスト"/>
            <p:cNvSpPr txBox="1"/>
            <p:nvPr/>
          </p:nvSpPr>
          <p:spPr>
            <a:xfrm>
              <a:off x="4000500" y="1057275"/>
              <a:ext cx="609600" cy="24765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215"/>
                </a:lnSpc>
                <a:buNone/>
              </a:pPr>
              <a:r>
                <a:rPr lang="ja-JP" altLang="en-US" sz="900" b="1" dirty="0">
                  <a:solidFill>
                    <a:srgbClr val="15803D"/>
                  </a:solidFill>
                  <a:latin typeface="Meiryo UI"/>
                  <a:ea typeface="Meiryo UI"/>
                </a:rPr>
                <a:t>有効</a:t>
              </a:r>
            </a:p>
          </p:txBody>
        </p:sp>
      </p:grpSp>
      <p:grpSp>
        <p:nvGrpSpPr>
          <p:cNvPr id="42" name="ボタン：削除"/>
          <p:cNvGrpSpPr/>
          <p:nvPr/>
        </p:nvGrpSpPr>
        <p:grpSpPr>
          <a:xfrm>
            <a:off x="9563100" y="1009650"/>
            <a:ext cx="1066800" cy="342900"/>
            <a:chOff x="9563100" y="1009650"/>
            <a:chExt cx="1066800" cy="342900"/>
          </a:xfrm>
        </p:grpSpPr>
        <p:sp>
          <p:nvSpPr>
            <p:cNvPr id="40" name="四角形"/>
            <p:cNvSpPr/>
            <p:nvPr/>
          </p:nvSpPr>
          <p:spPr>
            <a:xfrm>
              <a:off x="9563100" y="1009650"/>
              <a:ext cx="10668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C2626"/>
              </a:solidFill>
            </a:ln>
          </p:spPr>
        </p:sp>
        <p:sp>
          <p:nvSpPr>
            <p:cNvPr id="41" name="テキスト"/>
            <p:cNvSpPr txBox="1"/>
            <p:nvPr/>
          </p:nvSpPr>
          <p:spPr>
            <a:xfrm>
              <a:off x="9563100" y="1009650"/>
              <a:ext cx="10668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DC2626"/>
                  </a:solidFill>
                  <a:latin typeface="Meiryo UI"/>
                  <a:ea typeface="Meiryo UI"/>
                </a:rPr>
                <a:t>削除</a:t>
              </a:r>
            </a:p>
          </p:txBody>
        </p:sp>
      </p:grpSp>
      <p:grpSp>
        <p:nvGrpSpPr>
          <p:cNvPr id="45" name="ボタン：編集"/>
          <p:cNvGrpSpPr/>
          <p:nvPr/>
        </p:nvGrpSpPr>
        <p:grpSpPr>
          <a:xfrm>
            <a:off x="10744200" y="1009650"/>
            <a:ext cx="1143000" cy="342900"/>
            <a:chOff x="10744200" y="1009650"/>
            <a:chExt cx="1143000" cy="342900"/>
          </a:xfrm>
        </p:grpSpPr>
        <p:sp>
          <p:nvSpPr>
            <p:cNvPr id="43" name="四角形"/>
            <p:cNvSpPr/>
            <p:nvPr/>
          </p:nvSpPr>
          <p:spPr>
            <a:xfrm>
              <a:off x="10744200" y="1009650"/>
              <a:ext cx="1143000" cy="342900"/>
            </a:xfrm>
            <a:prstGeom prst="roundRect">
              <a:avLst>
                <a:gd name="adj" fmla="val 16667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44" name="テキスト"/>
            <p:cNvSpPr txBox="1"/>
            <p:nvPr/>
          </p:nvSpPr>
          <p:spPr>
            <a:xfrm>
              <a:off x="10744200" y="1009650"/>
              <a:ext cx="11430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編集</a:t>
              </a:r>
            </a:p>
          </p:txBody>
        </p:sp>
      </p:grpSp>
      <p:grpSp>
        <p:nvGrpSpPr>
          <p:cNvPr id="52" name="タブ"/>
          <p:cNvGrpSpPr/>
          <p:nvPr/>
        </p:nvGrpSpPr>
        <p:grpSpPr>
          <a:xfrm>
            <a:off x="2400300" y="1485900"/>
            <a:ext cx="9486900" cy="419100"/>
            <a:chOff x="2400300" y="1485900"/>
            <a:chExt cx="9486900" cy="419100"/>
          </a:xfrm>
        </p:grpSpPr>
        <p:cxnSp>
          <p:nvCxnSpPr>
            <p:cNvPr id="46" name="線"/>
            <p:cNvCxnSpPr/>
            <p:nvPr/>
          </p:nvCxnSpPr>
          <p:spPr>
            <a:xfrm>
              <a:off x="2400300" y="1895475"/>
              <a:ext cx="9486900" cy="0"/>
            </a:xfrm>
            <a:prstGeom prst="line">
              <a:avLst/>
            </a:prstGeom>
            <a:ln w="9525">
              <a:solidFill>
                <a:srgbClr val="CBD5E1"/>
              </a:solidFill>
            </a:ln>
          </p:spPr>
        </p:cxnSp>
        <p:sp>
          <p:nvSpPr>
            <p:cNvPr id="47" name="テキスト"/>
            <p:cNvSpPr txBox="1"/>
            <p:nvPr/>
          </p:nvSpPr>
          <p:spPr>
            <a:xfrm>
              <a:off x="2400300" y="1485900"/>
              <a:ext cx="914400" cy="3905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2457C5"/>
                  </a:solidFill>
                  <a:latin typeface="Meiryo UI"/>
                  <a:ea typeface="Meiryo UI"/>
                </a:rPr>
                <a:t>基本情報</a:t>
              </a:r>
            </a:p>
          </p:txBody>
        </p:sp>
        <p:sp>
          <p:nvSpPr>
            <p:cNvPr id="48" name="四角形"/>
            <p:cNvSpPr/>
            <p:nvPr/>
          </p:nvSpPr>
          <p:spPr>
            <a:xfrm>
              <a:off x="2400300" y="1876425"/>
              <a:ext cx="914400" cy="28575"/>
            </a:xfrm>
            <a:prstGeom prst="rect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49" name="テキスト"/>
            <p:cNvSpPr txBox="1"/>
            <p:nvPr/>
          </p:nvSpPr>
          <p:spPr>
            <a:xfrm>
              <a:off x="3314700" y="1485900"/>
              <a:ext cx="914400" cy="3905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64748B"/>
                  </a:solidFill>
                  <a:latin typeface="Meiryo UI"/>
                  <a:ea typeface="Meiryo UI"/>
                </a:rPr>
                <a:t>取引情報</a:t>
              </a:r>
            </a:p>
          </p:txBody>
        </p:sp>
        <p:sp>
          <p:nvSpPr>
            <p:cNvPr id="50" name="テキスト"/>
            <p:cNvSpPr txBox="1"/>
            <p:nvPr/>
          </p:nvSpPr>
          <p:spPr>
            <a:xfrm>
              <a:off x="4229100" y="1485900"/>
              <a:ext cx="914400" cy="3905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64748B"/>
                  </a:solidFill>
                  <a:latin typeface="Meiryo UI"/>
                  <a:ea typeface="Meiryo UI"/>
                </a:rPr>
                <a:t>対応履歴</a:t>
              </a:r>
            </a:p>
          </p:txBody>
        </p:sp>
        <p:sp>
          <p:nvSpPr>
            <p:cNvPr id="51" name="テキスト"/>
            <p:cNvSpPr txBox="1"/>
            <p:nvPr/>
          </p:nvSpPr>
          <p:spPr>
            <a:xfrm>
              <a:off x="5143500" y="1485900"/>
              <a:ext cx="914400" cy="3905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64748B"/>
                  </a:solidFill>
                  <a:latin typeface="Meiryo UI"/>
                  <a:ea typeface="Meiryo UI"/>
                </a:rPr>
                <a:t>添付書類</a:t>
              </a:r>
            </a:p>
          </p:txBody>
        </p:sp>
      </p:grpSp>
      <p:grpSp>
        <p:nvGrpSpPr>
          <p:cNvPr id="79" name="グループ"/>
          <p:cNvGrpSpPr/>
          <p:nvPr/>
        </p:nvGrpSpPr>
        <p:grpSpPr>
          <a:xfrm>
            <a:off x="2400300" y="2057400"/>
            <a:ext cx="6096000" cy="2895600"/>
            <a:chOff x="2400300" y="2057400"/>
            <a:chExt cx="6096000" cy="2895600"/>
          </a:xfrm>
        </p:grpSpPr>
        <p:grpSp>
          <p:nvGrpSpPr>
            <p:cNvPr id="58" name="グループ枠：基本情報"/>
            <p:cNvGrpSpPr/>
            <p:nvPr/>
          </p:nvGrpSpPr>
          <p:grpSpPr>
            <a:xfrm>
              <a:off x="2400300" y="2057400"/>
              <a:ext cx="6096000" cy="2895600"/>
              <a:chOff x="2400300" y="2057400"/>
              <a:chExt cx="6096000" cy="2895600"/>
            </a:xfrm>
          </p:grpSpPr>
          <p:sp>
            <p:nvSpPr>
              <p:cNvPr id="53" name="四角形"/>
              <p:cNvSpPr/>
              <p:nvPr/>
            </p:nvSpPr>
            <p:spPr>
              <a:xfrm>
                <a:off x="2400300" y="2057400"/>
                <a:ext cx="6096000" cy="2895600"/>
              </a:xfrm>
              <a:prstGeom prst="roundRect">
                <a:avLst>
                  <a:gd name="adj" fmla="val 197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4" name="四角形"/>
              <p:cNvSpPr/>
              <p:nvPr/>
            </p:nvSpPr>
            <p:spPr>
              <a:xfrm>
                <a:off x="2409825" y="2066925"/>
                <a:ext cx="60769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55" name="四角形"/>
              <p:cNvSpPr/>
              <p:nvPr/>
            </p:nvSpPr>
            <p:spPr>
              <a:xfrm>
                <a:off x="2409825" y="2247900"/>
                <a:ext cx="60769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56" name="線"/>
              <p:cNvCxnSpPr/>
              <p:nvPr/>
            </p:nvCxnSpPr>
            <p:spPr>
              <a:xfrm>
                <a:off x="2400300" y="2447925"/>
                <a:ext cx="60960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57" name="テキスト"/>
              <p:cNvSpPr txBox="1"/>
              <p:nvPr/>
            </p:nvSpPr>
            <p:spPr>
              <a:xfrm>
                <a:off x="2552700" y="2066925"/>
                <a:ext cx="57912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基本情報</a:t>
                </a:r>
              </a:p>
            </p:txBody>
          </p:sp>
        </p:grpSp>
        <p:sp>
          <p:nvSpPr>
            <p:cNvPr id="59" name="テキスト"/>
            <p:cNvSpPr txBox="1"/>
            <p:nvPr/>
          </p:nvSpPr>
          <p:spPr>
            <a:xfrm>
              <a:off x="2628900" y="2495550"/>
              <a:ext cx="1371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顧客番号</a:t>
              </a:r>
            </a:p>
          </p:txBody>
        </p:sp>
        <p:sp>
          <p:nvSpPr>
            <p:cNvPr id="60" name="テキスト"/>
            <p:cNvSpPr txBox="1"/>
            <p:nvPr/>
          </p:nvSpPr>
          <p:spPr>
            <a:xfrm>
              <a:off x="4000500" y="2495550"/>
              <a:ext cx="4267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C-0012345</a:t>
              </a:r>
            </a:p>
          </p:txBody>
        </p:sp>
        <p:cxnSp>
          <p:nvCxnSpPr>
            <p:cNvPr id="61" name="線"/>
            <p:cNvCxnSpPr/>
            <p:nvPr/>
          </p:nvCxnSpPr>
          <p:spPr>
            <a:xfrm>
              <a:off x="2628900" y="28384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62" name="テキスト"/>
            <p:cNvSpPr txBox="1"/>
            <p:nvPr/>
          </p:nvSpPr>
          <p:spPr>
            <a:xfrm>
              <a:off x="2628900" y="2838450"/>
              <a:ext cx="1371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氏名</a:t>
              </a:r>
            </a:p>
          </p:txBody>
        </p:sp>
        <p:sp>
          <p:nvSpPr>
            <p:cNvPr id="63" name="テキスト"/>
            <p:cNvSpPr txBox="1"/>
            <p:nvPr/>
          </p:nvSpPr>
          <p:spPr>
            <a:xfrm>
              <a:off x="4000500" y="2838450"/>
              <a:ext cx="4267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山田 太郎</a:t>
              </a:r>
            </a:p>
          </p:txBody>
        </p:sp>
        <p:cxnSp>
          <p:nvCxnSpPr>
            <p:cNvPr id="64" name="線"/>
            <p:cNvCxnSpPr/>
            <p:nvPr/>
          </p:nvCxnSpPr>
          <p:spPr>
            <a:xfrm>
              <a:off x="2628900" y="31813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65" name="テキスト"/>
            <p:cNvSpPr txBox="1"/>
            <p:nvPr/>
          </p:nvSpPr>
          <p:spPr>
            <a:xfrm>
              <a:off x="2628900" y="3181350"/>
              <a:ext cx="1371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氏名（カナ）</a:t>
              </a:r>
            </a:p>
          </p:txBody>
        </p:sp>
        <p:sp>
          <p:nvSpPr>
            <p:cNvPr id="66" name="テキスト"/>
            <p:cNvSpPr txBox="1"/>
            <p:nvPr/>
          </p:nvSpPr>
          <p:spPr>
            <a:xfrm>
              <a:off x="4000500" y="3181350"/>
              <a:ext cx="4267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ヤマダ タロウ</a:t>
              </a:r>
            </a:p>
          </p:txBody>
        </p:sp>
        <p:cxnSp>
          <p:nvCxnSpPr>
            <p:cNvPr id="67" name="線"/>
            <p:cNvCxnSpPr/>
            <p:nvPr/>
          </p:nvCxnSpPr>
          <p:spPr>
            <a:xfrm>
              <a:off x="2628900" y="35242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68" name="テキスト"/>
            <p:cNvSpPr txBox="1"/>
            <p:nvPr/>
          </p:nvSpPr>
          <p:spPr>
            <a:xfrm>
              <a:off x="2628900" y="3524250"/>
              <a:ext cx="1371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生年月日</a:t>
              </a:r>
            </a:p>
          </p:txBody>
        </p:sp>
        <p:sp>
          <p:nvSpPr>
            <p:cNvPr id="69" name="テキスト"/>
            <p:cNvSpPr txBox="1"/>
            <p:nvPr/>
          </p:nvSpPr>
          <p:spPr>
            <a:xfrm>
              <a:off x="4000500" y="3524250"/>
              <a:ext cx="4267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1985/04/12</a:t>
              </a:r>
            </a:p>
          </p:txBody>
        </p:sp>
        <p:cxnSp>
          <p:nvCxnSpPr>
            <p:cNvPr id="70" name="線"/>
            <p:cNvCxnSpPr/>
            <p:nvPr/>
          </p:nvCxnSpPr>
          <p:spPr>
            <a:xfrm>
              <a:off x="2628900" y="38671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71" name="テキスト"/>
            <p:cNvSpPr txBox="1"/>
            <p:nvPr/>
          </p:nvSpPr>
          <p:spPr>
            <a:xfrm>
              <a:off x="2628900" y="3867150"/>
              <a:ext cx="1371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電話番号</a:t>
              </a:r>
            </a:p>
          </p:txBody>
        </p:sp>
        <p:sp>
          <p:nvSpPr>
            <p:cNvPr id="72" name="テキスト"/>
            <p:cNvSpPr txBox="1"/>
            <p:nvPr/>
          </p:nvSpPr>
          <p:spPr>
            <a:xfrm>
              <a:off x="4000500" y="3867150"/>
              <a:ext cx="4267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090-1234-5678</a:t>
              </a:r>
            </a:p>
          </p:txBody>
        </p:sp>
        <p:cxnSp>
          <p:nvCxnSpPr>
            <p:cNvPr id="73" name="線"/>
            <p:cNvCxnSpPr/>
            <p:nvPr/>
          </p:nvCxnSpPr>
          <p:spPr>
            <a:xfrm>
              <a:off x="2628900" y="42100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74" name="テキスト"/>
            <p:cNvSpPr txBox="1"/>
            <p:nvPr/>
          </p:nvSpPr>
          <p:spPr>
            <a:xfrm>
              <a:off x="2628900" y="4210050"/>
              <a:ext cx="1371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メールアドレス</a:t>
              </a:r>
            </a:p>
          </p:txBody>
        </p:sp>
        <p:sp>
          <p:nvSpPr>
            <p:cNvPr id="75" name="テキスト"/>
            <p:cNvSpPr txBox="1"/>
            <p:nvPr/>
          </p:nvSpPr>
          <p:spPr>
            <a:xfrm>
              <a:off x="4000500" y="4210050"/>
              <a:ext cx="4267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taro.yamada@example.com</a:t>
              </a:r>
            </a:p>
          </p:txBody>
        </p:sp>
        <p:cxnSp>
          <p:nvCxnSpPr>
            <p:cNvPr id="76" name="線"/>
            <p:cNvCxnSpPr/>
            <p:nvPr/>
          </p:nvCxnSpPr>
          <p:spPr>
            <a:xfrm>
              <a:off x="2628900" y="45529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77" name="テキスト"/>
            <p:cNvSpPr txBox="1"/>
            <p:nvPr/>
          </p:nvSpPr>
          <p:spPr>
            <a:xfrm>
              <a:off x="2628900" y="4552950"/>
              <a:ext cx="1371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住所</a:t>
              </a:r>
            </a:p>
          </p:txBody>
        </p:sp>
        <p:sp>
          <p:nvSpPr>
            <p:cNvPr id="78" name="テキスト"/>
            <p:cNvSpPr txBox="1"/>
            <p:nvPr/>
          </p:nvSpPr>
          <p:spPr>
            <a:xfrm>
              <a:off x="4000500" y="4552950"/>
              <a:ext cx="4267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東京都千代田区丸の内1-1-1</a:t>
              </a:r>
            </a:p>
          </p:txBody>
        </p:sp>
      </p:grpSp>
      <p:grpSp>
        <p:nvGrpSpPr>
          <p:cNvPr id="100" name="グループ"/>
          <p:cNvGrpSpPr/>
          <p:nvPr/>
        </p:nvGrpSpPr>
        <p:grpSpPr>
          <a:xfrm>
            <a:off x="8648700" y="2057400"/>
            <a:ext cx="3238500" cy="2895600"/>
            <a:chOff x="8648700" y="2057400"/>
            <a:chExt cx="3238500" cy="2895600"/>
          </a:xfrm>
        </p:grpSpPr>
        <p:grpSp>
          <p:nvGrpSpPr>
            <p:cNvPr id="85" name="グループ枠：管理情報"/>
            <p:cNvGrpSpPr/>
            <p:nvPr/>
          </p:nvGrpSpPr>
          <p:grpSpPr>
            <a:xfrm>
              <a:off x="8648700" y="2057400"/>
              <a:ext cx="3238500" cy="2895600"/>
              <a:chOff x="8648700" y="2057400"/>
              <a:chExt cx="3238500" cy="2895600"/>
            </a:xfrm>
          </p:grpSpPr>
          <p:sp>
            <p:nvSpPr>
              <p:cNvPr id="80" name="四角形"/>
              <p:cNvSpPr/>
              <p:nvPr/>
            </p:nvSpPr>
            <p:spPr>
              <a:xfrm>
                <a:off x="8648700" y="2057400"/>
                <a:ext cx="3238500" cy="2895600"/>
              </a:xfrm>
              <a:prstGeom prst="roundRect">
                <a:avLst>
                  <a:gd name="adj" fmla="val 197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81" name="四角形"/>
              <p:cNvSpPr/>
              <p:nvPr/>
            </p:nvSpPr>
            <p:spPr>
              <a:xfrm>
                <a:off x="8658225" y="2066925"/>
                <a:ext cx="32194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82" name="四角形"/>
              <p:cNvSpPr/>
              <p:nvPr/>
            </p:nvSpPr>
            <p:spPr>
              <a:xfrm>
                <a:off x="8658225" y="2247900"/>
                <a:ext cx="32194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83" name="線"/>
              <p:cNvCxnSpPr/>
              <p:nvPr/>
            </p:nvCxnSpPr>
            <p:spPr>
              <a:xfrm>
                <a:off x="8648700" y="2447925"/>
                <a:ext cx="32385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84" name="テキスト"/>
              <p:cNvSpPr txBox="1"/>
              <p:nvPr/>
            </p:nvSpPr>
            <p:spPr>
              <a:xfrm>
                <a:off x="8801100" y="2066925"/>
                <a:ext cx="29337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管理情報</a:t>
                </a:r>
              </a:p>
            </p:txBody>
          </p:sp>
        </p:grpSp>
        <p:sp>
          <p:nvSpPr>
            <p:cNvPr id="86" name="テキスト"/>
            <p:cNvSpPr txBox="1"/>
            <p:nvPr/>
          </p:nvSpPr>
          <p:spPr>
            <a:xfrm>
              <a:off x="8801100" y="2495550"/>
              <a:ext cx="990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担当者</a:t>
              </a:r>
            </a:p>
          </p:txBody>
        </p:sp>
        <p:sp>
          <p:nvSpPr>
            <p:cNvPr id="87" name="テキスト"/>
            <p:cNvSpPr txBox="1"/>
            <p:nvPr/>
          </p:nvSpPr>
          <p:spPr>
            <a:xfrm>
              <a:off x="9791700" y="2495550"/>
              <a:ext cx="19431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佐藤 花子</a:t>
              </a:r>
            </a:p>
          </p:txBody>
        </p:sp>
        <p:cxnSp>
          <p:nvCxnSpPr>
            <p:cNvPr id="88" name="線"/>
            <p:cNvCxnSpPr/>
            <p:nvPr/>
          </p:nvCxnSpPr>
          <p:spPr>
            <a:xfrm>
              <a:off x="8801100" y="2838450"/>
              <a:ext cx="2933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89" name="テキスト"/>
            <p:cNvSpPr txBox="1"/>
            <p:nvPr/>
          </p:nvSpPr>
          <p:spPr>
            <a:xfrm>
              <a:off x="8801100" y="2838450"/>
              <a:ext cx="990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担当部署</a:t>
              </a:r>
            </a:p>
          </p:txBody>
        </p:sp>
        <p:sp>
          <p:nvSpPr>
            <p:cNvPr id="90" name="テキスト"/>
            <p:cNvSpPr txBox="1"/>
            <p:nvPr/>
          </p:nvSpPr>
          <p:spPr>
            <a:xfrm>
              <a:off x="9791700" y="2838450"/>
              <a:ext cx="19431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営業第一部</a:t>
              </a:r>
            </a:p>
          </p:txBody>
        </p:sp>
        <p:cxnSp>
          <p:nvCxnSpPr>
            <p:cNvPr id="91" name="線"/>
            <p:cNvCxnSpPr/>
            <p:nvPr/>
          </p:nvCxnSpPr>
          <p:spPr>
            <a:xfrm>
              <a:off x="8801100" y="3181350"/>
              <a:ext cx="2933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92" name="テキスト"/>
            <p:cNvSpPr txBox="1"/>
            <p:nvPr/>
          </p:nvSpPr>
          <p:spPr>
            <a:xfrm>
              <a:off x="8801100" y="3181350"/>
              <a:ext cx="990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登録日</a:t>
              </a:r>
            </a:p>
          </p:txBody>
        </p:sp>
        <p:sp>
          <p:nvSpPr>
            <p:cNvPr id="93" name="テキスト"/>
            <p:cNvSpPr txBox="1"/>
            <p:nvPr/>
          </p:nvSpPr>
          <p:spPr>
            <a:xfrm>
              <a:off x="9791700" y="3181350"/>
              <a:ext cx="19431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2024/04/01</a:t>
              </a:r>
            </a:p>
          </p:txBody>
        </p:sp>
        <p:cxnSp>
          <p:nvCxnSpPr>
            <p:cNvPr id="94" name="線"/>
            <p:cNvCxnSpPr/>
            <p:nvPr/>
          </p:nvCxnSpPr>
          <p:spPr>
            <a:xfrm>
              <a:off x="8801100" y="3524250"/>
              <a:ext cx="2933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95" name="テキスト"/>
            <p:cNvSpPr txBox="1"/>
            <p:nvPr/>
          </p:nvSpPr>
          <p:spPr>
            <a:xfrm>
              <a:off x="8801100" y="3524250"/>
              <a:ext cx="990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最終更新</a:t>
              </a:r>
            </a:p>
          </p:txBody>
        </p:sp>
        <p:sp>
          <p:nvSpPr>
            <p:cNvPr id="96" name="テキスト"/>
            <p:cNvSpPr txBox="1"/>
            <p:nvPr/>
          </p:nvSpPr>
          <p:spPr>
            <a:xfrm>
              <a:off x="9791700" y="3524250"/>
              <a:ext cx="19431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2026/10/20 14:32</a:t>
              </a:r>
            </a:p>
          </p:txBody>
        </p:sp>
        <p:cxnSp>
          <p:nvCxnSpPr>
            <p:cNvPr id="97" name="線"/>
            <p:cNvCxnSpPr/>
            <p:nvPr/>
          </p:nvCxnSpPr>
          <p:spPr>
            <a:xfrm>
              <a:off x="8801100" y="3867150"/>
              <a:ext cx="2933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98" name="テキスト"/>
            <p:cNvSpPr txBox="1"/>
            <p:nvPr/>
          </p:nvSpPr>
          <p:spPr>
            <a:xfrm>
              <a:off x="8801100" y="3867150"/>
              <a:ext cx="9906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更新者</a:t>
              </a:r>
            </a:p>
          </p:txBody>
        </p:sp>
        <p:sp>
          <p:nvSpPr>
            <p:cNvPr id="99" name="テキスト"/>
            <p:cNvSpPr txBox="1"/>
            <p:nvPr/>
          </p:nvSpPr>
          <p:spPr>
            <a:xfrm>
              <a:off x="9791700" y="3867150"/>
              <a:ext cx="19431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鈴木 一郎</a:t>
              </a:r>
            </a:p>
          </p:txBody>
        </p:sp>
      </p:grpSp>
      <p:grpSp>
        <p:nvGrpSpPr>
          <p:cNvPr id="106" name="グループ枠：直近の対応"/>
          <p:cNvGrpSpPr/>
          <p:nvPr/>
        </p:nvGrpSpPr>
        <p:grpSpPr>
          <a:xfrm>
            <a:off x="2400300" y="5105400"/>
            <a:ext cx="9486900" cy="1524000"/>
            <a:chOff x="2400300" y="5105400"/>
            <a:chExt cx="9486900" cy="1524000"/>
          </a:xfrm>
        </p:grpSpPr>
        <p:sp>
          <p:nvSpPr>
            <p:cNvPr id="101" name="四角形"/>
            <p:cNvSpPr/>
            <p:nvPr/>
          </p:nvSpPr>
          <p:spPr>
            <a:xfrm>
              <a:off x="2400300" y="5105400"/>
              <a:ext cx="9486900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2" name="四角形"/>
            <p:cNvSpPr/>
            <p:nvPr/>
          </p:nvSpPr>
          <p:spPr>
            <a:xfrm>
              <a:off x="2409825" y="5114925"/>
              <a:ext cx="9467850" cy="38100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03" name="四角形"/>
            <p:cNvSpPr/>
            <p:nvPr/>
          </p:nvSpPr>
          <p:spPr>
            <a:xfrm>
              <a:off x="2409825" y="5295900"/>
              <a:ext cx="9467850" cy="200025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cxnSp>
          <p:nvCxnSpPr>
            <p:cNvPr id="104" name="線"/>
            <p:cNvCxnSpPr/>
            <p:nvPr/>
          </p:nvCxnSpPr>
          <p:spPr>
            <a:xfrm>
              <a:off x="2400300" y="5495925"/>
              <a:ext cx="9486900" cy="0"/>
            </a:xfrm>
            <a:prstGeom prst="line">
              <a:avLst/>
            </a:prstGeom>
            <a:ln w="9525">
              <a:solidFill>
                <a:srgbClr val="CBD5E1"/>
              </a:solidFill>
            </a:ln>
          </p:spPr>
        </p:cxnSp>
        <p:sp>
          <p:nvSpPr>
            <p:cNvPr id="105" name="テキスト"/>
            <p:cNvSpPr txBox="1"/>
            <p:nvPr/>
          </p:nvSpPr>
          <p:spPr>
            <a:xfrm>
              <a:off x="2552700" y="5114925"/>
              <a:ext cx="91821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519"/>
                </a:lnSpc>
                <a:buNone/>
              </a:pPr>
              <a:r>
                <a:rPr lang="ja-JP" altLang="en-US" sz="1125" b="1" dirty="0">
                  <a:solidFill>
                    <a:srgbClr val="1F2937"/>
                  </a:solidFill>
                  <a:latin typeface="Meiryo UI"/>
                  <a:ea typeface="Meiryo UI"/>
                </a:rPr>
                <a:t>直近の対応</a:t>
              </a:r>
            </a:p>
          </p:txBody>
        </p:sp>
      </p:grpSp>
      <p:graphicFrame>
        <p:nvGraphicFramePr>
          <p:cNvPr id="107" name="表"/>
          <p:cNvGraphicFramePr>
            <a:graphicFrameLocks noGrp="1"/>
          </p:cNvGraphicFramePr>
          <p:nvPr/>
        </p:nvGraphicFramePr>
        <p:xfrm>
          <a:off x="2552700" y="5562600"/>
          <a:ext cx="9182100" cy="914400"/>
        </p:xfrm>
        <a:graphic>
          <a:graphicData uri="http://schemas.openxmlformats.org/drawingml/2006/table">
            <a:tbl>
              <a:tblPr firstRow="1"/>
              <a:tblGrid>
                <a:gridCol w="1571625"/>
                <a:gridCol w="895350"/>
                <a:gridCol w="5600700"/>
                <a:gridCol w="1114425"/>
              </a:tblGrid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日時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区分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内容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担当者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2026/10/20 14:32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変更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電話番号を変更（本人より電話で申出）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鈴木 一郎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2026/09/02 10:15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相談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住所変更の手続きについて問い合わせ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佐藤 花子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2026/07/18 16:40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訪問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定期訪問。ご家族の状況をヒアリング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15"/>
                        </a:lnSpc>
                        <a:buNone/>
                      </a:pPr>
                      <a:r>
                        <a:rPr lang="ja-JP" altLang="en-US" sz="900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佐藤 花子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登録（入力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四角形"/>
              <p:cNvSpPr/>
              <p:nvPr/>
            </p:nvSpPr>
            <p:spPr>
              <a:xfrm>
                <a:off x="76200" y="10668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4" name="四角形"/>
              <p:cNvSpPr/>
              <p:nvPr/>
            </p:nvSpPr>
            <p:spPr>
              <a:xfrm>
                <a:off x="76200" y="11430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5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6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29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cxnSp>
            <p:nvCxnSpPr>
              <p:cNvPr id="26" name="線"/>
              <p:cNvCxnSpPr/>
              <p:nvPr/>
            </p:nvCxnSpPr>
            <p:spPr>
              <a:xfrm>
                <a:off x="361577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7" name="線"/>
              <p:cNvCxnSpPr/>
              <p:nvPr/>
            </p:nvCxnSpPr>
            <p:spPr>
              <a:xfrm flipH="1">
                <a:off x="361577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8" name="テキスト"/>
              <p:cNvSpPr txBox="1"/>
              <p:nvPr/>
            </p:nvSpPr>
            <p:spPr>
              <a:xfrm>
                <a:off x="376817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顧客登録</a:t>
                </a:r>
              </a:p>
            </p:txBody>
          </p:sp>
        </p:grpSp>
      </p:grpSp>
      <p:grpSp>
        <p:nvGrpSpPr>
          <p:cNvPr id="33" name="見出し：顧客登録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31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2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顧客登録</a:t>
              </a:r>
            </a:p>
          </p:txBody>
        </p:sp>
      </p:grpSp>
      <p:grpSp>
        <p:nvGrpSpPr>
          <p:cNvPr id="45" name="ステップ表示"/>
          <p:cNvGrpSpPr/>
          <p:nvPr/>
        </p:nvGrpSpPr>
        <p:grpSpPr>
          <a:xfrm>
            <a:off x="7315200" y="914400"/>
            <a:ext cx="4572000" cy="533400"/>
            <a:chOff x="7315200" y="914400"/>
            <a:chExt cx="4572000" cy="533400"/>
          </a:xfrm>
        </p:grpSpPr>
        <p:sp>
          <p:nvSpPr>
            <p:cNvPr id="34" name="円"/>
            <p:cNvSpPr/>
            <p:nvPr/>
          </p:nvSpPr>
          <p:spPr>
            <a:xfrm>
              <a:off x="7943850" y="914400"/>
              <a:ext cx="266700" cy="266700"/>
            </a:xfrm>
            <a:prstGeom prst="ellipse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5" name="テキスト"/>
            <p:cNvSpPr txBox="1"/>
            <p:nvPr/>
          </p:nvSpPr>
          <p:spPr>
            <a:xfrm>
              <a:off x="7943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1</a:t>
              </a:r>
            </a:p>
          </p:txBody>
        </p:sp>
        <p:sp>
          <p:nvSpPr>
            <p:cNvPr id="36" name="テキスト"/>
            <p:cNvSpPr txBox="1"/>
            <p:nvPr/>
          </p:nvSpPr>
          <p:spPr>
            <a:xfrm>
              <a:off x="7315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入力</a:t>
              </a:r>
            </a:p>
          </p:txBody>
        </p:sp>
        <p:cxnSp>
          <p:nvCxnSpPr>
            <p:cNvPr id="37" name="線"/>
            <p:cNvCxnSpPr/>
            <p:nvPr/>
          </p:nvCxnSpPr>
          <p:spPr>
            <a:xfrm>
              <a:off x="8229600" y="1047750"/>
              <a:ext cx="1219200" cy="0"/>
            </a:xfrm>
            <a:prstGeom prst="line">
              <a:avLst/>
            </a:prstGeom>
            <a:ln w="19050">
              <a:solidFill>
                <a:srgbClr val="CBD5E1"/>
              </a:solidFill>
            </a:ln>
          </p:spPr>
        </p:cxnSp>
        <p:sp>
          <p:nvSpPr>
            <p:cNvPr id="38" name="円"/>
            <p:cNvSpPr/>
            <p:nvPr/>
          </p:nvSpPr>
          <p:spPr>
            <a:xfrm>
              <a:off x="9467850" y="914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9" name="テキスト"/>
            <p:cNvSpPr txBox="1"/>
            <p:nvPr/>
          </p:nvSpPr>
          <p:spPr>
            <a:xfrm>
              <a:off x="9467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64748B"/>
                  </a:solidFill>
                  <a:latin typeface="Meiryo UI"/>
                  <a:ea typeface="Meiryo UI"/>
                </a:rPr>
                <a:t>2</a:t>
              </a:r>
            </a:p>
          </p:txBody>
        </p:sp>
        <p:sp>
          <p:nvSpPr>
            <p:cNvPr id="40" name="テキスト"/>
            <p:cNvSpPr txBox="1"/>
            <p:nvPr/>
          </p:nvSpPr>
          <p:spPr>
            <a:xfrm>
              <a:off x="8839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確認</a:t>
              </a:r>
            </a:p>
          </p:txBody>
        </p:sp>
        <p:cxnSp>
          <p:nvCxnSpPr>
            <p:cNvPr id="41" name="線"/>
            <p:cNvCxnSpPr/>
            <p:nvPr/>
          </p:nvCxnSpPr>
          <p:spPr>
            <a:xfrm>
              <a:off x="9753600" y="1047750"/>
              <a:ext cx="1219200" cy="0"/>
            </a:xfrm>
            <a:prstGeom prst="line">
              <a:avLst/>
            </a:prstGeom>
            <a:ln w="19050">
              <a:solidFill>
                <a:srgbClr val="CBD5E1"/>
              </a:solidFill>
            </a:ln>
          </p:spPr>
        </p:cxnSp>
        <p:sp>
          <p:nvSpPr>
            <p:cNvPr id="42" name="円"/>
            <p:cNvSpPr/>
            <p:nvPr/>
          </p:nvSpPr>
          <p:spPr>
            <a:xfrm>
              <a:off x="10991850" y="914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3" name="テキスト"/>
            <p:cNvSpPr txBox="1"/>
            <p:nvPr/>
          </p:nvSpPr>
          <p:spPr>
            <a:xfrm>
              <a:off x="10991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64748B"/>
                  </a:solidFill>
                  <a:latin typeface="Meiryo UI"/>
                  <a:ea typeface="Meiryo UI"/>
                </a:rPr>
                <a:t>3</a:t>
              </a:r>
            </a:p>
          </p:txBody>
        </p:sp>
        <p:sp>
          <p:nvSpPr>
            <p:cNvPr id="44" name="テキスト"/>
            <p:cNvSpPr txBox="1"/>
            <p:nvPr/>
          </p:nvSpPr>
          <p:spPr>
            <a:xfrm>
              <a:off x="10363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完了</a:t>
              </a:r>
            </a:p>
          </p:txBody>
        </p:sp>
      </p:grpSp>
      <p:grpSp>
        <p:nvGrpSpPr>
          <p:cNvPr id="90" name="グループ"/>
          <p:cNvGrpSpPr/>
          <p:nvPr/>
        </p:nvGrpSpPr>
        <p:grpSpPr>
          <a:xfrm>
            <a:off x="2400300" y="1562100"/>
            <a:ext cx="9486900" cy="1981200"/>
            <a:chOff x="2400300" y="1562100"/>
            <a:chExt cx="9486900" cy="1981200"/>
          </a:xfrm>
        </p:grpSpPr>
        <p:grpSp>
          <p:nvGrpSpPr>
            <p:cNvPr id="51" name="グループ枠：基本情報"/>
            <p:cNvGrpSpPr/>
            <p:nvPr/>
          </p:nvGrpSpPr>
          <p:grpSpPr>
            <a:xfrm>
              <a:off x="2400300" y="1562100"/>
              <a:ext cx="9486900" cy="1981200"/>
              <a:chOff x="2400300" y="1562100"/>
              <a:chExt cx="9486900" cy="1981200"/>
            </a:xfrm>
          </p:grpSpPr>
          <p:sp>
            <p:nvSpPr>
              <p:cNvPr id="46" name="四角形"/>
              <p:cNvSpPr/>
              <p:nvPr/>
            </p:nvSpPr>
            <p:spPr>
              <a:xfrm>
                <a:off x="2400300" y="1562100"/>
                <a:ext cx="9486900" cy="1981200"/>
              </a:xfrm>
              <a:prstGeom prst="roundRect">
                <a:avLst>
                  <a:gd name="adj" fmla="val 2885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7" name="四角形"/>
              <p:cNvSpPr/>
              <p:nvPr/>
            </p:nvSpPr>
            <p:spPr>
              <a:xfrm>
                <a:off x="2409825" y="1571625"/>
                <a:ext cx="94678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48" name="四角形"/>
              <p:cNvSpPr/>
              <p:nvPr/>
            </p:nvSpPr>
            <p:spPr>
              <a:xfrm>
                <a:off x="2409825" y="1752600"/>
                <a:ext cx="94678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49" name="線"/>
              <p:cNvCxnSpPr/>
              <p:nvPr/>
            </p:nvCxnSpPr>
            <p:spPr>
              <a:xfrm>
                <a:off x="2400300" y="1952625"/>
                <a:ext cx="94869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50" name="テキスト"/>
              <p:cNvSpPr txBox="1"/>
              <p:nvPr/>
            </p:nvSpPr>
            <p:spPr>
              <a:xfrm>
                <a:off x="2552700" y="1571625"/>
                <a:ext cx="91821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基本情報</a:t>
                </a:r>
              </a:p>
            </p:txBody>
          </p:sp>
        </p:grpSp>
        <p:grpSp>
          <p:nvGrpSpPr>
            <p:cNvPr id="57" name="テキスト入力：氏名"/>
            <p:cNvGrpSpPr/>
            <p:nvPr/>
          </p:nvGrpSpPr>
          <p:grpSpPr>
            <a:xfrm>
              <a:off x="2628900" y="2057400"/>
              <a:ext cx="4305300" cy="381000"/>
              <a:chOff x="2628900" y="2057400"/>
              <a:chExt cx="4305300" cy="381000"/>
            </a:xfrm>
          </p:grpSpPr>
          <p:sp>
            <p:nvSpPr>
              <p:cNvPr id="52" name="テキスト"/>
              <p:cNvSpPr txBox="1"/>
              <p:nvPr/>
            </p:nvSpPr>
            <p:spPr>
              <a:xfrm>
                <a:off x="2628900" y="2057400"/>
                <a:ext cx="914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氏名</a:t>
                </a:r>
              </a:p>
            </p:txBody>
          </p:sp>
          <p:sp>
            <p:nvSpPr>
              <p:cNvPr id="53" name="四角形"/>
              <p:cNvSpPr/>
              <p:nvPr/>
            </p:nvSpPr>
            <p:spPr>
              <a:xfrm>
                <a:off x="3619500" y="2162175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54" name="テキスト"/>
              <p:cNvSpPr txBox="1"/>
              <p:nvPr/>
            </p:nvSpPr>
            <p:spPr>
              <a:xfrm>
                <a:off x="3619500" y="2162175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55" name="四角形"/>
              <p:cNvSpPr/>
              <p:nvPr/>
            </p:nvSpPr>
            <p:spPr>
              <a:xfrm>
                <a:off x="4038600" y="2057400"/>
                <a:ext cx="2895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6" name="テキスト"/>
              <p:cNvSpPr txBox="1"/>
              <p:nvPr/>
            </p:nvSpPr>
            <p:spPr>
              <a:xfrm>
                <a:off x="4152900" y="2057400"/>
                <a:ext cx="2667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例）山田 太郎</a:t>
                </a:r>
              </a:p>
            </p:txBody>
          </p:sp>
        </p:grpSp>
        <p:grpSp>
          <p:nvGrpSpPr>
            <p:cNvPr id="63" name="テキスト入力：氏名（カナ）"/>
            <p:cNvGrpSpPr/>
            <p:nvPr/>
          </p:nvGrpSpPr>
          <p:grpSpPr>
            <a:xfrm>
              <a:off x="7200900" y="2057400"/>
              <a:ext cx="4457700" cy="381000"/>
              <a:chOff x="7200900" y="2057400"/>
              <a:chExt cx="4457700" cy="381000"/>
            </a:xfrm>
          </p:grpSpPr>
          <p:sp>
            <p:nvSpPr>
              <p:cNvPr id="58" name="テキスト"/>
              <p:cNvSpPr txBox="1"/>
              <p:nvPr/>
            </p:nvSpPr>
            <p:spPr>
              <a:xfrm>
                <a:off x="7200900" y="2057400"/>
                <a:ext cx="914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氏名（カナ）</a:t>
                </a:r>
              </a:p>
            </p:txBody>
          </p:sp>
          <p:sp>
            <p:nvSpPr>
              <p:cNvPr id="59" name="四角形"/>
              <p:cNvSpPr/>
              <p:nvPr/>
            </p:nvSpPr>
            <p:spPr>
              <a:xfrm>
                <a:off x="8191500" y="2162175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60" name="テキスト"/>
              <p:cNvSpPr txBox="1"/>
              <p:nvPr/>
            </p:nvSpPr>
            <p:spPr>
              <a:xfrm>
                <a:off x="8191500" y="2162175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61" name="四角形"/>
              <p:cNvSpPr/>
              <p:nvPr/>
            </p:nvSpPr>
            <p:spPr>
              <a:xfrm>
                <a:off x="8610600" y="2057400"/>
                <a:ext cx="3048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2" name="テキスト"/>
              <p:cNvSpPr txBox="1"/>
              <p:nvPr/>
            </p:nvSpPr>
            <p:spPr>
              <a:xfrm>
                <a:off x="8724900" y="2057400"/>
                <a:ext cx="2819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例）ヤマダ タロウ</a:t>
                </a:r>
              </a:p>
            </p:txBody>
          </p:sp>
        </p:grpSp>
        <p:grpSp>
          <p:nvGrpSpPr>
            <p:cNvPr id="71" name="日付入力：生年月日"/>
            <p:cNvGrpSpPr/>
            <p:nvPr/>
          </p:nvGrpSpPr>
          <p:grpSpPr>
            <a:xfrm>
              <a:off x="2628900" y="2552700"/>
              <a:ext cx="3238500" cy="381000"/>
              <a:chOff x="2628900" y="2552700"/>
              <a:chExt cx="3238500" cy="381000"/>
            </a:xfrm>
          </p:grpSpPr>
          <p:sp>
            <p:nvSpPr>
              <p:cNvPr id="64" name="テキスト"/>
              <p:cNvSpPr txBox="1"/>
              <p:nvPr/>
            </p:nvSpPr>
            <p:spPr>
              <a:xfrm>
                <a:off x="2628900" y="25527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生年月日</a:t>
                </a:r>
              </a:p>
            </p:txBody>
          </p:sp>
          <p:sp>
            <p:nvSpPr>
              <p:cNvPr id="65" name="四角形"/>
              <p:cNvSpPr/>
              <p:nvPr/>
            </p:nvSpPr>
            <p:spPr>
              <a:xfrm>
                <a:off x="4038600" y="2552700"/>
                <a:ext cx="18288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6" name="テキスト"/>
              <p:cNvSpPr txBox="1"/>
              <p:nvPr/>
            </p:nvSpPr>
            <p:spPr>
              <a:xfrm>
                <a:off x="4152900" y="2552700"/>
                <a:ext cx="13716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YYYY/MM/DD</a:t>
                </a:r>
              </a:p>
            </p:txBody>
          </p:sp>
          <p:sp>
            <p:nvSpPr>
              <p:cNvPr id="67" name="四角形"/>
              <p:cNvSpPr/>
              <p:nvPr/>
            </p:nvSpPr>
            <p:spPr>
              <a:xfrm>
                <a:off x="5562600" y="2667000"/>
                <a:ext cx="171450" cy="161925"/>
              </a:xfrm>
              <a:prstGeom prst="roundRect">
                <a:avLst>
                  <a:gd name="adj" fmla="val 11765"/>
                </a:avLst>
              </a:prstGeom>
              <a:noFill/>
              <a:ln w="12383">
                <a:solidFill>
                  <a:srgbClr val="64748B"/>
                </a:solidFill>
              </a:ln>
            </p:spPr>
          </p:sp>
          <p:cxnSp>
            <p:nvCxnSpPr>
              <p:cNvPr id="68" name="線"/>
              <p:cNvCxnSpPr/>
              <p:nvPr/>
            </p:nvCxnSpPr>
            <p:spPr>
              <a:xfrm>
                <a:off x="5562600" y="2714625"/>
                <a:ext cx="171450" cy="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69" name="線"/>
              <p:cNvCxnSpPr/>
              <p:nvPr/>
            </p:nvCxnSpPr>
            <p:spPr>
              <a:xfrm>
                <a:off x="5610225" y="26479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70" name="線"/>
              <p:cNvCxnSpPr/>
              <p:nvPr/>
            </p:nvCxnSpPr>
            <p:spPr>
              <a:xfrm>
                <a:off x="5686425" y="26479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</p:grpSp>
        <p:sp>
          <p:nvSpPr>
            <p:cNvPr id="72" name="テキスト"/>
            <p:cNvSpPr txBox="1"/>
            <p:nvPr/>
          </p:nvSpPr>
          <p:spPr>
            <a:xfrm>
              <a:off x="7200900" y="2590800"/>
              <a:ext cx="14097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1F2937"/>
                  </a:solidFill>
                  <a:latin typeface="Meiryo UI"/>
                  <a:ea typeface="Meiryo UI"/>
                </a:rPr>
                <a:t>性別</a:t>
              </a:r>
            </a:p>
          </p:txBody>
        </p:sp>
        <p:grpSp>
          <p:nvGrpSpPr>
            <p:cNvPr id="79" name="ラジオボタン"/>
            <p:cNvGrpSpPr/>
            <p:nvPr/>
          </p:nvGrpSpPr>
          <p:grpSpPr>
            <a:xfrm>
              <a:off x="8610600" y="2590800"/>
              <a:ext cx="3238500" cy="304800"/>
              <a:chOff x="8610600" y="2590800"/>
              <a:chExt cx="3238500" cy="304800"/>
            </a:xfrm>
          </p:grpSpPr>
          <p:sp>
            <p:nvSpPr>
              <p:cNvPr id="73" name="円"/>
              <p:cNvSpPr/>
              <p:nvPr/>
            </p:nvSpPr>
            <p:spPr>
              <a:xfrm>
                <a:off x="8610600" y="26574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 w="14288">
                <a:solidFill>
                  <a:srgbClr val="94A3B8"/>
                </a:solidFill>
              </a:ln>
            </p:spPr>
          </p:sp>
          <p:sp>
            <p:nvSpPr>
              <p:cNvPr id="74" name="テキスト"/>
              <p:cNvSpPr txBox="1"/>
              <p:nvPr/>
            </p:nvSpPr>
            <p:spPr>
              <a:xfrm>
                <a:off x="8858250" y="2628900"/>
                <a:ext cx="30480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男性</a:t>
                </a:r>
              </a:p>
            </p:txBody>
          </p:sp>
          <p:sp>
            <p:nvSpPr>
              <p:cNvPr id="75" name="円"/>
              <p:cNvSpPr/>
              <p:nvPr/>
            </p:nvSpPr>
            <p:spPr>
              <a:xfrm>
                <a:off x="9391650" y="26574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 w="14288">
                <a:solidFill>
                  <a:srgbClr val="94A3B8"/>
                </a:solidFill>
              </a:ln>
            </p:spPr>
          </p:sp>
          <p:sp>
            <p:nvSpPr>
              <p:cNvPr id="76" name="テキスト"/>
              <p:cNvSpPr txBox="1"/>
              <p:nvPr/>
            </p:nvSpPr>
            <p:spPr>
              <a:xfrm>
                <a:off x="9639300" y="2628900"/>
                <a:ext cx="30480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女性</a:t>
                </a:r>
              </a:p>
            </p:txBody>
          </p:sp>
          <p:sp>
            <p:nvSpPr>
              <p:cNvPr id="77" name="円"/>
              <p:cNvSpPr/>
              <p:nvPr/>
            </p:nvSpPr>
            <p:spPr>
              <a:xfrm>
                <a:off x="10172700" y="26574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 w="14288">
                <a:solidFill>
                  <a:srgbClr val="94A3B8"/>
                </a:solidFill>
              </a:ln>
            </p:spPr>
          </p:sp>
          <p:sp>
            <p:nvSpPr>
              <p:cNvPr id="78" name="テキスト"/>
              <p:cNvSpPr txBox="1"/>
              <p:nvPr/>
            </p:nvSpPr>
            <p:spPr>
              <a:xfrm>
                <a:off x="10420350" y="2628900"/>
                <a:ext cx="714226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回答しない</a:t>
                </a:r>
              </a:p>
            </p:txBody>
          </p:sp>
        </p:grpSp>
        <p:grpSp>
          <p:nvGrpSpPr>
            <p:cNvPr id="85" name="テキスト入力：電話番号"/>
            <p:cNvGrpSpPr/>
            <p:nvPr/>
          </p:nvGrpSpPr>
          <p:grpSpPr>
            <a:xfrm>
              <a:off x="2628900" y="3048000"/>
              <a:ext cx="4305300" cy="381000"/>
              <a:chOff x="2628900" y="3048000"/>
              <a:chExt cx="4305300" cy="381000"/>
            </a:xfrm>
          </p:grpSpPr>
          <p:sp>
            <p:nvSpPr>
              <p:cNvPr id="80" name="テキスト"/>
              <p:cNvSpPr txBox="1"/>
              <p:nvPr/>
            </p:nvSpPr>
            <p:spPr>
              <a:xfrm>
                <a:off x="2628900" y="3048000"/>
                <a:ext cx="914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電話番号</a:t>
                </a:r>
              </a:p>
            </p:txBody>
          </p:sp>
          <p:sp>
            <p:nvSpPr>
              <p:cNvPr id="81" name="四角形"/>
              <p:cNvSpPr/>
              <p:nvPr/>
            </p:nvSpPr>
            <p:spPr>
              <a:xfrm>
                <a:off x="3619500" y="3152775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82" name="テキスト"/>
              <p:cNvSpPr txBox="1"/>
              <p:nvPr/>
            </p:nvSpPr>
            <p:spPr>
              <a:xfrm>
                <a:off x="3619500" y="3152775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83" name="四角形"/>
              <p:cNvSpPr/>
              <p:nvPr/>
            </p:nvSpPr>
            <p:spPr>
              <a:xfrm>
                <a:off x="4038600" y="3048000"/>
                <a:ext cx="2895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84" name="テキスト"/>
              <p:cNvSpPr txBox="1"/>
              <p:nvPr/>
            </p:nvSpPr>
            <p:spPr>
              <a:xfrm>
                <a:off x="4152900" y="3048000"/>
                <a:ext cx="2667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例）090-1234-5678</a:t>
                </a:r>
              </a:p>
            </p:txBody>
          </p:sp>
        </p:grpSp>
        <p:grpSp>
          <p:nvGrpSpPr>
            <p:cNvPr id="89" name="テキスト入力：メールアドレス"/>
            <p:cNvGrpSpPr/>
            <p:nvPr/>
          </p:nvGrpSpPr>
          <p:grpSpPr>
            <a:xfrm>
              <a:off x="7200900" y="3048000"/>
              <a:ext cx="4457700" cy="381000"/>
              <a:chOff x="7200900" y="3048000"/>
              <a:chExt cx="4457700" cy="381000"/>
            </a:xfrm>
          </p:grpSpPr>
          <p:sp>
            <p:nvSpPr>
              <p:cNvPr id="86" name="テキスト"/>
              <p:cNvSpPr txBox="1"/>
              <p:nvPr/>
            </p:nvSpPr>
            <p:spPr>
              <a:xfrm>
                <a:off x="7200900" y="30480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メールアドレス</a:t>
                </a:r>
              </a:p>
            </p:txBody>
          </p:sp>
          <p:sp>
            <p:nvSpPr>
              <p:cNvPr id="87" name="四角形"/>
              <p:cNvSpPr/>
              <p:nvPr/>
            </p:nvSpPr>
            <p:spPr>
              <a:xfrm>
                <a:off x="8610600" y="3048000"/>
                <a:ext cx="3048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88" name="テキスト"/>
              <p:cNvSpPr txBox="1"/>
              <p:nvPr/>
            </p:nvSpPr>
            <p:spPr>
              <a:xfrm>
                <a:off x="8724900" y="3048000"/>
                <a:ext cx="2819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例）taro@example.com</a:t>
                </a:r>
              </a:p>
            </p:txBody>
          </p:sp>
        </p:grpSp>
      </p:grpSp>
      <p:grpSp>
        <p:nvGrpSpPr>
          <p:cNvPr id="112" name="グループ"/>
          <p:cNvGrpSpPr/>
          <p:nvPr/>
        </p:nvGrpSpPr>
        <p:grpSpPr>
          <a:xfrm>
            <a:off x="2400300" y="3695700"/>
            <a:ext cx="9486900" cy="2362200"/>
            <a:chOff x="2400300" y="3695700"/>
            <a:chExt cx="9486900" cy="2362200"/>
          </a:xfrm>
        </p:grpSpPr>
        <p:grpSp>
          <p:nvGrpSpPr>
            <p:cNvPr id="96" name="グループ枠：住所・その他"/>
            <p:cNvGrpSpPr/>
            <p:nvPr/>
          </p:nvGrpSpPr>
          <p:grpSpPr>
            <a:xfrm>
              <a:off x="2400300" y="3695700"/>
              <a:ext cx="9486900" cy="2362200"/>
              <a:chOff x="2400300" y="3695700"/>
              <a:chExt cx="9486900" cy="2362200"/>
            </a:xfrm>
          </p:grpSpPr>
          <p:sp>
            <p:nvSpPr>
              <p:cNvPr id="91" name="四角形"/>
              <p:cNvSpPr/>
              <p:nvPr/>
            </p:nvSpPr>
            <p:spPr>
              <a:xfrm>
                <a:off x="2400300" y="3695700"/>
                <a:ext cx="9486900" cy="2362200"/>
              </a:xfrm>
              <a:prstGeom prst="roundRect">
                <a:avLst>
                  <a:gd name="adj" fmla="val 2419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92" name="四角形"/>
              <p:cNvSpPr/>
              <p:nvPr/>
            </p:nvSpPr>
            <p:spPr>
              <a:xfrm>
                <a:off x="2409825" y="3705225"/>
                <a:ext cx="94678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93" name="四角形"/>
              <p:cNvSpPr/>
              <p:nvPr/>
            </p:nvSpPr>
            <p:spPr>
              <a:xfrm>
                <a:off x="2409825" y="3886200"/>
                <a:ext cx="94678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94" name="線"/>
              <p:cNvCxnSpPr/>
              <p:nvPr/>
            </p:nvCxnSpPr>
            <p:spPr>
              <a:xfrm>
                <a:off x="2400300" y="4086225"/>
                <a:ext cx="94869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95" name="テキスト"/>
              <p:cNvSpPr txBox="1"/>
              <p:nvPr/>
            </p:nvSpPr>
            <p:spPr>
              <a:xfrm>
                <a:off x="2552700" y="3705225"/>
                <a:ext cx="91821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住所・その他</a:t>
                </a:r>
              </a:p>
            </p:txBody>
          </p:sp>
        </p:grpSp>
        <p:grpSp>
          <p:nvGrpSpPr>
            <p:cNvPr id="100" name="テキスト入力：郵便番号"/>
            <p:cNvGrpSpPr/>
            <p:nvPr/>
          </p:nvGrpSpPr>
          <p:grpSpPr>
            <a:xfrm>
              <a:off x="2628900" y="4191000"/>
              <a:ext cx="2857500" cy="381000"/>
              <a:chOff x="2628900" y="4191000"/>
              <a:chExt cx="2857500" cy="381000"/>
            </a:xfrm>
          </p:grpSpPr>
          <p:sp>
            <p:nvSpPr>
              <p:cNvPr id="97" name="テキスト"/>
              <p:cNvSpPr txBox="1"/>
              <p:nvPr/>
            </p:nvSpPr>
            <p:spPr>
              <a:xfrm>
                <a:off x="2628900" y="41910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郵便番号</a:t>
                </a:r>
              </a:p>
            </p:txBody>
          </p:sp>
          <p:sp>
            <p:nvSpPr>
              <p:cNvPr id="98" name="四角形"/>
              <p:cNvSpPr/>
              <p:nvPr/>
            </p:nvSpPr>
            <p:spPr>
              <a:xfrm>
                <a:off x="4038600" y="4191000"/>
                <a:ext cx="14478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99" name="テキスト"/>
              <p:cNvSpPr txBox="1"/>
              <p:nvPr/>
            </p:nvSpPr>
            <p:spPr>
              <a:xfrm>
                <a:off x="4152900" y="4191000"/>
                <a:ext cx="12192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例）100-0005</a:t>
                </a:r>
              </a:p>
            </p:txBody>
          </p:sp>
        </p:grpSp>
        <p:grpSp>
          <p:nvGrpSpPr>
            <p:cNvPr id="103" name="ボタン：住所を検索"/>
            <p:cNvGrpSpPr/>
            <p:nvPr/>
          </p:nvGrpSpPr>
          <p:grpSpPr>
            <a:xfrm>
              <a:off x="5600700" y="4191000"/>
              <a:ext cx="1028700" cy="381000"/>
              <a:chOff x="5600700" y="4191000"/>
              <a:chExt cx="1028700" cy="381000"/>
            </a:xfrm>
          </p:grpSpPr>
          <p:sp>
            <p:nvSpPr>
              <p:cNvPr id="101" name="四角形"/>
              <p:cNvSpPr/>
              <p:nvPr/>
            </p:nvSpPr>
            <p:spPr>
              <a:xfrm>
                <a:off x="5600700" y="4191000"/>
                <a:ext cx="10287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102" name="テキスト"/>
              <p:cNvSpPr txBox="1"/>
              <p:nvPr/>
            </p:nvSpPr>
            <p:spPr>
              <a:xfrm>
                <a:off x="5600700" y="4191000"/>
                <a:ext cx="10287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住所を検索</a:t>
                </a:r>
              </a:p>
            </p:txBody>
          </p:sp>
        </p:grpSp>
        <p:grpSp>
          <p:nvGrpSpPr>
            <p:cNvPr id="107" name="テキスト入力：住所"/>
            <p:cNvGrpSpPr/>
            <p:nvPr/>
          </p:nvGrpSpPr>
          <p:grpSpPr>
            <a:xfrm>
              <a:off x="2628900" y="4686300"/>
              <a:ext cx="9029700" cy="381000"/>
              <a:chOff x="2628900" y="4686300"/>
              <a:chExt cx="9029700" cy="381000"/>
            </a:xfrm>
          </p:grpSpPr>
          <p:sp>
            <p:nvSpPr>
              <p:cNvPr id="104" name="テキスト"/>
              <p:cNvSpPr txBox="1"/>
              <p:nvPr/>
            </p:nvSpPr>
            <p:spPr>
              <a:xfrm>
                <a:off x="2628900" y="46863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住所</a:t>
                </a:r>
              </a:p>
            </p:txBody>
          </p:sp>
          <p:sp>
            <p:nvSpPr>
              <p:cNvPr id="105" name="四角形"/>
              <p:cNvSpPr/>
              <p:nvPr/>
            </p:nvSpPr>
            <p:spPr>
              <a:xfrm>
                <a:off x="4038600" y="4686300"/>
                <a:ext cx="7620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106" name="テキスト"/>
              <p:cNvSpPr txBox="1"/>
              <p:nvPr/>
            </p:nvSpPr>
            <p:spPr>
              <a:xfrm>
                <a:off x="4152900" y="4686300"/>
                <a:ext cx="7391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都道府県・市区町村・番地・建物名</a:t>
                </a:r>
              </a:p>
            </p:txBody>
          </p:sp>
        </p:grpSp>
        <p:grpSp>
          <p:nvGrpSpPr>
            <p:cNvPr id="111" name="テキストエリア：備考"/>
            <p:cNvGrpSpPr/>
            <p:nvPr/>
          </p:nvGrpSpPr>
          <p:grpSpPr>
            <a:xfrm>
              <a:off x="2628900" y="5181600"/>
              <a:ext cx="9029700" cy="685800"/>
              <a:chOff x="2628900" y="5181600"/>
              <a:chExt cx="9029700" cy="685800"/>
            </a:xfrm>
          </p:grpSpPr>
          <p:sp>
            <p:nvSpPr>
              <p:cNvPr id="108" name="テキスト"/>
              <p:cNvSpPr txBox="1"/>
              <p:nvPr/>
            </p:nvSpPr>
            <p:spPr>
              <a:xfrm>
                <a:off x="2628900" y="5181600"/>
                <a:ext cx="1295400" cy="3619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備考</a:t>
                </a:r>
              </a:p>
            </p:txBody>
          </p:sp>
          <p:sp>
            <p:nvSpPr>
              <p:cNvPr id="109" name="四角形"/>
              <p:cNvSpPr/>
              <p:nvPr/>
            </p:nvSpPr>
            <p:spPr>
              <a:xfrm>
                <a:off x="4038600" y="5181600"/>
                <a:ext cx="7620000" cy="685800"/>
              </a:xfrm>
              <a:prstGeom prst="roundRect">
                <a:avLst>
                  <a:gd name="adj" fmla="val 5556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110" name="テキスト"/>
              <p:cNvSpPr txBox="1"/>
              <p:nvPr/>
            </p:nvSpPr>
            <p:spPr>
              <a:xfrm>
                <a:off x="4152900" y="5276850"/>
                <a:ext cx="7391400" cy="49530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自由に入力できます（500文字まで）</a:t>
                </a:r>
              </a:p>
            </p:txBody>
          </p:sp>
        </p:grpSp>
      </p:grpSp>
      <p:grpSp>
        <p:nvGrpSpPr>
          <p:cNvPr id="115" name="ボタン：キャンセル"/>
          <p:cNvGrpSpPr/>
          <p:nvPr/>
        </p:nvGrpSpPr>
        <p:grpSpPr>
          <a:xfrm>
            <a:off x="2400300" y="6248400"/>
            <a:ext cx="1143000" cy="381000"/>
            <a:chOff x="2400300" y="6248400"/>
            <a:chExt cx="1143000" cy="381000"/>
          </a:xfrm>
        </p:grpSpPr>
        <p:sp>
          <p:nvSpPr>
            <p:cNvPr id="113" name="四角形"/>
            <p:cNvSpPr/>
            <p:nvPr/>
          </p:nvSpPr>
          <p:spPr>
            <a:xfrm>
              <a:off x="2400300" y="62484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4" name="テキスト"/>
            <p:cNvSpPr txBox="1"/>
            <p:nvPr/>
          </p:nvSpPr>
          <p:spPr>
            <a:xfrm>
              <a:off x="2400300" y="6248400"/>
              <a:ext cx="1143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キャンセル</a:t>
              </a:r>
            </a:p>
          </p:txBody>
        </p:sp>
      </p:grpSp>
      <p:grpSp>
        <p:nvGrpSpPr>
          <p:cNvPr id="118" name="ボタン：確認へ進む"/>
          <p:cNvGrpSpPr/>
          <p:nvPr/>
        </p:nvGrpSpPr>
        <p:grpSpPr>
          <a:xfrm>
            <a:off x="10515600" y="6248400"/>
            <a:ext cx="1371600" cy="381000"/>
            <a:chOff x="10515600" y="6248400"/>
            <a:chExt cx="1371600" cy="381000"/>
          </a:xfrm>
        </p:grpSpPr>
        <p:sp>
          <p:nvSpPr>
            <p:cNvPr id="116" name="四角形"/>
            <p:cNvSpPr/>
            <p:nvPr/>
          </p:nvSpPr>
          <p:spPr>
            <a:xfrm>
              <a:off x="10515600" y="6248400"/>
              <a:ext cx="1371600" cy="381000"/>
            </a:xfrm>
            <a:prstGeom prst="roundRect">
              <a:avLst>
                <a:gd name="adj" fmla="val 15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117" name="テキスト"/>
            <p:cNvSpPr txBox="1"/>
            <p:nvPr/>
          </p:nvSpPr>
          <p:spPr>
            <a:xfrm>
              <a:off x="10515600" y="624840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確認へ進む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登録確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四角形"/>
              <p:cNvSpPr/>
              <p:nvPr/>
            </p:nvSpPr>
            <p:spPr>
              <a:xfrm>
                <a:off x="76200" y="10668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4" name="四角形"/>
              <p:cNvSpPr/>
              <p:nvPr/>
            </p:nvSpPr>
            <p:spPr>
              <a:xfrm>
                <a:off x="76200" y="11430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5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6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29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cxnSp>
            <p:nvCxnSpPr>
              <p:cNvPr id="26" name="線"/>
              <p:cNvCxnSpPr/>
              <p:nvPr/>
            </p:nvCxnSpPr>
            <p:spPr>
              <a:xfrm>
                <a:off x="361577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7" name="線"/>
              <p:cNvCxnSpPr/>
              <p:nvPr/>
            </p:nvCxnSpPr>
            <p:spPr>
              <a:xfrm flipH="1">
                <a:off x="361577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8" name="テキスト"/>
              <p:cNvSpPr txBox="1"/>
              <p:nvPr/>
            </p:nvSpPr>
            <p:spPr>
              <a:xfrm>
                <a:off x="376817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顧客登録</a:t>
                </a:r>
              </a:p>
            </p:txBody>
          </p:sp>
        </p:grpSp>
      </p:grpSp>
      <p:grpSp>
        <p:nvGrpSpPr>
          <p:cNvPr id="33" name="見出し：顧客登録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31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2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顧客登録</a:t>
              </a:r>
            </a:p>
          </p:txBody>
        </p:sp>
      </p:grpSp>
      <p:grpSp>
        <p:nvGrpSpPr>
          <p:cNvPr id="45" name="ステップ表示"/>
          <p:cNvGrpSpPr/>
          <p:nvPr/>
        </p:nvGrpSpPr>
        <p:grpSpPr>
          <a:xfrm>
            <a:off x="7315200" y="914400"/>
            <a:ext cx="4572000" cy="533400"/>
            <a:chOff x="7315200" y="914400"/>
            <a:chExt cx="4572000" cy="533400"/>
          </a:xfrm>
        </p:grpSpPr>
        <p:sp>
          <p:nvSpPr>
            <p:cNvPr id="34" name="円"/>
            <p:cNvSpPr/>
            <p:nvPr/>
          </p:nvSpPr>
          <p:spPr>
            <a:xfrm>
              <a:off x="7943850" y="914400"/>
              <a:ext cx="266700" cy="266700"/>
            </a:xfrm>
            <a:prstGeom prst="ellipse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5" name="テキスト"/>
            <p:cNvSpPr txBox="1"/>
            <p:nvPr/>
          </p:nvSpPr>
          <p:spPr>
            <a:xfrm>
              <a:off x="7943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1</a:t>
              </a:r>
            </a:p>
          </p:txBody>
        </p:sp>
        <p:sp>
          <p:nvSpPr>
            <p:cNvPr id="36" name="テキスト"/>
            <p:cNvSpPr txBox="1"/>
            <p:nvPr/>
          </p:nvSpPr>
          <p:spPr>
            <a:xfrm>
              <a:off x="7315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入力</a:t>
              </a:r>
            </a:p>
          </p:txBody>
        </p:sp>
        <p:cxnSp>
          <p:nvCxnSpPr>
            <p:cNvPr id="37" name="線"/>
            <p:cNvCxnSpPr/>
            <p:nvPr/>
          </p:nvCxnSpPr>
          <p:spPr>
            <a:xfrm>
              <a:off x="8229600" y="1047750"/>
              <a:ext cx="1219200" cy="0"/>
            </a:xfrm>
            <a:prstGeom prst="line">
              <a:avLst/>
            </a:prstGeom>
            <a:ln w="19050">
              <a:solidFill>
                <a:srgbClr val="CBD5E1"/>
              </a:solidFill>
            </a:ln>
          </p:spPr>
        </p:cxnSp>
        <p:sp>
          <p:nvSpPr>
            <p:cNvPr id="38" name="円"/>
            <p:cNvSpPr/>
            <p:nvPr/>
          </p:nvSpPr>
          <p:spPr>
            <a:xfrm>
              <a:off x="9467850" y="914400"/>
              <a:ext cx="266700" cy="266700"/>
            </a:xfrm>
            <a:prstGeom prst="ellipse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9" name="テキスト"/>
            <p:cNvSpPr txBox="1"/>
            <p:nvPr/>
          </p:nvSpPr>
          <p:spPr>
            <a:xfrm>
              <a:off x="9467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2</a:t>
              </a:r>
            </a:p>
          </p:txBody>
        </p:sp>
        <p:sp>
          <p:nvSpPr>
            <p:cNvPr id="40" name="テキスト"/>
            <p:cNvSpPr txBox="1"/>
            <p:nvPr/>
          </p:nvSpPr>
          <p:spPr>
            <a:xfrm>
              <a:off x="8839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確認</a:t>
              </a:r>
            </a:p>
          </p:txBody>
        </p:sp>
        <p:cxnSp>
          <p:nvCxnSpPr>
            <p:cNvPr id="41" name="線"/>
            <p:cNvCxnSpPr/>
            <p:nvPr/>
          </p:nvCxnSpPr>
          <p:spPr>
            <a:xfrm>
              <a:off x="9753600" y="1047750"/>
              <a:ext cx="1219200" cy="0"/>
            </a:xfrm>
            <a:prstGeom prst="line">
              <a:avLst/>
            </a:prstGeom>
            <a:ln w="19050">
              <a:solidFill>
                <a:srgbClr val="CBD5E1"/>
              </a:solidFill>
            </a:ln>
          </p:spPr>
        </p:cxnSp>
        <p:sp>
          <p:nvSpPr>
            <p:cNvPr id="42" name="円"/>
            <p:cNvSpPr/>
            <p:nvPr/>
          </p:nvSpPr>
          <p:spPr>
            <a:xfrm>
              <a:off x="10991850" y="914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3" name="テキスト"/>
            <p:cNvSpPr txBox="1"/>
            <p:nvPr/>
          </p:nvSpPr>
          <p:spPr>
            <a:xfrm>
              <a:off x="10991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64748B"/>
                  </a:solidFill>
                  <a:latin typeface="Meiryo UI"/>
                  <a:ea typeface="Meiryo UI"/>
                </a:rPr>
                <a:t>3</a:t>
              </a:r>
            </a:p>
          </p:txBody>
        </p:sp>
        <p:sp>
          <p:nvSpPr>
            <p:cNvPr id="44" name="テキスト"/>
            <p:cNvSpPr txBox="1"/>
            <p:nvPr/>
          </p:nvSpPr>
          <p:spPr>
            <a:xfrm>
              <a:off x="10363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完了</a:t>
              </a:r>
            </a:p>
          </p:txBody>
        </p:sp>
      </p:grpSp>
      <p:grpSp>
        <p:nvGrpSpPr>
          <p:cNvPr id="50" name="メッセージ：入力内容を確認し、よろしければ「登録する」を押してください。"/>
          <p:cNvGrpSpPr/>
          <p:nvPr/>
        </p:nvGrpSpPr>
        <p:grpSpPr>
          <a:xfrm>
            <a:off x="2400300" y="1562100"/>
            <a:ext cx="9486900" cy="419100"/>
            <a:chOff x="2400300" y="1562100"/>
            <a:chExt cx="9486900" cy="419100"/>
          </a:xfrm>
        </p:grpSpPr>
        <p:sp>
          <p:nvSpPr>
            <p:cNvPr id="46" name="四角形"/>
            <p:cNvSpPr/>
            <p:nvPr/>
          </p:nvSpPr>
          <p:spPr>
            <a:xfrm>
              <a:off x="2400300" y="1562100"/>
              <a:ext cx="9486900" cy="419100"/>
            </a:xfrm>
            <a:prstGeom prst="roundRect">
              <a:avLst>
                <a:gd name="adj" fmla="val 13636"/>
              </a:avLst>
            </a:prstGeom>
            <a:solidFill>
              <a:srgbClr val="DBEAFE"/>
            </a:solidFill>
            <a:ln w="9525">
              <a:solidFill>
                <a:srgbClr val="93C5FD"/>
              </a:solidFill>
            </a:ln>
          </p:spPr>
        </p:sp>
        <p:sp>
          <p:nvSpPr>
            <p:cNvPr id="47" name="円"/>
            <p:cNvSpPr/>
            <p:nvPr/>
          </p:nvSpPr>
          <p:spPr>
            <a:xfrm>
              <a:off x="2533650" y="1676400"/>
              <a:ext cx="190500" cy="1905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48" name="テキスト"/>
            <p:cNvSpPr txBox="1"/>
            <p:nvPr/>
          </p:nvSpPr>
          <p:spPr>
            <a:xfrm>
              <a:off x="2533650" y="1676400"/>
              <a:ext cx="190500" cy="1905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i</a:t>
              </a:r>
            </a:p>
          </p:txBody>
        </p:sp>
        <p:sp>
          <p:nvSpPr>
            <p:cNvPr id="49" name="テキスト"/>
            <p:cNvSpPr txBox="1"/>
            <p:nvPr/>
          </p:nvSpPr>
          <p:spPr>
            <a:xfrm>
              <a:off x="2838450" y="1562100"/>
              <a:ext cx="8915400" cy="4191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D4ED8"/>
                  </a:solidFill>
                  <a:latin typeface="Meiryo UI"/>
                  <a:ea typeface="Meiryo UI"/>
                </a:rPr>
                <a:t>入力内容を確認し、よろしければ「登録する」を押してください。</a:t>
              </a:r>
            </a:p>
          </p:txBody>
        </p:sp>
      </p:grpSp>
      <p:grpSp>
        <p:nvGrpSpPr>
          <p:cNvPr id="83" name="グループ"/>
          <p:cNvGrpSpPr/>
          <p:nvPr/>
        </p:nvGrpSpPr>
        <p:grpSpPr>
          <a:xfrm>
            <a:off x="2400300" y="2133600"/>
            <a:ext cx="9486900" cy="3657600"/>
            <a:chOff x="2400300" y="2133600"/>
            <a:chExt cx="9486900" cy="3657600"/>
          </a:xfrm>
        </p:grpSpPr>
        <p:grpSp>
          <p:nvGrpSpPr>
            <p:cNvPr id="56" name="グループ枠：入力内容の確認"/>
            <p:cNvGrpSpPr/>
            <p:nvPr/>
          </p:nvGrpSpPr>
          <p:grpSpPr>
            <a:xfrm>
              <a:off x="2400300" y="2133600"/>
              <a:ext cx="9486900" cy="3657600"/>
              <a:chOff x="2400300" y="2133600"/>
              <a:chExt cx="9486900" cy="3657600"/>
            </a:xfrm>
          </p:grpSpPr>
          <p:sp>
            <p:nvSpPr>
              <p:cNvPr id="51" name="四角形"/>
              <p:cNvSpPr/>
              <p:nvPr/>
            </p:nvSpPr>
            <p:spPr>
              <a:xfrm>
                <a:off x="2400300" y="2133600"/>
                <a:ext cx="9486900" cy="3657600"/>
              </a:xfrm>
              <a:prstGeom prst="roundRect">
                <a:avLst>
                  <a:gd name="adj" fmla="val 156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2" name="四角形"/>
              <p:cNvSpPr/>
              <p:nvPr/>
            </p:nvSpPr>
            <p:spPr>
              <a:xfrm>
                <a:off x="2409825" y="2143125"/>
                <a:ext cx="94678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53" name="四角形"/>
              <p:cNvSpPr/>
              <p:nvPr/>
            </p:nvSpPr>
            <p:spPr>
              <a:xfrm>
                <a:off x="2409825" y="2324100"/>
                <a:ext cx="94678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54" name="線"/>
              <p:cNvCxnSpPr/>
              <p:nvPr/>
            </p:nvCxnSpPr>
            <p:spPr>
              <a:xfrm>
                <a:off x="2400300" y="2524125"/>
                <a:ext cx="94869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55" name="テキスト"/>
              <p:cNvSpPr txBox="1"/>
              <p:nvPr/>
            </p:nvSpPr>
            <p:spPr>
              <a:xfrm>
                <a:off x="2552700" y="2143125"/>
                <a:ext cx="91821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入力内容の確認</a:t>
                </a:r>
              </a:p>
            </p:txBody>
          </p:sp>
        </p:grpSp>
        <p:sp>
          <p:nvSpPr>
            <p:cNvPr id="57" name="テキスト"/>
            <p:cNvSpPr txBox="1"/>
            <p:nvPr/>
          </p:nvSpPr>
          <p:spPr>
            <a:xfrm>
              <a:off x="2628900" y="2571750"/>
              <a:ext cx="17145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氏名</a:t>
              </a:r>
            </a:p>
          </p:txBody>
        </p:sp>
        <p:sp>
          <p:nvSpPr>
            <p:cNvPr id="58" name="テキスト"/>
            <p:cNvSpPr txBox="1"/>
            <p:nvPr/>
          </p:nvSpPr>
          <p:spPr>
            <a:xfrm>
              <a:off x="4343400" y="2571750"/>
              <a:ext cx="7315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山田 太郎</a:t>
              </a:r>
            </a:p>
          </p:txBody>
        </p:sp>
        <p:cxnSp>
          <p:nvCxnSpPr>
            <p:cNvPr id="59" name="線"/>
            <p:cNvCxnSpPr/>
            <p:nvPr/>
          </p:nvCxnSpPr>
          <p:spPr>
            <a:xfrm>
              <a:off x="2628900" y="2914650"/>
              <a:ext cx="9029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60" name="テキスト"/>
            <p:cNvSpPr txBox="1"/>
            <p:nvPr/>
          </p:nvSpPr>
          <p:spPr>
            <a:xfrm>
              <a:off x="2628900" y="2914650"/>
              <a:ext cx="17145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氏名（カナ）</a:t>
              </a:r>
            </a:p>
          </p:txBody>
        </p:sp>
        <p:sp>
          <p:nvSpPr>
            <p:cNvPr id="61" name="テキスト"/>
            <p:cNvSpPr txBox="1"/>
            <p:nvPr/>
          </p:nvSpPr>
          <p:spPr>
            <a:xfrm>
              <a:off x="4343400" y="2914650"/>
              <a:ext cx="7315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ヤマダ タロウ</a:t>
              </a:r>
            </a:p>
          </p:txBody>
        </p:sp>
        <p:cxnSp>
          <p:nvCxnSpPr>
            <p:cNvPr id="62" name="線"/>
            <p:cNvCxnSpPr/>
            <p:nvPr/>
          </p:nvCxnSpPr>
          <p:spPr>
            <a:xfrm>
              <a:off x="2628900" y="3257550"/>
              <a:ext cx="9029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63" name="テキスト"/>
            <p:cNvSpPr txBox="1"/>
            <p:nvPr/>
          </p:nvSpPr>
          <p:spPr>
            <a:xfrm>
              <a:off x="2628900" y="3257550"/>
              <a:ext cx="17145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生年月日</a:t>
              </a:r>
            </a:p>
          </p:txBody>
        </p:sp>
        <p:sp>
          <p:nvSpPr>
            <p:cNvPr id="64" name="テキスト"/>
            <p:cNvSpPr txBox="1"/>
            <p:nvPr/>
          </p:nvSpPr>
          <p:spPr>
            <a:xfrm>
              <a:off x="4343400" y="3257550"/>
              <a:ext cx="7315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1985/04/12</a:t>
              </a:r>
            </a:p>
          </p:txBody>
        </p:sp>
        <p:cxnSp>
          <p:nvCxnSpPr>
            <p:cNvPr id="65" name="線"/>
            <p:cNvCxnSpPr/>
            <p:nvPr/>
          </p:nvCxnSpPr>
          <p:spPr>
            <a:xfrm>
              <a:off x="2628900" y="3600450"/>
              <a:ext cx="9029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66" name="テキスト"/>
            <p:cNvSpPr txBox="1"/>
            <p:nvPr/>
          </p:nvSpPr>
          <p:spPr>
            <a:xfrm>
              <a:off x="2628900" y="3600450"/>
              <a:ext cx="17145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性別</a:t>
              </a:r>
            </a:p>
          </p:txBody>
        </p:sp>
        <p:sp>
          <p:nvSpPr>
            <p:cNvPr id="67" name="テキスト"/>
            <p:cNvSpPr txBox="1"/>
            <p:nvPr/>
          </p:nvSpPr>
          <p:spPr>
            <a:xfrm>
              <a:off x="4343400" y="3600450"/>
              <a:ext cx="7315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男性</a:t>
              </a:r>
            </a:p>
          </p:txBody>
        </p:sp>
        <p:cxnSp>
          <p:nvCxnSpPr>
            <p:cNvPr id="68" name="線"/>
            <p:cNvCxnSpPr/>
            <p:nvPr/>
          </p:nvCxnSpPr>
          <p:spPr>
            <a:xfrm>
              <a:off x="2628900" y="3943350"/>
              <a:ext cx="9029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69" name="テキスト"/>
            <p:cNvSpPr txBox="1"/>
            <p:nvPr/>
          </p:nvSpPr>
          <p:spPr>
            <a:xfrm>
              <a:off x="2628900" y="3943350"/>
              <a:ext cx="17145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電話番号</a:t>
              </a:r>
            </a:p>
          </p:txBody>
        </p:sp>
        <p:sp>
          <p:nvSpPr>
            <p:cNvPr id="70" name="テキスト"/>
            <p:cNvSpPr txBox="1"/>
            <p:nvPr/>
          </p:nvSpPr>
          <p:spPr>
            <a:xfrm>
              <a:off x="4343400" y="3943350"/>
              <a:ext cx="7315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090-1234-5678</a:t>
              </a:r>
            </a:p>
          </p:txBody>
        </p:sp>
        <p:cxnSp>
          <p:nvCxnSpPr>
            <p:cNvPr id="71" name="線"/>
            <p:cNvCxnSpPr/>
            <p:nvPr/>
          </p:nvCxnSpPr>
          <p:spPr>
            <a:xfrm>
              <a:off x="2628900" y="4286250"/>
              <a:ext cx="9029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72" name="テキスト"/>
            <p:cNvSpPr txBox="1"/>
            <p:nvPr/>
          </p:nvSpPr>
          <p:spPr>
            <a:xfrm>
              <a:off x="2628900" y="4286250"/>
              <a:ext cx="17145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メールアドレス</a:t>
              </a:r>
            </a:p>
          </p:txBody>
        </p:sp>
        <p:sp>
          <p:nvSpPr>
            <p:cNvPr id="73" name="テキスト"/>
            <p:cNvSpPr txBox="1"/>
            <p:nvPr/>
          </p:nvSpPr>
          <p:spPr>
            <a:xfrm>
              <a:off x="4343400" y="4286250"/>
              <a:ext cx="7315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taro.yamada@example.com</a:t>
              </a:r>
            </a:p>
          </p:txBody>
        </p:sp>
        <p:cxnSp>
          <p:nvCxnSpPr>
            <p:cNvPr id="74" name="線"/>
            <p:cNvCxnSpPr/>
            <p:nvPr/>
          </p:nvCxnSpPr>
          <p:spPr>
            <a:xfrm>
              <a:off x="2628900" y="4629150"/>
              <a:ext cx="9029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75" name="テキスト"/>
            <p:cNvSpPr txBox="1"/>
            <p:nvPr/>
          </p:nvSpPr>
          <p:spPr>
            <a:xfrm>
              <a:off x="2628900" y="4629150"/>
              <a:ext cx="17145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郵便番号</a:t>
              </a:r>
            </a:p>
          </p:txBody>
        </p:sp>
        <p:sp>
          <p:nvSpPr>
            <p:cNvPr id="76" name="テキスト"/>
            <p:cNvSpPr txBox="1"/>
            <p:nvPr/>
          </p:nvSpPr>
          <p:spPr>
            <a:xfrm>
              <a:off x="4343400" y="4629150"/>
              <a:ext cx="7315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100-0005</a:t>
              </a:r>
            </a:p>
          </p:txBody>
        </p:sp>
        <p:cxnSp>
          <p:nvCxnSpPr>
            <p:cNvPr id="77" name="線"/>
            <p:cNvCxnSpPr/>
            <p:nvPr/>
          </p:nvCxnSpPr>
          <p:spPr>
            <a:xfrm>
              <a:off x="2628900" y="4972050"/>
              <a:ext cx="9029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78" name="テキスト"/>
            <p:cNvSpPr txBox="1"/>
            <p:nvPr/>
          </p:nvSpPr>
          <p:spPr>
            <a:xfrm>
              <a:off x="2628900" y="4972050"/>
              <a:ext cx="17145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住所</a:t>
              </a:r>
            </a:p>
          </p:txBody>
        </p:sp>
        <p:sp>
          <p:nvSpPr>
            <p:cNvPr id="79" name="テキスト"/>
            <p:cNvSpPr txBox="1"/>
            <p:nvPr/>
          </p:nvSpPr>
          <p:spPr>
            <a:xfrm>
              <a:off x="4343400" y="4972050"/>
              <a:ext cx="7315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東京都千代田区丸の内1-1-1</a:t>
              </a:r>
            </a:p>
          </p:txBody>
        </p:sp>
        <p:cxnSp>
          <p:nvCxnSpPr>
            <p:cNvPr id="80" name="線"/>
            <p:cNvCxnSpPr/>
            <p:nvPr/>
          </p:nvCxnSpPr>
          <p:spPr>
            <a:xfrm>
              <a:off x="2628900" y="5314950"/>
              <a:ext cx="9029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81" name="テキスト"/>
            <p:cNvSpPr txBox="1"/>
            <p:nvPr/>
          </p:nvSpPr>
          <p:spPr>
            <a:xfrm>
              <a:off x="2628900" y="5314950"/>
              <a:ext cx="17145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備考</a:t>
              </a:r>
            </a:p>
          </p:txBody>
        </p:sp>
        <p:sp>
          <p:nvSpPr>
            <p:cNvPr id="82" name="テキスト"/>
            <p:cNvSpPr txBox="1"/>
            <p:nvPr/>
          </p:nvSpPr>
          <p:spPr>
            <a:xfrm>
              <a:off x="4343400" y="5314950"/>
              <a:ext cx="73152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（なし）</a:t>
              </a:r>
            </a:p>
          </p:txBody>
        </p:sp>
      </p:grpSp>
      <p:grpSp>
        <p:nvGrpSpPr>
          <p:cNvPr id="86" name="ボタン：入力画面に戻る"/>
          <p:cNvGrpSpPr/>
          <p:nvPr/>
        </p:nvGrpSpPr>
        <p:grpSpPr>
          <a:xfrm>
            <a:off x="2400300" y="6096000"/>
            <a:ext cx="1524000" cy="381000"/>
            <a:chOff x="2400300" y="6096000"/>
            <a:chExt cx="1524000" cy="381000"/>
          </a:xfrm>
        </p:grpSpPr>
        <p:sp>
          <p:nvSpPr>
            <p:cNvPr id="84" name="四角形"/>
            <p:cNvSpPr/>
            <p:nvPr/>
          </p:nvSpPr>
          <p:spPr>
            <a:xfrm>
              <a:off x="2400300" y="6096000"/>
              <a:ext cx="1524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5" name="テキスト"/>
            <p:cNvSpPr txBox="1"/>
            <p:nvPr/>
          </p:nvSpPr>
          <p:spPr>
            <a:xfrm>
              <a:off x="2400300" y="6096000"/>
              <a:ext cx="1524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入力画面に戻る</a:t>
              </a:r>
            </a:p>
          </p:txBody>
        </p:sp>
      </p:grpSp>
      <p:grpSp>
        <p:nvGrpSpPr>
          <p:cNvPr id="89" name="ボタン：登録する"/>
          <p:cNvGrpSpPr/>
          <p:nvPr/>
        </p:nvGrpSpPr>
        <p:grpSpPr>
          <a:xfrm>
            <a:off x="10515600" y="6096000"/>
            <a:ext cx="1371600" cy="381000"/>
            <a:chOff x="10515600" y="6096000"/>
            <a:chExt cx="1371600" cy="381000"/>
          </a:xfrm>
        </p:grpSpPr>
        <p:sp>
          <p:nvSpPr>
            <p:cNvPr id="87" name="四角形"/>
            <p:cNvSpPr/>
            <p:nvPr/>
          </p:nvSpPr>
          <p:spPr>
            <a:xfrm>
              <a:off x="10515600" y="6096000"/>
              <a:ext cx="1371600" cy="381000"/>
            </a:xfrm>
            <a:prstGeom prst="roundRect">
              <a:avLst>
                <a:gd name="adj" fmla="val 15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88" name="テキスト"/>
            <p:cNvSpPr txBox="1"/>
            <p:nvPr/>
          </p:nvSpPr>
          <p:spPr>
            <a:xfrm>
              <a:off x="10515600" y="609600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登録する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登録完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四角形"/>
              <p:cNvSpPr/>
              <p:nvPr/>
            </p:nvSpPr>
            <p:spPr>
              <a:xfrm>
                <a:off x="76200" y="10668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4" name="四角形"/>
              <p:cNvSpPr/>
              <p:nvPr/>
            </p:nvSpPr>
            <p:spPr>
              <a:xfrm>
                <a:off x="76200" y="11430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5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6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29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cxnSp>
            <p:nvCxnSpPr>
              <p:cNvPr id="26" name="線"/>
              <p:cNvCxnSpPr/>
              <p:nvPr/>
            </p:nvCxnSpPr>
            <p:spPr>
              <a:xfrm>
                <a:off x="361577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7" name="線"/>
              <p:cNvCxnSpPr/>
              <p:nvPr/>
            </p:nvCxnSpPr>
            <p:spPr>
              <a:xfrm flipH="1">
                <a:off x="361577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8" name="テキスト"/>
              <p:cNvSpPr txBox="1"/>
              <p:nvPr/>
            </p:nvSpPr>
            <p:spPr>
              <a:xfrm>
                <a:off x="376817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顧客登録</a:t>
                </a:r>
              </a:p>
            </p:txBody>
          </p:sp>
        </p:grpSp>
      </p:grpSp>
      <p:grpSp>
        <p:nvGrpSpPr>
          <p:cNvPr id="33" name="見出し：顧客登録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31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2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顧客登録</a:t>
              </a:r>
            </a:p>
          </p:txBody>
        </p:sp>
      </p:grpSp>
      <p:grpSp>
        <p:nvGrpSpPr>
          <p:cNvPr id="45" name="ステップ表示"/>
          <p:cNvGrpSpPr/>
          <p:nvPr/>
        </p:nvGrpSpPr>
        <p:grpSpPr>
          <a:xfrm>
            <a:off x="7315200" y="914400"/>
            <a:ext cx="4572000" cy="533400"/>
            <a:chOff x="7315200" y="914400"/>
            <a:chExt cx="4572000" cy="533400"/>
          </a:xfrm>
        </p:grpSpPr>
        <p:sp>
          <p:nvSpPr>
            <p:cNvPr id="34" name="円"/>
            <p:cNvSpPr/>
            <p:nvPr/>
          </p:nvSpPr>
          <p:spPr>
            <a:xfrm>
              <a:off x="7943850" y="914400"/>
              <a:ext cx="266700" cy="266700"/>
            </a:xfrm>
            <a:prstGeom prst="ellipse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5" name="テキスト"/>
            <p:cNvSpPr txBox="1"/>
            <p:nvPr/>
          </p:nvSpPr>
          <p:spPr>
            <a:xfrm>
              <a:off x="7943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1</a:t>
              </a:r>
            </a:p>
          </p:txBody>
        </p:sp>
        <p:sp>
          <p:nvSpPr>
            <p:cNvPr id="36" name="テキスト"/>
            <p:cNvSpPr txBox="1"/>
            <p:nvPr/>
          </p:nvSpPr>
          <p:spPr>
            <a:xfrm>
              <a:off x="7315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入力</a:t>
              </a:r>
            </a:p>
          </p:txBody>
        </p:sp>
        <p:cxnSp>
          <p:nvCxnSpPr>
            <p:cNvPr id="37" name="線"/>
            <p:cNvCxnSpPr/>
            <p:nvPr/>
          </p:nvCxnSpPr>
          <p:spPr>
            <a:xfrm>
              <a:off x="8229600" y="1047750"/>
              <a:ext cx="1219200" cy="0"/>
            </a:xfrm>
            <a:prstGeom prst="line">
              <a:avLst/>
            </a:prstGeom>
            <a:ln w="19050">
              <a:solidFill>
                <a:srgbClr val="CBD5E1"/>
              </a:solidFill>
            </a:ln>
          </p:spPr>
        </p:cxnSp>
        <p:sp>
          <p:nvSpPr>
            <p:cNvPr id="38" name="円"/>
            <p:cNvSpPr/>
            <p:nvPr/>
          </p:nvSpPr>
          <p:spPr>
            <a:xfrm>
              <a:off x="9467850" y="914400"/>
              <a:ext cx="266700" cy="266700"/>
            </a:xfrm>
            <a:prstGeom prst="ellipse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9" name="テキスト"/>
            <p:cNvSpPr txBox="1"/>
            <p:nvPr/>
          </p:nvSpPr>
          <p:spPr>
            <a:xfrm>
              <a:off x="9467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2</a:t>
              </a:r>
            </a:p>
          </p:txBody>
        </p:sp>
        <p:sp>
          <p:nvSpPr>
            <p:cNvPr id="40" name="テキスト"/>
            <p:cNvSpPr txBox="1"/>
            <p:nvPr/>
          </p:nvSpPr>
          <p:spPr>
            <a:xfrm>
              <a:off x="8839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確認</a:t>
              </a:r>
            </a:p>
          </p:txBody>
        </p:sp>
        <p:cxnSp>
          <p:nvCxnSpPr>
            <p:cNvPr id="41" name="線"/>
            <p:cNvCxnSpPr/>
            <p:nvPr/>
          </p:nvCxnSpPr>
          <p:spPr>
            <a:xfrm>
              <a:off x="9753600" y="1047750"/>
              <a:ext cx="1219200" cy="0"/>
            </a:xfrm>
            <a:prstGeom prst="line">
              <a:avLst/>
            </a:prstGeom>
            <a:ln w="19050">
              <a:solidFill>
                <a:srgbClr val="CBD5E1"/>
              </a:solidFill>
            </a:ln>
          </p:spPr>
        </p:cxnSp>
        <p:sp>
          <p:nvSpPr>
            <p:cNvPr id="42" name="円"/>
            <p:cNvSpPr/>
            <p:nvPr/>
          </p:nvSpPr>
          <p:spPr>
            <a:xfrm>
              <a:off x="10991850" y="914400"/>
              <a:ext cx="266700" cy="266700"/>
            </a:xfrm>
            <a:prstGeom prst="ellipse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43" name="テキスト"/>
            <p:cNvSpPr txBox="1"/>
            <p:nvPr/>
          </p:nvSpPr>
          <p:spPr>
            <a:xfrm>
              <a:off x="10991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3</a:t>
              </a:r>
            </a:p>
          </p:txBody>
        </p:sp>
        <p:sp>
          <p:nvSpPr>
            <p:cNvPr id="44" name="テキスト"/>
            <p:cNvSpPr txBox="1"/>
            <p:nvPr/>
          </p:nvSpPr>
          <p:spPr>
            <a:xfrm>
              <a:off x="10363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完了</a:t>
              </a:r>
            </a:p>
          </p:txBody>
        </p:sp>
      </p:grpSp>
      <p:grpSp>
        <p:nvGrpSpPr>
          <p:cNvPr id="48" name="番号マーク"/>
          <p:cNvGrpSpPr/>
          <p:nvPr/>
        </p:nvGrpSpPr>
        <p:grpSpPr>
          <a:xfrm>
            <a:off x="6800850" y="2133600"/>
            <a:ext cx="685800" cy="685800"/>
            <a:chOff x="6800850" y="2133600"/>
            <a:chExt cx="685800" cy="685800"/>
          </a:xfrm>
        </p:grpSpPr>
        <p:sp>
          <p:nvSpPr>
            <p:cNvPr id="46" name="円"/>
            <p:cNvSpPr/>
            <p:nvPr/>
          </p:nvSpPr>
          <p:spPr>
            <a:xfrm>
              <a:off x="6800850" y="2133600"/>
              <a:ext cx="685800" cy="6858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47" name="テキスト"/>
            <p:cNvSpPr txBox="1"/>
            <p:nvPr/>
          </p:nvSpPr>
          <p:spPr>
            <a:xfrm>
              <a:off x="6800850" y="2133600"/>
              <a:ext cx="685800" cy="685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3645"/>
                </a:lnSpc>
                <a:buNone/>
              </a:pPr>
              <a:r>
                <a:rPr lang="ja-JP" altLang="en-US" sz="2700" b="1" dirty="0">
                  <a:solidFill>
                    <a:srgbClr val="FFFFFF"/>
                  </a:solidFill>
                  <a:latin typeface="Meiryo UI"/>
                  <a:ea typeface="Meiryo UI"/>
                </a:rPr>
                <a:t>✓</a:t>
              </a:r>
            </a:p>
          </p:txBody>
        </p:sp>
      </p:grpSp>
      <p:sp>
        <p:nvSpPr>
          <p:cNvPr id="49" name="テキスト"/>
          <p:cNvSpPr txBox="1"/>
          <p:nvPr/>
        </p:nvSpPr>
        <p:spPr>
          <a:xfrm>
            <a:off x="2400300" y="3009900"/>
            <a:ext cx="9486900" cy="381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2228"/>
              </a:lnSpc>
              <a:buNone/>
            </a:pPr>
            <a:r>
              <a:rPr lang="ja-JP" altLang="en-US" sz="1650" b="1" dirty="0">
                <a:solidFill>
                  <a:srgbClr val="1F2937"/>
                </a:solidFill>
                <a:latin typeface="Meiryo UI"/>
                <a:ea typeface="Meiryo UI"/>
              </a:rPr>
              <a:t>登録が完了しました</a:t>
            </a:r>
          </a:p>
        </p:txBody>
      </p:sp>
      <p:sp>
        <p:nvSpPr>
          <p:cNvPr id="50" name="テキスト"/>
          <p:cNvSpPr txBox="1"/>
          <p:nvPr/>
        </p:nvSpPr>
        <p:spPr>
          <a:xfrm>
            <a:off x="2400300" y="3429000"/>
            <a:ext cx="9486900" cy="2667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1418"/>
              </a:lnSpc>
              <a:buNone/>
            </a:pPr>
            <a:r>
              <a:rPr lang="ja-JP" altLang="en-US" sz="1050" b="0" dirty="0">
                <a:solidFill>
                  <a:srgbClr val="475569"/>
                </a:solidFill>
                <a:latin typeface="Meiryo UI"/>
                <a:ea typeface="Meiryo UI"/>
              </a:rPr>
              <a:t>顧客番号「C-0012399」で登録しました。</a:t>
            </a:r>
          </a:p>
        </p:txBody>
      </p:sp>
      <p:grpSp>
        <p:nvGrpSpPr>
          <p:cNvPr id="53" name="ボタン：続けて登録する"/>
          <p:cNvGrpSpPr/>
          <p:nvPr/>
        </p:nvGrpSpPr>
        <p:grpSpPr>
          <a:xfrm>
            <a:off x="5543550" y="4000500"/>
            <a:ext cx="1524000" cy="381000"/>
            <a:chOff x="5543550" y="4000500"/>
            <a:chExt cx="1524000" cy="381000"/>
          </a:xfrm>
        </p:grpSpPr>
        <p:sp>
          <p:nvSpPr>
            <p:cNvPr id="51" name="四角形"/>
            <p:cNvSpPr/>
            <p:nvPr/>
          </p:nvSpPr>
          <p:spPr>
            <a:xfrm>
              <a:off x="5543550" y="4000500"/>
              <a:ext cx="1524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2" name="テキスト"/>
            <p:cNvSpPr txBox="1"/>
            <p:nvPr/>
          </p:nvSpPr>
          <p:spPr>
            <a:xfrm>
              <a:off x="5543550" y="4000500"/>
              <a:ext cx="1524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続けて登録する</a:t>
              </a:r>
            </a:p>
          </p:txBody>
        </p:sp>
      </p:grpSp>
      <p:grpSp>
        <p:nvGrpSpPr>
          <p:cNvPr id="56" name="ボタン：詳細を表示する"/>
          <p:cNvGrpSpPr/>
          <p:nvPr/>
        </p:nvGrpSpPr>
        <p:grpSpPr>
          <a:xfrm>
            <a:off x="7219950" y="4000500"/>
            <a:ext cx="1524000" cy="381000"/>
            <a:chOff x="7219950" y="4000500"/>
            <a:chExt cx="1524000" cy="381000"/>
          </a:xfrm>
        </p:grpSpPr>
        <p:sp>
          <p:nvSpPr>
            <p:cNvPr id="54" name="四角形"/>
            <p:cNvSpPr/>
            <p:nvPr/>
          </p:nvSpPr>
          <p:spPr>
            <a:xfrm>
              <a:off x="7219950" y="4000500"/>
              <a:ext cx="1524000" cy="381000"/>
            </a:xfrm>
            <a:prstGeom prst="roundRect">
              <a:avLst>
                <a:gd name="adj" fmla="val 15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55" name="テキスト"/>
            <p:cNvSpPr txBox="1"/>
            <p:nvPr/>
          </p:nvSpPr>
          <p:spPr>
            <a:xfrm>
              <a:off x="7219950" y="4000500"/>
              <a:ext cx="1524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詳細を表示する</a:t>
              </a:r>
            </a:p>
          </p:txBody>
        </p:sp>
      </p:grpSp>
      <p:grpSp>
        <p:nvGrpSpPr>
          <p:cNvPr id="59" name="ボタン：一覧に戻る"/>
          <p:cNvGrpSpPr/>
          <p:nvPr/>
        </p:nvGrpSpPr>
        <p:grpSpPr>
          <a:xfrm>
            <a:off x="6381750" y="4533900"/>
            <a:ext cx="1524000" cy="304800"/>
            <a:chOff x="6381750" y="4533900"/>
            <a:chExt cx="1524000" cy="304800"/>
          </a:xfrm>
        </p:grpSpPr>
        <p:sp>
          <p:nvSpPr>
            <p:cNvPr id="57" name="テキスト"/>
            <p:cNvSpPr txBox="1"/>
            <p:nvPr/>
          </p:nvSpPr>
          <p:spPr>
            <a:xfrm>
              <a:off x="6381750" y="4533900"/>
              <a:ext cx="15240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2457C5"/>
                  </a:solidFill>
                  <a:latin typeface="Meiryo UI"/>
                  <a:ea typeface="Meiryo UI"/>
                </a:rPr>
                <a:t>一覧に戻る</a:t>
              </a:r>
            </a:p>
          </p:txBody>
        </p:sp>
        <p:cxnSp>
          <p:nvCxnSpPr>
            <p:cNvPr id="58" name="線"/>
            <p:cNvCxnSpPr/>
            <p:nvPr/>
          </p:nvCxnSpPr>
          <p:spPr>
            <a:xfrm>
              <a:off x="6807250" y="4791075"/>
              <a:ext cx="673001" cy="0"/>
            </a:xfrm>
            <a:prstGeom prst="line">
              <a:avLst/>
            </a:prstGeom>
            <a:ln w="9525">
              <a:solidFill>
                <a:srgbClr val="2457C5"/>
              </a:solidFill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編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四角形"/>
              <p:cNvSpPr/>
              <p:nvPr/>
            </p:nvSpPr>
            <p:spPr>
              <a:xfrm>
                <a:off x="76200" y="10668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4" name="四角形"/>
              <p:cNvSpPr/>
              <p:nvPr/>
            </p:nvSpPr>
            <p:spPr>
              <a:xfrm>
                <a:off x="76200" y="11430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5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6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35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cxnSp>
            <p:nvCxnSpPr>
              <p:cNvPr id="26" name="線"/>
              <p:cNvCxnSpPr/>
              <p:nvPr/>
            </p:nvCxnSpPr>
            <p:spPr>
              <a:xfrm>
                <a:off x="361577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7" name="線"/>
              <p:cNvCxnSpPr/>
              <p:nvPr/>
            </p:nvCxnSpPr>
            <p:spPr>
              <a:xfrm flipH="1">
                <a:off x="361577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8" name="テキスト"/>
              <p:cNvSpPr txBox="1"/>
              <p:nvPr/>
            </p:nvSpPr>
            <p:spPr>
              <a:xfrm>
                <a:off x="376817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顧客一覧</a:t>
                </a:r>
              </a:p>
            </p:txBody>
          </p:sp>
          <p:cxnSp>
            <p:nvCxnSpPr>
              <p:cNvPr id="29" name="線"/>
              <p:cNvCxnSpPr/>
              <p:nvPr/>
            </p:nvCxnSpPr>
            <p:spPr>
              <a:xfrm>
                <a:off x="43587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30" name="線"/>
              <p:cNvCxnSpPr/>
              <p:nvPr/>
            </p:nvCxnSpPr>
            <p:spPr>
              <a:xfrm flipH="1">
                <a:off x="43587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31" name="テキスト"/>
              <p:cNvSpPr txBox="1"/>
              <p:nvPr/>
            </p:nvSpPr>
            <p:spPr>
              <a:xfrm>
                <a:off x="451112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顧客詳細</a:t>
                </a:r>
              </a:p>
            </p:txBody>
          </p:sp>
          <p:cxnSp>
            <p:nvCxnSpPr>
              <p:cNvPr id="32" name="線"/>
              <p:cNvCxnSpPr/>
              <p:nvPr/>
            </p:nvCxnSpPr>
            <p:spPr>
              <a:xfrm>
                <a:off x="510167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33" name="線"/>
              <p:cNvCxnSpPr/>
              <p:nvPr/>
            </p:nvCxnSpPr>
            <p:spPr>
              <a:xfrm flipH="1">
                <a:off x="510167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34" name="テキスト"/>
              <p:cNvSpPr txBox="1"/>
              <p:nvPr/>
            </p:nvSpPr>
            <p:spPr>
              <a:xfrm>
                <a:off x="5254079" y="723900"/>
                <a:ext cx="26670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編集</a:t>
                </a:r>
              </a:p>
            </p:txBody>
          </p:sp>
        </p:grpSp>
      </p:grpSp>
      <p:grpSp>
        <p:nvGrpSpPr>
          <p:cNvPr id="39" name="見出し：顧客情報の編集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37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8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顧客情報の編集</a:t>
              </a:r>
            </a:p>
          </p:txBody>
        </p:sp>
      </p:grpSp>
      <p:sp>
        <p:nvSpPr>
          <p:cNvPr id="40" name="テキスト"/>
          <p:cNvSpPr txBox="1"/>
          <p:nvPr/>
        </p:nvSpPr>
        <p:spPr>
          <a:xfrm>
            <a:off x="8077200" y="10287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r">
              <a:lnSpc>
                <a:spcPts val="1316"/>
              </a:lnSpc>
              <a:buNone/>
            </a:pPr>
            <a:r>
              <a:rPr lang="ja-JP" altLang="en-US" sz="975" b="0" dirty="0">
                <a:solidFill>
                  <a:srgbClr val="64748B"/>
                </a:solidFill>
                <a:latin typeface="Meiryo UI"/>
                <a:ea typeface="Meiryo UI"/>
              </a:rPr>
              <a:t>最終更新：2026/10/20 14:32　鈴木 一郎</a:t>
            </a:r>
          </a:p>
        </p:txBody>
      </p:sp>
      <p:grpSp>
        <p:nvGrpSpPr>
          <p:cNvPr id="82" name="グループ"/>
          <p:cNvGrpSpPr/>
          <p:nvPr/>
        </p:nvGrpSpPr>
        <p:grpSpPr>
          <a:xfrm>
            <a:off x="2400300" y="1562100"/>
            <a:ext cx="9486900" cy="1981200"/>
            <a:chOff x="2400300" y="1562100"/>
            <a:chExt cx="9486900" cy="1981200"/>
          </a:xfrm>
        </p:grpSpPr>
        <p:grpSp>
          <p:nvGrpSpPr>
            <p:cNvPr id="46" name="グループ枠：基本情報"/>
            <p:cNvGrpSpPr/>
            <p:nvPr/>
          </p:nvGrpSpPr>
          <p:grpSpPr>
            <a:xfrm>
              <a:off x="2400300" y="1562100"/>
              <a:ext cx="9486900" cy="1981200"/>
              <a:chOff x="2400300" y="1562100"/>
              <a:chExt cx="9486900" cy="1981200"/>
            </a:xfrm>
          </p:grpSpPr>
          <p:sp>
            <p:nvSpPr>
              <p:cNvPr id="41" name="四角形"/>
              <p:cNvSpPr/>
              <p:nvPr/>
            </p:nvSpPr>
            <p:spPr>
              <a:xfrm>
                <a:off x="2400300" y="1562100"/>
                <a:ext cx="9486900" cy="1981200"/>
              </a:xfrm>
              <a:prstGeom prst="roundRect">
                <a:avLst>
                  <a:gd name="adj" fmla="val 2885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2" name="四角形"/>
              <p:cNvSpPr/>
              <p:nvPr/>
            </p:nvSpPr>
            <p:spPr>
              <a:xfrm>
                <a:off x="2409825" y="1571625"/>
                <a:ext cx="94678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43" name="四角形"/>
              <p:cNvSpPr/>
              <p:nvPr/>
            </p:nvSpPr>
            <p:spPr>
              <a:xfrm>
                <a:off x="2409825" y="1752600"/>
                <a:ext cx="94678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44" name="線"/>
              <p:cNvCxnSpPr/>
              <p:nvPr/>
            </p:nvCxnSpPr>
            <p:spPr>
              <a:xfrm>
                <a:off x="2400300" y="1952625"/>
                <a:ext cx="94869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45" name="テキスト"/>
              <p:cNvSpPr txBox="1"/>
              <p:nvPr/>
            </p:nvSpPr>
            <p:spPr>
              <a:xfrm>
                <a:off x="2552700" y="1571625"/>
                <a:ext cx="91821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基本情報</a:t>
                </a:r>
              </a:p>
            </p:txBody>
          </p:sp>
        </p:grpSp>
        <p:grpSp>
          <p:nvGrpSpPr>
            <p:cNvPr id="50" name="テキスト入力：顧客番号"/>
            <p:cNvGrpSpPr/>
            <p:nvPr/>
          </p:nvGrpSpPr>
          <p:grpSpPr>
            <a:xfrm>
              <a:off x="2628900" y="2057400"/>
              <a:ext cx="4305300" cy="381000"/>
              <a:chOff x="2628900" y="2057400"/>
              <a:chExt cx="4305300" cy="381000"/>
            </a:xfrm>
          </p:grpSpPr>
          <p:sp>
            <p:nvSpPr>
              <p:cNvPr id="47" name="テキスト"/>
              <p:cNvSpPr txBox="1"/>
              <p:nvPr/>
            </p:nvSpPr>
            <p:spPr>
              <a:xfrm>
                <a:off x="2628900" y="20574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顧客番号</a:t>
                </a:r>
              </a:p>
            </p:txBody>
          </p:sp>
          <p:sp>
            <p:nvSpPr>
              <p:cNvPr id="48" name="四角形"/>
              <p:cNvSpPr/>
              <p:nvPr/>
            </p:nvSpPr>
            <p:spPr>
              <a:xfrm>
                <a:off x="4038600" y="2057400"/>
                <a:ext cx="2895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F5F9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9" name="テキスト"/>
              <p:cNvSpPr txBox="1"/>
              <p:nvPr/>
            </p:nvSpPr>
            <p:spPr>
              <a:xfrm>
                <a:off x="4152900" y="2057400"/>
                <a:ext cx="2667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C-0012345</a:t>
                </a:r>
              </a:p>
            </p:txBody>
          </p:sp>
        </p:grpSp>
        <p:grpSp>
          <p:nvGrpSpPr>
            <p:cNvPr id="55" name="プルダウン：状態"/>
            <p:cNvGrpSpPr/>
            <p:nvPr/>
          </p:nvGrpSpPr>
          <p:grpSpPr>
            <a:xfrm>
              <a:off x="7200900" y="2057400"/>
              <a:ext cx="2857500" cy="381000"/>
              <a:chOff x="7200900" y="2057400"/>
              <a:chExt cx="2857500" cy="381000"/>
            </a:xfrm>
          </p:grpSpPr>
          <p:sp>
            <p:nvSpPr>
              <p:cNvPr id="51" name="テキスト"/>
              <p:cNvSpPr txBox="1"/>
              <p:nvPr/>
            </p:nvSpPr>
            <p:spPr>
              <a:xfrm>
                <a:off x="7200900" y="20574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状態</a:t>
                </a:r>
              </a:p>
            </p:txBody>
          </p:sp>
          <p:sp>
            <p:nvSpPr>
              <p:cNvPr id="52" name="四角形"/>
              <p:cNvSpPr/>
              <p:nvPr/>
            </p:nvSpPr>
            <p:spPr>
              <a:xfrm>
                <a:off x="8610600" y="2057400"/>
                <a:ext cx="14478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3" name="テキスト"/>
              <p:cNvSpPr txBox="1"/>
              <p:nvPr/>
            </p:nvSpPr>
            <p:spPr>
              <a:xfrm>
                <a:off x="8724900" y="2057400"/>
                <a:ext cx="10287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有効</a:t>
                </a:r>
              </a:p>
            </p:txBody>
          </p:sp>
          <p:sp>
            <p:nvSpPr>
              <p:cNvPr id="54" name="三角形"/>
              <p:cNvSpPr/>
              <p:nvPr/>
            </p:nvSpPr>
            <p:spPr>
              <a:xfrm rot="10800000">
                <a:off x="9810750" y="2219325"/>
                <a:ext cx="104775" cy="57150"/>
              </a:xfrm>
              <a:prstGeom prst="triangle">
                <a:avLst/>
              </a:prstGeom>
              <a:solidFill>
                <a:srgbClr val="64748B"/>
              </a:solidFill>
              <a:ln>
                <a:noFill/>
              </a:ln>
            </p:spPr>
          </p:sp>
        </p:grpSp>
        <p:grpSp>
          <p:nvGrpSpPr>
            <p:cNvPr id="61" name="テキスト入力：氏名"/>
            <p:cNvGrpSpPr/>
            <p:nvPr/>
          </p:nvGrpSpPr>
          <p:grpSpPr>
            <a:xfrm>
              <a:off x="2628900" y="2552700"/>
              <a:ext cx="4305300" cy="381000"/>
              <a:chOff x="2628900" y="2552700"/>
              <a:chExt cx="4305300" cy="381000"/>
            </a:xfrm>
          </p:grpSpPr>
          <p:sp>
            <p:nvSpPr>
              <p:cNvPr id="56" name="テキスト"/>
              <p:cNvSpPr txBox="1"/>
              <p:nvPr/>
            </p:nvSpPr>
            <p:spPr>
              <a:xfrm>
                <a:off x="2628900" y="2552700"/>
                <a:ext cx="914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氏名</a:t>
                </a:r>
              </a:p>
            </p:txBody>
          </p:sp>
          <p:sp>
            <p:nvSpPr>
              <p:cNvPr id="57" name="四角形"/>
              <p:cNvSpPr/>
              <p:nvPr/>
            </p:nvSpPr>
            <p:spPr>
              <a:xfrm>
                <a:off x="3619500" y="2657475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58" name="テキスト"/>
              <p:cNvSpPr txBox="1"/>
              <p:nvPr/>
            </p:nvSpPr>
            <p:spPr>
              <a:xfrm>
                <a:off x="3619500" y="2657475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59" name="四角形"/>
              <p:cNvSpPr/>
              <p:nvPr/>
            </p:nvSpPr>
            <p:spPr>
              <a:xfrm>
                <a:off x="4038600" y="2552700"/>
                <a:ext cx="2895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0" name="テキスト"/>
              <p:cNvSpPr txBox="1"/>
              <p:nvPr/>
            </p:nvSpPr>
            <p:spPr>
              <a:xfrm>
                <a:off x="4152900" y="2552700"/>
                <a:ext cx="2667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山田 太郎</a:t>
                </a:r>
              </a:p>
            </p:txBody>
          </p:sp>
        </p:grpSp>
        <p:grpSp>
          <p:nvGrpSpPr>
            <p:cNvPr id="67" name="テキスト入力：氏名（カナ）"/>
            <p:cNvGrpSpPr/>
            <p:nvPr/>
          </p:nvGrpSpPr>
          <p:grpSpPr>
            <a:xfrm>
              <a:off x="7200900" y="2552700"/>
              <a:ext cx="4457700" cy="381000"/>
              <a:chOff x="7200900" y="2552700"/>
              <a:chExt cx="4457700" cy="381000"/>
            </a:xfrm>
          </p:grpSpPr>
          <p:sp>
            <p:nvSpPr>
              <p:cNvPr id="62" name="テキスト"/>
              <p:cNvSpPr txBox="1"/>
              <p:nvPr/>
            </p:nvSpPr>
            <p:spPr>
              <a:xfrm>
                <a:off x="7200900" y="2552700"/>
                <a:ext cx="914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氏名（カナ）</a:t>
                </a:r>
              </a:p>
            </p:txBody>
          </p:sp>
          <p:sp>
            <p:nvSpPr>
              <p:cNvPr id="63" name="四角形"/>
              <p:cNvSpPr/>
              <p:nvPr/>
            </p:nvSpPr>
            <p:spPr>
              <a:xfrm>
                <a:off x="8191500" y="2657475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64" name="テキスト"/>
              <p:cNvSpPr txBox="1"/>
              <p:nvPr/>
            </p:nvSpPr>
            <p:spPr>
              <a:xfrm>
                <a:off x="8191500" y="2657475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65" name="四角形"/>
              <p:cNvSpPr/>
              <p:nvPr/>
            </p:nvSpPr>
            <p:spPr>
              <a:xfrm>
                <a:off x="8610600" y="2552700"/>
                <a:ext cx="3048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6" name="テキスト"/>
              <p:cNvSpPr txBox="1"/>
              <p:nvPr/>
            </p:nvSpPr>
            <p:spPr>
              <a:xfrm>
                <a:off x="8724900" y="2552700"/>
                <a:ext cx="2819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ヤマダ タロウ</a:t>
                </a:r>
              </a:p>
            </p:txBody>
          </p:sp>
        </p:grpSp>
        <p:grpSp>
          <p:nvGrpSpPr>
            <p:cNvPr id="75" name="日付入力：生年月日"/>
            <p:cNvGrpSpPr/>
            <p:nvPr/>
          </p:nvGrpSpPr>
          <p:grpSpPr>
            <a:xfrm>
              <a:off x="2628900" y="3048000"/>
              <a:ext cx="3238500" cy="381000"/>
              <a:chOff x="2628900" y="3048000"/>
              <a:chExt cx="3238500" cy="381000"/>
            </a:xfrm>
          </p:grpSpPr>
          <p:sp>
            <p:nvSpPr>
              <p:cNvPr id="68" name="テキスト"/>
              <p:cNvSpPr txBox="1"/>
              <p:nvPr/>
            </p:nvSpPr>
            <p:spPr>
              <a:xfrm>
                <a:off x="2628900" y="30480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生年月日</a:t>
                </a:r>
              </a:p>
            </p:txBody>
          </p:sp>
          <p:sp>
            <p:nvSpPr>
              <p:cNvPr id="69" name="四角形"/>
              <p:cNvSpPr/>
              <p:nvPr/>
            </p:nvSpPr>
            <p:spPr>
              <a:xfrm>
                <a:off x="4038600" y="3048000"/>
                <a:ext cx="18288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0" name="テキスト"/>
              <p:cNvSpPr txBox="1"/>
              <p:nvPr/>
            </p:nvSpPr>
            <p:spPr>
              <a:xfrm>
                <a:off x="4152900" y="3048000"/>
                <a:ext cx="13716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1985/04/12</a:t>
                </a:r>
              </a:p>
            </p:txBody>
          </p:sp>
          <p:sp>
            <p:nvSpPr>
              <p:cNvPr id="71" name="四角形"/>
              <p:cNvSpPr/>
              <p:nvPr/>
            </p:nvSpPr>
            <p:spPr>
              <a:xfrm>
                <a:off x="5562600" y="3162300"/>
                <a:ext cx="171450" cy="161925"/>
              </a:xfrm>
              <a:prstGeom prst="roundRect">
                <a:avLst>
                  <a:gd name="adj" fmla="val 11765"/>
                </a:avLst>
              </a:prstGeom>
              <a:noFill/>
              <a:ln w="12383">
                <a:solidFill>
                  <a:srgbClr val="64748B"/>
                </a:solidFill>
              </a:ln>
            </p:spPr>
          </p:sp>
          <p:cxnSp>
            <p:nvCxnSpPr>
              <p:cNvPr id="72" name="線"/>
              <p:cNvCxnSpPr/>
              <p:nvPr/>
            </p:nvCxnSpPr>
            <p:spPr>
              <a:xfrm>
                <a:off x="5562600" y="3209925"/>
                <a:ext cx="171450" cy="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73" name="線"/>
              <p:cNvCxnSpPr/>
              <p:nvPr/>
            </p:nvCxnSpPr>
            <p:spPr>
              <a:xfrm>
                <a:off x="5610225" y="31432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74" name="線"/>
              <p:cNvCxnSpPr/>
              <p:nvPr/>
            </p:nvCxnSpPr>
            <p:spPr>
              <a:xfrm>
                <a:off x="5686425" y="31432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</p:grpSp>
        <p:grpSp>
          <p:nvGrpSpPr>
            <p:cNvPr id="81" name="テキスト入力：電話番号"/>
            <p:cNvGrpSpPr/>
            <p:nvPr/>
          </p:nvGrpSpPr>
          <p:grpSpPr>
            <a:xfrm>
              <a:off x="7200900" y="3048000"/>
              <a:ext cx="4457700" cy="381000"/>
              <a:chOff x="7200900" y="3048000"/>
              <a:chExt cx="4457700" cy="381000"/>
            </a:xfrm>
          </p:grpSpPr>
          <p:sp>
            <p:nvSpPr>
              <p:cNvPr id="76" name="テキスト"/>
              <p:cNvSpPr txBox="1"/>
              <p:nvPr/>
            </p:nvSpPr>
            <p:spPr>
              <a:xfrm>
                <a:off x="7200900" y="3048000"/>
                <a:ext cx="914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電話番号</a:t>
                </a:r>
              </a:p>
            </p:txBody>
          </p:sp>
          <p:sp>
            <p:nvSpPr>
              <p:cNvPr id="77" name="四角形"/>
              <p:cNvSpPr/>
              <p:nvPr/>
            </p:nvSpPr>
            <p:spPr>
              <a:xfrm>
                <a:off x="8191500" y="3152775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78" name="テキスト"/>
              <p:cNvSpPr txBox="1"/>
              <p:nvPr/>
            </p:nvSpPr>
            <p:spPr>
              <a:xfrm>
                <a:off x="8191500" y="3152775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79" name="四角形"/>
              <p:cNvSpPr/>
              <p:nvPr/>
            </p:nvSpPr>
            <p:spPr>
              <a:xfrm>
                <a:off x="8610600" y="3048000"/>
                <a:ext cx="3048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80" name="テキスト"/>
              <p:cNvSpPr txBox="1"/>
              <p:nvPr/>
            </p:nvSpPr>
            <p:spPr>
              <a:xfrm>
                <a:off x="8724900" y="3048000"/>
                <a:ext cx="2819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090-1234-5678</a:t>
                </a:r>
              </a:p>
            </p:txBody>
          </p:sp>
        </p:grpSp>
      </p:grpSp>
      <p:grpSp>
        <p:nvGrpSpPr>
          <p:cNvPr id="103" name="グループ"/>
          <p:cNvGrpSpPr/>
          <p:nvPr/>
        </p:nvGrpSpPr>
        <p:grpSpPr>
          <a:xfrm>
            <a:off x="2400300" y="3695700"/>
            <a:ext cx="9486900" cy="2362200"/>
            <a:chOff x="2400300" y="3695700"/>
            <a:chExt cx="9486900" cy="2362200"/>
          </a:xfrm>
        </p:grpSpPr>
        <p:grpSp>
          <p:nvGrpSpPr>
            <p:cNvPr id="88" name="グループ枠：連絡先・変更理由"/>
            <p:cNvGrpSpPr/>
            <p:nvPr/>
          </p:nvGrpSpPr>
          <p:grpSpPr>
            <a:xfrm>
              <a:off x="2400300" y="3695700"/>
              <a:ext cx="9486900" cy="2362200"/>
              <a:chOff x="2400300" y="3695700"/>
              <a:chExt cx="9486900" cy="2362200"/>
            </a:xfrm>
          </p:grpSpPr>
          <p:sp>
            <p:nvSpPr>
              <p:cNvPr id="83" name="四角形"/>
              <p:cNvSpPr/>
              <p:nvPr/>
            </p:nvSpPr>
            <p:spPr>
              <a:xfrm>
                <a:off x="2400300" y="3695700"/>
                <a:ext cx="9486900" cy="2362200"/>
              </a:xfrm>
              <a:prstGeom prst="roundRect">
                <a:avLst>
                  <a:gd name="adj" fmla="val 2419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84" name="四角形"/>
              <p:cNvSpPr/>
              <p:nvPr/>
            </p:nvSpPr>
            <p:spPr>
              <a:xfrm>
                <a:off x="2409825" y="3705225"/>
                <a:ext cx="94678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85" name="四角形"/>
              <p:cNvSpPr/>
              <p:nvPr/>
            </p:nvSpPr>
            <p:spPr>
              <a:xfrm>
                <a:off x="2409825" y="3886200"/>
                <a:ext cx="94678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86" name="線"/>
              <p:cNvCxnSpPr/>
              <p:nvPr/>
            </p:nvCxnSpPr>
            <p:spPr>
              <a:xfrm>
                <a:off x="2400300" y="4086225"/>
                <a:ext cx="94869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87" name="テキスト"/>
              <p:cNvSpPr txBox="1"/>
              <p:nvPr/>
            </p:nvSpPr>
            <p:spPr>
              <a:xfrm>
                <a:off x="2552700" y="3705225"/>
                <a:ext cx="91821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連絡先・変更理由</a:t>
                </a:r>
              </a:p>
            </p:txBody>
          </p:sp>
        </p:grpSp>
        <p:grpSp>
          <p:nvGrpSpPr>
            <p:cNvPr id="92" name="テキスト入力：メールアドレス"/>
            <p:cNvGrpSpPr/>
            <p:nvPr/>
          </p:nvGrpSpPr>
          <p:grpSpPr>
            <a:xfrm>
              <a:off x="2628900" y="4191000"/>
              <a:ext cx="4305300" cy="381000"/>
              <a:chOff x="2628900" y="4191000"/>
              <a:chExt cx="4305300" cy="381000"/>
            </a:xfrm>
          </p:grpSpPr>
          <p:sp>
            <p:nvSpPr>
              <p:cNvPr id="89" name="テキスト"/>
              <p:cNvSpPr txBox="1"/>
              <p:nvPr/>
            </p:nvSpPr>
            <p:spPr>
              <a:xfrm>
                <a:off x="2628900" y="41910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メールアドレス</a:t>
                </a:r>
              </a:p>
            </p:txBody>
          </p:sp>
          <p:sp>
            <p:nvSpPr>
              <p:cNvPr id="90" name="四角形"/>
              <p:cNvSpPr/>
              <p:nvPr/>
            </p:nvSpPr>
            <p:spPr>
              <a:xfrm>
                <a:off x="4038600" y="4191000"/>
                <a:ext cx="2895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91" name="テキスト"/>
              <p:cNvSpPr txBox="1"/>
              <p:nvPr/>
            </p:nvSpPr>
            <p:spPr>
              <a:xfrm>
                <a:off x="4152900" y="4191000"/>
                <a:ext cx="2667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taro.yamada@example.com</a:t>
                </a:r>
              </a:p>
            </p:txBody>
          </p:sp>
        </p:grpSp>
        <p:grpSp>
          <p:nvGrpSpPr>
            <p:cNvPr id="96" name="テキスト入力：住所"/>
            <p:cNvGrpSpPr/>
            <p:nvPr/>
          </p:nvGrpSpPr>
          <p:grpSpPr>
            <a:xfrm>
              <a:off x="2628900" y="4686300"/>
              <a:ext cx="9029700" cy="381000"/>
              <a:chOff x="2628900" y="4686300"/>
              <a:chExt cx="9029700" cy="381000"/>
            </a:xfrm>
          </p:grpSpPr>
          <p:sp>
            <p:nvSpPr>
              <p:cNvPr id="93" name="テキスト"/>
              <p:cNvSpPr txBox="1"/>
              <p:nvPr/>
            </p:nvSpPr>
            <p:spPr>
              <a:xfrm>
                <a:off x="2628900" y="46863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住所</a:t>
                </a:r>
              </a:p>
            </p:txBody>
          </p:sp>
          <p:sp>
            <p:nvSpPr>
              <p:cNvPr id="94" name="四角形"/>
              <p:cNvSpPr/>
              <p:nvPr/>
            </p:nvSpPr>
            <p:spPr>
              <a:xfrm>
                <a:off x="4038600" y="4686300"/>
                <a:ext cx="7620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95" name="テキスト"/>
              <p:cNvSpPr txBox="1"/>
              <p:nvPr/>
            </p:nvSpPr>
            <p:spPr>
              <a:xfrm>
                <a:off x="4152900" y="4686300"/>
                <a:ext cx="7391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東京都千代田区丸の内1-1-1</a:t>
                </a:r>
              </a:p>
            </p:txBody>
          </p:sp>
        </p:grpSp>
        <p:grpSp>
          <p:nvGrpSpPr>
            <p:cNvPr id="102" name="テキストエリア：変更理由"/>
            <p:cNvGrpSpPr/>
            <p:nvPr/>
          </p:nvGrpSpPr>
          <p:grpSpPr>
            <a:xfrm>
              <a:off x="2628900" y="5181600"/>
              <a:ext cx="9029700" cy="685800"/>
              <a:chOff x="2628900" y="5181600"/>
              <a:chExt cx="9029700" cy="685800"/>
            </a:xfrm>
          </p:grpSpPr>
          <p:sp>
            <p:nvSpPr>
              <p:cNvPr id="97" name="テキスト"/>
              <p:cNvSpPr txBox="1"/>
              <p:nvPr/>
            </p:nvSpPr>
            <p:spPr>
              <a:xfrm>
                <a:off x="2628900" y="5181600"/>
                <a:ext cx="914400" cy="3619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変更理由</a:t>
                </a:r>
              </a:p>
            </p:txBody>
          </p:sp>
          <p:sp>
            <p:nvSpPr>
              <p:cNvPr id="98" name="四角形"/>
              <p:cNvSpPr/>
              <p:nvPr/>
            </p:nvSpPr>
            <p:spPr>
              <a:xfrm>
                <a:off x="3619500" y="5276850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99" name="テキスト"/>
              <p:cNvSpPr txBox="1"/>
              <p:nvPr/>
            </p:nvSpPr>
            <p:spPr>
              <a:xfrm>
                <a:off x="3619500" y="5276850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100" name="四角形"/>
              <p:cNvSpPr/>
              <p:nvPr/>
            </p:nvSpPr>
            <p:spPr>
              <a:xfrm>
                <a:off x="4038600" y="5181600"/>
                <a:ext cx="7620000" cy="685800"/>
              </a:xfrm>
              <a:prstGeom prst="roundRect">
                <a:avLst>
                  <a:gd name="adj" fmla="val 5556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101" name="テキスト"/>
              <p:cNvSpPr txBox="1"/>
              <p:nvPr/>
            </p:nvSpPr>
            <p:spPr>
              <a:xfrm>
                <a:off x="4152900" y="5276850"/>
                <a:ext cx="7391400" cy="49530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例）本人より電話番号変更の申出</a:t>
                </a:r>
              </a:p>
            </p:txBody>
          </p:sp>
        </p:grpSp>
      </p:grpSp>
      <p:grpSp>
        <p:nvGrpSpPr>
          <p:cNvPr id="106" name="ボタン：キャンセル"/>
          <p:cNvGrpSpPr/>
          <p:nvPr/>
        </p:nvGrpSpPr>
        <p:grpSpPr>
          <a:xfrm>
            <a:off x="2400300" y="6248400"/>
            <a:ext cx="1143000" cy="381000"/>
            <a:chOff x="2400300" y="6248400"/>
            <a:chExt cx="1143000" cy="381000"/>
          </a:xfrm>
        </p:grpSpPr>
        <p:sp>
          <p:nvSpPr>
            <p:cNvPr id="104" name="四角形"/>
            <p:cNvSpPr/>
            <p:nvPr/>
          </p:nvSpPr>
          <p:spPr>
            <a:xfrm>
              <a:off x="2400300" y="62484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5" name="テキスト"/>
            <p:cNvSpPr txBox="1"/>
            <p:nvPr/>
          </p:nvSpPr>
          <p:spPr>
            <a:xfrm>
              <a:off x="2400300" y="6248400"/>
              <a:ext cx="1143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キャンセル</a:t>
              </a:r>
            </a:p>
          </p:txBody>
        </p:sp>
      </p:grpSp>
      <p:grpSp>
        <p:nvGrpSpPr>
          <p:cNvPr id="109" name="ボタン：更新する"/>
          <p:cNvGrpSpPr/>
          <p:nvPr/>
        </p:nvGrpSpPr>
        <p:grpSpPr>
          <a:xfrm>
            <a:off x="10515600" y="6248400"/>
            <a:ext cx="1371600" cy="381000"/>
            <a:chOff x="10515600" y="6248400"/>
            <a:chExt cx="1371600" cy="381000"/>
          </a:xfrm>
        </p:grpSpPr>
        <p:sp>
          <p:nvSpPr>
            <p:cNvPr id="107" name="四角形"/>
            <p:cNvSpPr/>
            <p:nvPr/>
          </p:nvSpPr>
          <p:spPr>
            <a:xfrm>
              <a:off x="10515600" y="6248400"/>
              <a:ext cx="1371600" cy="381000"/>
            </a:xfrm>
            <a:prstGeom prst="roundRect">
              <a:avLst>
                <a:gd name="adj" fmla="val 15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108" name="テキスト"/>
            <p:cNvSpPr txBox="1"/>
            <p:nvPr/>
          </p:nvSpPr>
          <p:spPr>
            <a:xfrm>
              <a:off x="10515600" y="624840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更新する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入力エラ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四角形"/>
              <p:cNvSpPr/>
              <p:nvPr/>
            </p:nvSpPr>
            <p:spPr>
              <a:xfrm>
                <a:off x="76200" y="10668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4" name="四角形"/>
              <p:cNvSpPr/>
              <p:nvPr/>
            </p:nvSpPr>
            <p:spPr>
              <a:xfrm>
                <a:off x="76200" y="11430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5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6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29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cxnSp>
            <p:nvCxnSpPr>
              <p:cNvPr id="26" name="線"/>
              <p:cNvCxnSpPr/>
              <p:nvPr/>
            </p:nvCxnSpPr>
            <p:spPr>
              <a:xfrm>
                <a:off x="361577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7" name="線"/>
              <p:cNvCxnSpPr/>
              <p:nvPr/>
            </p:nvCxnSpPr>
            <p:spPr>
              <a:xfrm flipH="1">
                <a:off x="361577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8" name="テキスト"/>
              <p:cNvSpPr txBox="1"/>
              <p:nvPr/>
            </p:nvSpPr>
            <p:spPr>
              <a:xfrm>
                <a:off x="376817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顧客登録</a:t>
                </a:r>
              </a:p>
            </p:txBody>
          </p:sp>
        </p:grpSp>
      </p:grpSp>
      <p:grpSp>
        <p:nvGrpSpPr>
          <p:cNvPr id="33" name="見出し：顧客登録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31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2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顧客登録</a:t>
              </a:r>
            </a:p>
          </p:txBody>
        </p:sp>
      </p:grpSp>
      <p:grpSp>
        <p:nvGrpSpPr>
          <p:cNvPr id="45" name="ステップ表示"/>
          <p:cNvGrpSpPr/>
          <p:nvPr/>
        </p:nvGrpSpPr>
        <p:grpSpPr>
          <a:xfrm>
            <a:off x="7315200" y="914400"/>
            <a:ext cx="4572000" cy="533400"/>
            <a:chOff x="7315200" y="914400"/>
            <a:chExt cx="4572000" cy="533400"/>
          </a:xfrm>
        </p:grpSpPr>
        <p:sp>
          <p:nvSpPr>
            <p:cNvPr id="34" name="円"/>
            <p:cNvSpPr/>
            <p:nvPr/>
          </p:nvSpPr>
          <p:spPr>
            <a:xfrm>
              <a:off x="7943850" y="914400"/>
              <a:ext cx="266700" cy="266700"/>
            </a:xfrm>
            <a:prstGeom prst="ellipse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5" name="テキスト"/>
            <p:cNvSpPr txBox="1"/>
            <p:nvPr/>
          </p:nvSpPr>
          <p:spPr>
            <a:xfrm>
              <a:off x="7943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1</a:t>
              </a:r>
            </a:p>
          </p:txBody>
        </p:sp>
        <p:sp>
          <p:nvSpPr>
            <p:cNvPr id="36" name="テキスト"/>
            <p:cNvSpPr txBox="1"/>
            <p:nvPr/>
          </p:nvSpPr>
          <p:spPr>
            <a:xfrm>
              <a:off x="7315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入力</a:t>
              </a:r>
            </a:p>
          </p:txBody>
        </p:sp>
        <p:cxnSp>
          <p:nvCxnSpPr>
            <p:cNvPr id="37" name="線"/>
            <p:cNvCxnSpPr/>
            <p:nvPr/>
          </p:nvCxnSpPr>
          <p:spPr>
            <a:xfrm>
              <a:off x="8229600" y="1047750"/>
              <a:ext cx="1219200" cy="0"/>
            </a:xfrm>
            <a:prstGeom prst="line">
              <a:avLst/>
            </a:prstGeom>
            <a:ln w="19050">
              <a:solidFill>
                <a:srgbClr val="CBD5E1"/>
              </a:solidFill>
            </a:ln>
          </p:spPr>
        </p:cxnSp>
        <p:sp>
          <p:nvSpPr>
            <p:cNvPr id="38" name="円"/>
            <p:cNvSpPr/>
            <p:nvPr/>
          </p:nvSpPr>
          <p:spPr>
            <a:xfrm>
              <a:off x="9467850" y="914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9" name="テキスト"/>
            <p:cNvSpPr txBox="1"/>
            <p:nvPr/>
          </p:nvSpPr>
          <p:spPr>
            <a:xfrm>
              <a:off x="9467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64748B"/>
                  </a:solidFill>
                  <a:latin typeface="Meiryo UI"/>
                  <a:ea typeface="Meiryo UI"/>
                </a:rPr>
                <a:t>2</a:t>
              </a:r>
            </a:p>
          </p:txBody>
        </p:sp>
        <p:sp>
          <p:nvSpPr>
            <p:cNvPr id="40" name="テキスト"/>
            <p:cNvSpPr txBox="1"/>
            <p:nvPr/>
          </p:nvSpPr>
          <p:spPr>
            <a:xfrm>
              <a:off x="8839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確認</a:t>
              </a:r>
            </a:p>
          </p:txBody>
        </p:sp>
        <p:cxnSp>
          <p:nvCxnSpPr>
            <p:cNvPr id="41" name="線"/>
            <p:cNvCxnSpPr/>
            <p:nvPr/>
          </p:nvCxnSpPr>
          <p:spPr>
            <a:xfrm>
              <a:off x="9753600" y="1047750"/>
              <a:ext cx="1219200" cy="0"/>
            </a:xfrm>
            <a:prstGeom prst="line">
              <a:avLst/>
            </a:prstGeom>
            <a:ln w="19050">
              <a:solidFill>
                <a:srgbClr val="CBD5E1"/>
              </a:solidFill>
            </a:ln>
          </p:spPr>
        </p:cxnSp>
        <p:sp>
          <p:nvSpPr>
            <p:cNvPr id="42" name="円"/>
            <p:cNvSpPr/>
            <p:nvPr/>
          </p:nvSpPr>
          <p:spPr>
            <a:xfrm>
              <a:off x="10991850" y="914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3" name="テキスト"/>
            <p:cNvSpPr txBox="1"/>
            <p:nvPr/>
          </p:nvSpPr>
          <p:spPr>
            <a:xfrm>
              <a:off x="10991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64748B"/>
                  </a:solidFill>
                  <a:latin typeface="Meiryo UI"/>
                  <a:ea typeface="Meiryo UI"/>
                </a:rPr>
                <a:t>3</a:t>
              </a:r>
            </a:p>
          </p:txBody>
        </p:sp>
        <p:sp>
          <p:nvSpPr>
            <p:cNvPr id="44" name="テキスト"/>
            <p:cNvSpPr txBox="1"/>
            <p:nvPr/>
          </p:nvSpPr>
          <p:spPr>
            <a:xfrm>
              <a:off x="10363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完了</a:t>
              </a:r>
            </a:p>
          </p:txBody>
        </p:sp>
      </p:grpSp>
      <p:grpSp>
        <p:nvGrpSpPr>
          <p:cNvPr id="50" name="メッセージ：入力内容に誤りが 3 件あります。赤枠の項目を確認してください。"/>
          <p:cNvGrpSpPr/>
          <p:nvPr/>
        </p:nvGrpSpPr>
        <p:grpSpPr>
          <a:xfrm>
            <a:off x="2400300" y="1562100"/>
            <a:ext cx="9486900" cy="419100"/>
            <a:chOff x="2400300" y="1562100"/>
            <a:chExt cx="9486900" cy="419100"/>
          </a:xfrm>
        </p:grpSpPr>
        <p:sp>
          <p:nvSpPr>
            <p:cNvPr id="46" name="四角形"/>
            <p:cNvSpPr/>
            <p:nvPr/>
          </p:nvSpPr>
          <p:spPr>
            <a:xfrm>
              <a:off x="2400300" y="1562100"/>
              <a:ext cx="9486900" cy="419100"/>
            </a:xfrm>
            <a:prstGeom prst="roundRect">
              <a:avLst>
                <a:gd name="adj" fmla="val 13636"/>
              </a:avLst>
            </a:prstGeom>
            <a:solidFill>
              <a:srgbClr val="FEE2E2"/>
            </a:solidFill>
            <a:ln w="9525">
              <a:solidFill>
                <a:srgbClr val="FCA5A5"/>
              </a:solidFill>
            </a:ln>
          </p:spPr>
        </p:sp>
        <p:sp>
          <p:nvSpPr>
            <p:cNvPr id="47" name="円"/>
            <p:cNvSpPr/>
            <p:nvPr/>
          </p:nvSpPr>
          <p:spPr>
            <a:xfrm>
              <a:off x="2533650" y="1676400"/>
              <a:ext cx="190500" cy="190500"/>
            </a:xfrm>
            <a:prstGeom prst="ellipse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48" name="テキスト"/>
            <p:cNvSpPr txBox="1"/>
            <p:nvPr/>
          </p:nvSpPr>
          <p:spPr>
            <a:xfrm>
              <a:off x="2533650" y="1676400"/>
              <a:ext cx="190500" cy="1905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!</a:t>
              </a:r>
            </a:p>
          </p:txBody>
        </p:sp>
        <p:sp>
          <p:nvSpPr>
            <p:cNvPr id="49" name="テキスト"/>
            <p:cNvSpPr txBox="1"/>
            <p:nvPr/>
          </p:nvSpPr>
          <p:spPr>
            <a:xfrm>
              <a:off x="2838450" y="1562100"/>
              <a:ext cx="8915400" cy="4191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B91C1C"/>
                  </a:solidFill>
                  <a:latin typeface="Meiryo UI"/>
                  <a:ea typeface="Meiryo UI"/>
                </a:rPr>
                <a:t>入力内容に誤りが 3 件あります。赤枠の項目を確認してください。</a:t>
              </a:r>
            </a:p>
          </p:txBody>
        </p:sp>
      </p:grpSp>
      <p:grpSp>
        <p:nvGrpSpPr>
          <p:cNvPr id="101" name="グループ"/>
          <p:cNvGrpSpPr/>
          <p:nvPr/>
        </p:nvGrpSpPr>
        <p:grpSpPr>
          <a:xfrm>
            <a:off x="2400300" y="2133600"/>
            <a:ext cx="9486900" cy="2247900"/>
            <a:chOff x="2400300" y="2133600"/>
            <a:chExt cx="9486900" cy="2247900"/>
          </a:xfrm>
        </p:grpSpPr>
        <p:grpSp>
          <p:nvGrpSpPr>
            <p:cNvPr id="56" name="グループ枠：基本情報"/>
            <p:cNvGrpSpPr/>
            <p:nvPr/>
          </p:nvGrpSpPr>
          <p:grpSpPr>
            <a:xfrm>
              <a:off x="2400300" y="2133600"/>
              <a:ext cx="9486900" cy="2247900"/>
              <a:chOff x="2400300" y="2133600"/>
              <a:chExt cx="9486900" cy="2247900"/>
            </a:xfrm>
          </p:grpSpPr>
          <p:sp>
            <p:nvSpPr>
              <p:cNvPr id="51" name="四角形"/>
              <p:cNvSpPr/>
              <p:nvPr/>
            </p:nvSpPr>
            <p:spPr>
              <a:xfrm>
                <a:off x="2400300" y="2133600"/>
                <a:ext cx="9486900" cy="2247900"/>
              </a:xfrm>
              <a:prstGeom prst="roundRect">
                <a:avLst>
                  <a:gd name="adj" fmla="val 2542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2" name="四角形"/>
              <p:cNvSpPr/>
              <p:nvPr/>
            </p:nvSpPr>
            <p:spPr>
              <a:xfrm>
                <a:off x="2409825" y="2143125"/>
                <a:ext cx="94678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53" name="四角形"/>
              <p:cNvSpPr/>
              <p:nvPr/>
            </p:nvSpPr>
            <p:spPr>
              <a:xfrm>
                <a:off x="2409825" y="2324100"/>
                <a:ext cx="94678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54" name="線"/>
              <p:cNvCxnSpPr/>
              <p:nvPr/>
            </p:nvCxnSpPr>
            <p:spPr>
              <a:xfrm>
                <a:off x="2400300" y="2524125"/>
                <a:ext cx="94869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55" name="テキスト"/>
              <p:cNvSpPr txBox="1"/>
              <p:nvPr/>
            </p:nvSpPr>
            <p:spPr>
              <a:xfrm>
                <a:off x="2552700" y="2143125"/>
                <a:ext cx="91821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基本情報</a:t>
                </a:r>
              </a:p>
            </p:txBody>
          </p:sp>
        </p:grpSp>
        <p:grpSp>
          <p:nvGrpSpPr>
            <p:cNvPr id="62" name="テキスト入力：氏名"/>
            <p:cNvGrpSpPr/>
            <p:nvPr/>
          </p:nvGrpSpPr>
          <p:grpSpPr>
            <a:xfrm>
              <a:off x="2628900" y="2628900"/>
              <a:ext cx="4305300" cy="381000"/>
              <a:chOff x="2628900" y="2628900"/>
              <a:chExt cx="4305300" cy="381000"/>
            </a:xfrm>
          </p:grpSpPr>
          <p:sp>
            <p:nvSpPr>
              <p:cNvPr id="57" name="テキスト"/>
              <p:cNvSpPr txBox="1"/>
              <p:nvPr/>
            </p:nvSpPr>
            <p:spPr>
              <a:xfrm>
                <a:off x="2628900" y="2628900"/>
                <a:ext cx="914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氏名</a:t>
                </a:r>
              </a:p>
            </p:txBody>
          </p:sp>
          <p:sp>
            <p:nvSpPr>
              <p:cNvPr id="58" name="四角形"/>
              <p:cNvSpPr/>
              <p:nvPr/>
            </p:nvSpPr>
            <p:spPr>
              <a:xfrm>
                <a:off x="3619500" y="2733675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59" name="テキスト"/>
              <p:cNvSpPr txBox="1"/>
              <p:nvPr/>
            </p:nvSpPr>
            <p:spPr>
              <a:xfrm>
                <a:off x="3619500" y="2733675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60" name="四角形"/>
              <p:cNvSpPr/>
              <p:nvPr/>
            </p:nvSpPr>
            <p:spPr>
              <a:xfrm>
                <a:off x="4038600" y="2628900"/>
                <a:ext cx="2895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1" name="テキスト"/>
              <p:cNvSpPr txBox="1"/>
              <p:nvPr/>
            </p:nvSpPr>
            <p:spPr>
              <a:xfrm>
                <a:off x="4152900" y="2628900"/>
                <a:ext cx="2667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山田 太郎</a:t>
                </a:r>
              </a:p>
            </p:txBody>
          </p:sp>
        </p:grpSp>
        <p:grpSp>
          <p:nvGrpSpPr>
            <p:cNvPr id="68" name="テキスト入力：氏名（カナ）"/>
            <p:cNvGrpSpPr/>
            <p:nvPr/>
          </p:nvGrpSpPr>
          <p:grpSpPr>
            <a:xfrm>
              <a:off x="7200900" y="2628900"/>
              <a:ext cx="4457700" cy="381000"/>
              <a:chOff x="7200900" y="2628900"/>
              <a:chExt cx="4457700" cy="381000"/>
            </a:xfrm>
          </p:grpSpPr>
          <p:sp>
            <p:nvSpPr>
              <p:cNvPr id="63" name="テキスト"/>
              <p:cNvSpPr txBox="1"/>
              <p:nvPr/>
            </p:nvSpPr>
            <p:spPr>
              <a:xfrm>
                <a:off x="7200900" y="2628900"/>
                <a:ext cx="914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氏名（カナ）</a:t>
                </a:r>
              </a:p>
            </p:txBody>
          </p:sp>
          <p:sp>
            <p:nvSpPr>
              <p:cNvPr id="64" name="四角形"/>
              <p:cNvSpPr/>
              <p:nvPr/>
            </p:nvSpPr>
            <p:spPr>
              <a:xfrm>
                <a:off x="8191500" y="2733675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65" name="テキスト"/>
              <p:cNvSpPr txBox="1"/>
              <p:nvPr/>
            </p:nvSpPr>
            <p:spPr>
              <a:xfrm>
                <a:off x="8191500" y="2733675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66" name="四角形"/>
              <p:cNvSpPr/>
              <p:nvPr/>
            </p:nvSpPr>
            <p:spPr>
              <a:xfrm>
                <a:off x="8610600" y="2628900"/>
                <a:ext cx="3048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7" name="テキスト"/>
              <p:cNvSpPr txBox="1"/>
              <p:nvPr/>
            </p:nvSpPr>
            <p:spPr>
              <a:xfrm>
                <a:off x="8724900" y="2628900"/>
                <a:ext cx="2819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例）ヤマダ タロウ</a:t>
                </a:r>
              </a:p>
            </p:txBody>
          </p:sp>
        </p:grpSp>
        <p:sp>
          <p:nvSpPr>
            <p:cNvPr id="69" name="四角形"/>
            <p:cNvSpPr/>
            <p:nvPr/>
          </p:nvSpPr>
          <p:spPr>
            <a:xfrm>
              <a:off x="8601075" y="2619375"/>
              <a:ext cx="3067050" cy="400050"/>
            </a:xfrm>
            <a:prstGeom prst="roundRect">
              <a:avLst>
                <a:gd name="adj" fmla="val 14286"/>
              </a:avLst>
            </a:prstGeom>
            <a:noFill/>
            <a:ln w="19050">
              <a:solidFill>
                <a:srgbClr val="DC2626"/>
              </a:solidFill>
            </a:ln>
          </p:spPr>
        </p:sp>
        <p:sp>
          <p:nvSpPr>
            <p:cNvPr id="70" name="テキスト"/>
            <p:cNvSpPr txBox="1"/>
            <p:nvPr/>
          </p:nvSpPr>
          <p:spPr>
            <a:xfrm>
              <a:off x="8610600" y="3048000"/>
              <a:ext cx="3048000" cy="17145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215"/>
                </a:lnSpc>
                <a:buNone/>
              </a:pPr>
              <a:r>
                <a:rPr lang="ja-JP" altLang="en-US" sz="900" b="0" dirty="0">
                  <a:solidFill>
                    <a:srgbClr val="DC2626"/>
                  </a:solidFill>
                  <a:latin typeface="Meiryo UI"/>
                  <a:ea typeface="Meiryo UI"/>
                </a:rPr>
                <a:t>氏名（カナ）を入力してください。</a:t>
              </a:r>
            </a:p>
          </p:txBody>
        </p:sp>
        <p:grpSp>
          <p:nvGrpSpPr>
            <p:cNvPr id="78" name="日付入力：生年月日"/>
            <p:cNvGrpSpPr/>
            <p:nvPr/>
          </p:nvGrpSpPr>
          <p:grpSpPr>
            <a:xfrm>
              <a:off x="2628900" y="3238500"/>
              <a:ext cx="3238500" cy="381000"/>
              <a:chOff x="2628900" y="3238500"/>
              <a:chExt cx="3238500" cy="381000"/>
            </a:xfrm>
          </p:grpSpPr>
          <p:sp>
            <p:nvSpPr>
              <p:cNvPr id="71" name="テキスト"/>
              <p:cNvSpPr txBox="1"/>
              <p:nvPr/>
            </p:nvSpPr>
            <p:spPr>
              <a:xfrm>
                <a:off x="2628900" y="32385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生年月日</a:t>
                </a:r>
              </a:p>
            </p:txBody>
          </p:sp>
          <p:sp>
            <p:nvSpPr>
              <p:cNvPr id="72" name="四角形"/>
              <p:cNvSpPr/>
              <p:nvPr/>
            </p:nvSpPr>
            <p:spPr>
              <a:xfrm>
                <a:off x="4038600" y="3238500"/>
                <a:ext cx="18288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3" name="テキスト"/>
              <p:cNvSpPr txBox="1"/>
              <p:nvPr/>
            </p:nvSpPr>
            <p:spPr>
              <a:xfrm>
                <a:off x="4152900" y="3238500"/>
                <a:ext cx="13716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1985/13/40</a:t>
                </a:r>
              </a:p>
            </p:txBody>
          </p:sp>
          <p:sp>
            <p:nvSpPr>
              <p:cNvPr id="74" name="四角形"/>
              <p:cNvSpPr/>
              <p:nvPr/>
            </p:nvSpPr>
            <p:spPr>
              <a:xfrm>
                <a:off x="5562600" y="3352800"/>
                <a:ext cx="171450" cy="161925"/>
              </a:xfrm>
              <a:prstGeom prst="roundRect">
                <a:avLst>
                  <a:gd name="adj" fmla="val 11765"/>
                </a:avLst>
              </a:prstGeom>
              <a:noFill/>
              <a:ln w="12383">
                <a:solidFill>
                  <a:srgbClr val="64748B"/>
                </a:solidFill>
              </a:ln>
            </p:spPr>
          </p:sp>
          <p:cxnSp>
            <p:nvCxnSpPr>
              <p:cNvPr id="75" name="線"/>
              <p:cNvCxnSpPr/>
              <p:nvPr/>
            </p:nvCxnSpPr>
            <p:spPr>
              <a:xfrm>
                <a:off x="5562600" y="3400425"/>
                <a:ext cx="171450" cy="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76" name="線"/>
              <p:cNvCxnSpPr/>
              <p:nvPr/>
            </p:nvCxnSpPr>
            <p:spPr>
              <a:xfrm>
                <a:off x="5610225" y="33337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77" name="線"/>
              <p:cNvCxnSpPr/>
              <p:nvPr/>
            </p:nvCxnSpPr>
            <p:spPr>
              <a:xfrm>
                <a:off x="5686425" y="33337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</p:grpSp>
        <p:sp>
          <p:nvSpPr>
            <p:cNvPr id="79" name="四角形"/>
            <p:cNvSpPr/>
            <p:nvPr/>
          </p:nvSpPr>
          <p:spPr>
            <a:xfrm>
              <a:off x="4029075" y="3228975"/>
              <a:ext cx="1847850" cy="400050"/>
            </a:xfrm>
            <a:prstGeom prst="roundRect">
              <a:avLst>
                <a:gd name="adj" fmla="val 14286"/>
              </a:avLst>
            </a:prstGeom>
            <a:noFill/>
            <a:ln w="19050">
              <a:solidFill>
                <a:srgbClr val="DC2626"/>
              </a:solidFill>
            </a:ln>
          </p:spPr>
        </p:sp>
        <p:sp>
          <p:nvSpPr>
            <p:cNvPr id="80" name="テキスト"/>
            <p:cNvSpPr txBox="1"/>
            <p:nvPr/>
          </p:nvSpPr>
          <p:spPr>
            <a:xfrm>
              <a:off x="4038600" y="3657600"/>
              <a:ext cx="1828800" cy="17145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215"/>
                </a:lnSpc>
                <a:buNone/>
              </a:pPr>
              <a:r>
                <a:rPr lang="ja-JP" altLang="en-US" sz="900" b="0" dirty="0">
                  <a:solidFill>
                    <a:srgbClr val="DC2626"/>
                  </a:solidFill>
                  <a:latin typeface="Meiryo UI"/>
                  <a:ea typeface="Meiryo UI"/>
                </a:rPr>
                <a:t>正しい日付を入力してください。</a:t>
              </a:r>
            </a:p>
          </p:txBody>
        </p:sp>
        <p:sp>
          <p:nvSpPr>
            <p:cNvPr id="81" name="テキスト"/>
            <p:cNvSpPr txBox="1"/>
            <p:nvPr/>
          </p:nvSpPr>
          <p:spPr>
            <a:xfrm>
              <a:off x="7200900" y="3276600"/>
              <a:ext cx="14097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1F2937"/>
                  </a:solidFill>
                  <a:latin typeface="Meiryo UI"/>
                  <a:ea typeface="Meiryo UI"/>
                </a:rPr>
                <a:t>性別</a:t>
              </a:r>
            </a:p>
          </p:txBody>
        </p:sp>
        <p:grpSp>
          <p:nvGrpSpPr>
            <p:cNvPr id="89" name="ラジオボタン"/>
            <p:cNvGrpSpPr/>
            <p:nvPr/>
          </p:nvGrpSpPr>
          <p:grpSpPr>
            <a:xfrm>
              <a:off x="8610600" y="3276600"/>
              <a:ext cx="3238500" cy="304800"/>
              <a:chOff x="8610600" y="3276600"/>
              <a:chExt cx="3238500" cy="304800"/>
            </a:xfrm>
          </p:grpSpPr>
          <p:sp>
            <p:nvSpPr>
              <p:cNvPr id="82" name="円"/>
              <p:cNvSpPr/>
              <p:nvPr/>
            </p:nvSpPr>
            <p:spPr>
              <a:xfrm>
                <a:off x="8610600" y="33432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 w="14288">
                <a:solidFill>
                  <a:srgbClr val="2457C5"/>
                </a:solidFill>
              </a:ln>
            </p:spPr>
          </p:sp>
          <p:sp>
            <p:nvSpPr>
              <p:cNvPr id="83" name="円"/>
              <p:cNvSpPr/>
              <p:nvPr/>
            </p:nvSpPr>
            <p:spPr>
              <a:xfrm>
                <a:off x="8653463" y="3386138"/>
                <a:ext cx="85725" cy="85725"/>
              </a:xfrm>
              <a:prstGeom prst="ellipse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84" name="テキスト"/>
              <p:cNvSpPr txBox="1"/>
              <p:nvPr/>
            </p:nvSpPr>
            <p:spPr>
              <a:xfrm>
                <a:off x="8858250" y="3314700"/>
                <a:ext cx="30480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男性</a:t>
                </a:r>
              </a:p>
            </p:txBody>
          </p:sp>
          <p:sp>
            <p:nvSpPr>
              <p:cNvPr id="85" name="円"/>
              <p:cNvSpPr/>
              <p:nvPr/>
            </p:nvSpPr>
            <p:spPr>
              <a:xfrm>
                <a:off x="9391650" y="33432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 w="14288">
                <a:solidFill>
                  <a:srgbClr val="94A3B8"/>
                </a:solidFill>
              </a:ln>
            </p:spPr>
          </p:sp>
          <p:sp>
            <p:nvSpPr>
              <p:cNvPr id="86" name="テキスト"/>
              <p:cNvSpPr txBox="1"/>
              <p:nvPr/>
            </p:nvSpPr>
            <p:spPr>
              <a:xfrm>
                <a:off x="9639300" y="3314700"/>
                <a:ext cx="30480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女性</a:t>
                </a:r>
              </a:p>
            </p:txBody>
          </p:sp>
          <p:sp>
            <p:nvSpPr>
              <p:cNvPr id="87" name="円"/>
              <p:cNvSpPr/>
              <p:nvPr/>
            </p:nvSpPr>
            <p:spPr>
              <a:xfrm>
                <a:off x="10172700" y="33432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 w="14288">
                <a:solidFill>
                  <a:srgbClr val="94A3B8"/>
                </a:solidFill>
              </a:ln>
            </p:spPr>
          </p:sp>
          <p:sp>
            <p:nvSpPr>
              <p:cNvPr id="88" name="テキスト"/>
              <p:cNvSpPr txBox="1"/>
              <p:nvPr/>
            </p:nvSpPr>
            <p:spPr>
              <a:xfrm>
                <a:off x="10420350" y="3314700"/>
                <a:ext cx="714226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回答しない</a:t>
                </a:r>
              </a:p>
            </p:txBody>
          </p:sp>
        </p:grpSp>
        <p:grpSp>
          <p:nvGrpSpPr>
            <p:cNvPr id="95" name="テキスト入力：電話番号"/>
            <p:cNvGrpSpPr/>
            <p:nvPr/>
          </p:nvGrpSpPr>
          <p:grpSpPr>
            <a:xfrm>
              <a:off x="2628900" y="3848100"/>
              <a:ext cx="4305300" cy="381000"/>
              <a:chOff x="2628900" y="3848100"/>
              <a:chExt cx="4305300" cy="381000"/>
            </a:xfrm>
          </p:grpSpPr>
          <p:sp>
            <p:nvSpPr>
              <p:cNvPr id="90" name="テキスト"/>
              <p:cNvSpPr txBox="1"/>
              <p:nvPr/>
            </p:nvSpPr>
            <p:spPr>
              <a:xfrm>
                <a:off x="2628900" y="3848100"/>
                <a:ext cx="914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電話番号</a:t>
                </a:r>
              </a:p>
            </p:txBody>
          </p:sp>
          <p:sp>
            <p:nvSpPr>
              <p:cNvPr id="91" name="四角形"/>
              <p:cNvSpPr/>
              <p:nvPr/>
            </p:nvSpPr>
            <p:spPr>
              <a:xfrm>
                <a:off x="3619500" y="3952875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92" name="テキスト"/>
              <p:cNvSpPr txBox="1"/>
              <p:nvPr/>
            </p:nvSpPr>
            <p:spPr>
              <a:xfrm>
                <a:off x="3619500" y="3952875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93" name="四角形"/>
              <p:cNvSpPr/>
              <p:nvPr/>
            </p:nvSpPr>
            <p:spPr>
              <a:xfrm>
                <a:off x="4038600" y="3848100"/>
                <a:ext cx="2895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94" name="テキスト"/>
              <p:cNvSpPr txBox="1"/>
              <p:nvPr/>
            </p:nvSpPr>
            <p:spPr>
              <a:xfrm>
                <a:off x="4152900" y="3848100"/>
                <a:ext cx="2667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090-1234</a:t>
                </a:r>
              </a:p>
            </p:txBody>
          </p:sp>
        </p:grpSp>
        <p:sp>
          <p:nvSpPr>
            <p:cNvPr id="96" name="四角形"/>
            <p:cNvSpPr/>
            <p:nvPr/>
          </p:nvSpPr>
          <p:spPr>
            <a:xfrm>
              <a:off x="4029075" y="3838575"/>
              <a:ext cx="2914650" cy="400050"/>
            </a:xfrm>
            <a:prstGeom prst="roundRect">
              <a:avLst>
                <a:gd name="adj" fmla="val 14286"/>
              </a:avLst>
            </a:prstGeom>
            <a:noFill/>
            <a:ln w="19050">
              <a:solidFill>
                <a:srgbClr val="DC2626"/>
              </a:solidFill>
            </a:ln>
          </p:spPr>
        </p:sp>
        <p:grpSp>
          <p:nvGrpSpPr>
            <p:cNvPr id="100" name="テキスト入力：メールアドレス"/>
            <p:cNvGrpSpPr/>
            <p:nvPr/>
          </p:nvGrpSpPr>
          <p:grpSpPr>
            <a:xfrm>
              <a:off x="7200900" y="3848100"/>
              <a:ext cx="4457700" cy="381000"/>
              <a:chOff x="7200900" y="3848100"/>
              <a:chExt cx="4457700" cy="381000"/>
            </a:xfrm>
          </p:grpSpPr>
          <p:sp>
            <p:nvSpPr>
              <p:cNvPr id="97" name="テキスト"/>
              <p:cNvSpPr txBox="1"/>
              <p:nvPr/>
            </p:nvSpPr>
            <p:spPr>
              <a:xfrm>
                <a:off x="7200900" y="38481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メールアドレス</a:t>
                </a:r>
              </a:p>
            </p:txBody>
          </p:sp>
          <p:sp>
            <p:nvSpPr>
              <p:cNvPr id="98" name="四角形"/>
              <p:cNvSpPr/>
              <p:nvPr/>
            </p:nvSpPr>
            <p:spPr>
              <a:xfrm>
                <a:off x="8610600" y="3848100"/>
                <a:ext cx="3048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99" name="テキスト"/>
              <p:cNvSpPr txBox="1"/>
              <p:nvPr/>
            </p:nvSpPr>
            <p:spPr>
              <a:xfrm>
                <a:off x="8724900" y="3848100"/>
                <a:ext cx="2819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taro.yamada@example.com</a:t>
                </a:r>
              </a:p>
            </p:txBody>
          </p:sp>
        </p:grpSp>
      </p:grpSp>
      <p:sp>
        <p:nvSpPr>
          <p:cNvPr id="102" name="テキスト"/>
          <p:cNvSpPr txBox="1"/>
          <p:nvPr/>
        </p:nvSpPr>
        <p:spPr>
          <a:xfrm>
            <a:off x="4038600" y="4267200"/>
            <a:ext cx="2895600" cy="1714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1215"/>
              </a:lnSpc>
              <a:buNone/>
            </a:pPr>
            <a:r>
              <a:rPr lang="ja-JP" altLang="en-US" sz="900" b="0" dirty="0">
                <a:solidFill>
                  <a:srgbClr val="DC2626"/>
                </a:solidFill>
                <a:latin typeface="Meiryo UI"/>
                <a:ea typeface="Meiryo UI"/>
              </a:rPr>
              <a:t>電話番号の桁数が足りません。</a:t>
            </a:r>
          </a:p>
        </p:txBody>
      </p:sp>
      <p:grpSp>
        <p:nvGrpSpPr>
          <p:cNvPr id="105" name="ボタン：キャンセル"/>
          <p:cNvGrpSpPr/>
          <p:nvPr/>
        </p:nvGrpSpPr>
        <p:grpSpPr>
          <a:xfrm>
            <a:off x="2400300" y="4610100"/>
            <a:ext cx="1143000" cy="381000"/>
            <a:chOff x="2400300" y="4610100"/>
            <a:chExt cx="1143000" cy="381000"/>
          </a:xfrm>
        </p:grpSpPr>
        <p:sp>
          <p:nvSpPr>
            <p:cNvPr id="103" name="四角形"/>
            <p:cNvSpPr/>
            <p:nvPr/>
          </p:nvSpPr>
          <p:spPr>
            <a:xfrm>
              <a:off x="2400300" y="46101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4" name="テキスト"/>
            <p:cNvSpPr txBox="1"/>
            <p:nvPr/>
          </p:nvSpPr>
          <p:spPr>
            <a:xfrm>
              <a:off x="2400300" y="4610100"/>
              <a:ext cx="1143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キャンセル</a:t>
              </a:r>
            </a:p>
          </p:txBody>
        </p:sp>
      </p:grpSp>
      <p:grpSp>
        <p:nvGrpSpPr>
          <p:cNvPr id="108" name="ボタン：確認へ進む"/>
          <p:cNvGrpSpPr/>
          <p:nvPr/>
        </p:nvGrpSpPr>
        <p:grpSpPr>
          <a:xfrm>
            <a:off x="10515600" y="4610100"/>
            <a:ext cx="1371600" cy="381000"/>
            <a:chOff x="10515600" y="4610100"/>
            <a:chExt cx="1371600" cy="381000"/>
          </a:xfrm>
        </p:grpSpPr>
        <p:sp>
          <p:nvSpPr>
            <p:cNvPr id="106" name="四角形"/>
            <p:cNvSpPr/>
            <p:nvPr/>
          </p:nvSpPr>
          <p:spPr>
            <a:xfrm>
              <a:off x="10515600" y="4610100"/>
              <a:ext cx="1371600" cy="381000"/>
            </a:xfrm>
            <a:prstGeom prst="roundRect">
              <a:avLst>
                <a:gd name="adj" fmla="val 15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107" name="テキスト"/>
            <p:cNvSpPr txBox="1"/>
            <p:nvPr/>
          </p:nvSpPr>
          <p:spPr>
            <a:xfrm>
              <a:off x="10515600" y="461010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確認へ進む</a:t>
              </a:r>
            </a:p>
          </p:txBody>
        </p:sp>
      </p:grpSp>
      <p:grpSp>
        <p:nvGrpSpPr>
          <p:cNvPr id="112" name="付箋：入力チェックの表示ルール"/>
          <p:cNvGrpSpPr/>
          <p:nvPr/>
        </p:nvGrpSpPr>
        <p:grpSpPr>
          <a:xfrm>
            <a:off x="2400300" y="5295900"/>
            <a:ext cx="3429000" cy="1143000"/>
            <a:chOff x="2400300" y="5295900"/>
            <a:chExt cx="3429000" cy="1143000"/>
          </a:xfrm>
        </p:grpSpPr>
        <p:sp>
          <p:nvSpPr>
            <p:cNvPr id="109" name="四角形"/>
            <p:cNvSpPr/>
            <p:nvPr/>
          </p:nvSpPr>
          <p:spPr>
            <a:xfrm>
              <a:off x="2400300" y="5295900"/>
              <a:ext cx="3429000" cy="1143000"/>
            </a:xfrm>
            <a:prstGeom prst="roundRect">
              <a:avLst>
                <a:gd name="adj" fmla="val 1667"/>
              </a:avLst>
            </a:prstGeom>
            <a:solidFill>
              <a:srgbClr val="FEF3C7"/>
            </a:solidFill>
            <a:ln w="9525">
              <a:solidFill>
                <a:srgbClr val="D0C7A3"/>
              </a:solidFill>
            </a:ln>
          </p:spPr>
        </p:sp>
        <p:sp>
          <p:nvSpPr>
            <p:cNvPr id="110" name="テキスト"/>
            <p:cNvSpPr txBox="1"/>
            <p:nvPr/>
          </p:nvSpPr>
          <p:spPr>
            <a:xfrm>
              <a:off x="2514600" y="5391150"/>
              <a:ext cx="3200400" cy="1905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78350F"/>
                  </a:solidFill>
                  <a:latin typeface="Meiryo UI"/>
                  <a:ea typeface="Meiryo UI"/>
                </a:rPr>
                <a:t>入力チェックの表示ルール</a:t>
              </a:r>
            </a:p>
          </p:txBody>
        </p:sp>
        <p:sp>
          <p:nvSpPr>
            <p:cNvPr id="111" name="テキスト"/>
            <p:cNvSpPr txBox="1"/>
            <p:nvPr/>
          </p:nvSpPr>
          <p:spPr>
            <a:xfrm>
              <a:off x="2514600" y="5619750"/>
              <a:ext cx="3200400" cy="72390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215"/>
                </a:lnSpc>
                <a:buNone/>
              </a:pPr>
              <a:r>
                <a:rPr lang="ja-JP" altLang="en-US" sz="900" b="0" dirty="0">
                  <a:solidFill>
                    <a:srgbClr val="78350F"/>
                  </a:solidFill>
                  <a:latin typeface="Meiryo UI"/>
                  <a:ea typeface="Meiryo UI"/>
                </a:rPr>
                <a:t>・エラーの項目は赤枠で囲み、すぐ下に理由を表示する</a:t>
              </a:r>
            </a:p>
            <a:p>
              <a:pPr algn="l">
                <a:lnSpc>
                  <a:spcPts val="1215"/>
                </a:lnSpc>
                <a:buNone/>
              </a:pPr>
              <a:r>
                <a:rPr lang="ja-JP" altLang="en-US" sz="900" b="0" dirty="0">
                  <a:solidFill>
                    <a:srgbClr val="78350F"/>
                  </a:solidFill>
                  <a:latin typeface="Meiryo UI"/>
                  <a:ea typeface="Meiryo UI"/>
                </a:rPr>
                <a:t>・画面上部にエラーの件数を表示する</a:t>
              </a:r>
            </a:p>
            <a:p>
              <a:pPr algn="l">
                <a:lnSpc>
                  <a:spcPts val="1215"/>
                </a:lnSpc>
                <a:buNone/>
              </a:pPr>
              <a:r>
                <a:rPr lang="ja-JP" altLang="en-US" sz="900" b="0" dirty="0">
                  <a:solidFill>
                    <a:srgbClr val="78350F"/>
                  </a:solidFill>
                  <a:latin typeface="Meiryo UI"/>
                  <a:ea typeface="Meiryo UI"/>
                </a:rPr>
                <a:t>・最初のエラー項目にカーソルを移す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削除確認（ダイアログ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四角形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833"/>
              </a:avLst>
            </a:prstGeom>
            <a:solidFill>
              <a:srgbClr val="64748B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ダイアログ：顧客の削除"/>
            <p:cNvGrpSpPr/>
            <p:nvPr/>
          </p:nvGrpSpPr>
          <p:grpSpPr>
            <a:xfrm>
              <a:off x="3810000" y="2095500"/>
              <a:ext cx="4572000" cy="2286000"/>
              <a:chOff x="3810000" y="2095500"/>
              <a:chExt cx="4572000" cy="2286000"/>
            </a:xfrm>
          </p:grpSpPr>
          <p:sp>
            <p:nvSpPr>
              <p:cNvPr id="3" name="四角形"/>
              <p:cNvSpPr/>
              <p:nvPr/>
            </p:nvSpPr>
            <p:spPr>
              <a:xfrm>
                <a:off x="3848100" y="2152650"/>
                <a:ext cx="4572000" cy="2286000"/>
              </a:xfrm>
              <a:prstGeom prst="roundRect">
                <a:avLst>
                  <a:gd name="adj" fmla="val 3333"/>
                </a:avLst>
              </a:prstGeom>
              <a:solidFill>
                <a:srgbClr val="D5DCE5"/>
              </a:solidFill>
              <a:ln>
                <a:noFill/>
              </a:ln>
            </p:spPr>
          </p:sp>
          <p:sp>
            <p:nvSpPr>
              <p:cNvPr id="4" name="四角形"/>
              <p:cNvSpPr/>
              <p:nvPr/>
            </p:nvSpPr>
            <p:spPr>
              <a:xfrm>
                <a:off x="3810000" y="2095500"/>
                <a:ext cx="4572000" cy="2286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" name="テキスト"/>
              <p:cNvSpPr txBox="1"/>
              <p:nvPr/>
            </p:nvSpPr>
            <p:spPr>
              <a:xfrm>
                <a:off x="4038600" y="2095500"/>
                <a:ext cx="3886200" cy="4953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620"/>
                  </a:lnSpc>
                  <a:buNone/>
                </a:pPr>
                <a:r>
                  <a:rPr lang="ja-JP" altLang="en-US" sz="120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顧客の削除</a:t>
                </a:r>
              </a:p>
            </p:txBody>
          </p:sp>
          <p:cxnSp>
            <p:nvCxnSpPr>
              <p:cNvPr id="6" name="線"/>
              <p:cNvCxnSpPr/>
              <p:nvPr/>
            </p:nvCxnSpPr>
            <p:spPr>
              <a:xfrm>
                <a:off x="8020050" y="2286000"/>
                <a:ext cx="114300" cy="114300"/>
              </a:xfrm>
              <a:prstGeom prst="line">
                <a:avLst/>
              </a:prstGeom>
              <a:ln w="14288">
                <a:solidFill>
                  <a:srgbClr val="64748B"/>
                </a:solidFill>
              </a:ln>
            </p:spPr>
          </p:cxnSp>
          <p:cxnSp>
            <p:nvCxnSpPr>
              <p:cNvPr id="7" name="線"/>
              <p:cNvCxnSpPr/>
              <p:nvPr/>
            </p:nvCxnSpPr>
            <p:spPr>
              <a:xfrm flipH="1">
                <a:off x="8020050" y="2286000"/>
                <a:ext cx="114300" cy="114300"/>
              </a:xfrm>
              <a:prstGeom prst="line">
                <a:avLst/>
              </a:prstGeom>
              <a:ln w="14288">
                <a:solidFill>
                  <a:srgbClr val="64748B"/>
                </a:solidFill>
              </a:ln>
            </p:spPr>
          </p:cxnSp>
          <p:cxnSp>
            <p:nvCxnSpPr>
              <p:cNvPr id="8" name="線"/>
              <p:cNvCxnSpPr/>
              <p:nvPr/>
            </p:nvCxnSpPr>
            <p:spPr>
              <a:xfrm>
                <a:off x="3810000" y="2590800"/>
                <a:ext cx="4572000" cy="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9" name="テキスト"/>
              <p:cNvSpPr txBox="1"/>
              <p:nvPr/>
            </p:nvSpPr>
            <p:spPr>
              <a:xfrm>
                <a:off x="4038600" y="2743200"/>
                <a:ext cx="4114800" cy="95250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顧客「山田 太郎（C-0012345）」を削除します。</a:t>
                </a:r>
              </a:p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削除すると元に戻せません。よろしいですか？</a:t>
                </a:r>
              </a:p>
            </p:txBody>
          </p:sp>
          <p:cxnSp>
            <p:nvCxnSpPr>
              <p:cNvPr id="10" name="線"/>
              <p:cNvCxnSpPr/>
              <p:nvPr/>
            </p:nvCxnSpPr>
            <p:spPr>
              <a:xfrm>
                <a:off x="3810000" y="3771900"/>
                <a:ext cx="4572000" cy="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1" name="四角形"/>
              <p:cNvSpPr/>
              <p:nvPr/>
            </p:nvSpPr>
            <p:spPr>
              <a:xfrm>
                <a:off x="7277100" y="3905250"/>
                <a:ext cx="9144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12" name="テキスト"/>
              <p:cNvSpPr txBox="1"/>
              <p:nvPr/>
            </p:nvSpPr>
            <p:spPr>
              <a:xfrm>
                <a:off x="7277100" y="3905250"/>
                <a:ext cx="914400" cy="3429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削除する</a:t>
                </a:r>
              </a:p>
            </p:txBody>
          </p:sp>
          <p:sp>
            <p:nvSpPr>
              <p:cNvPr id="13" name="四角形"/>
              <p:cNvSpPr/>
              <p:nvPr/>
            </p:nvSpPr>
            <p:spPr>
              <a:xfrm>
                <a:off x="6137523" y="3905250"/>
                <a:ext cx="1025277" cy="3429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14" name="テキスト"/>
              <p:cNvSpPr txBox="1"/>
              <p:nvPr/>
            </p:nvSpPr>
            <p:spPr>
              <a:xfrm>
                <a:off x="6137523" y="3905250"/>
                <a:ext cx="1025277" cy="3429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キャンセル</a:t>
                </a:r>
              </a:p>
            </p:txBody>
          </p:sp>
        </p:grpSp>
        <p:grpSp>
          <p:nvGrpSpPr>
            <p:cNvPr id="19" name="付箋：補足"/>
            <p:cNvGrpSpPr/>
            <p:nvPr/>
          </p:nvGrpSpPr>
          <p:grpSpPr>
            <a:xfrm>
              <a:off x="8763000" y="2095500"/>
              <a:ext cx="2667000" cy="1066800"/>
              <a:chOff x="8763000" y="2095500"/>
              <a:chExt cx="2667000" cy="1066800"/>
            </a:xfrm>
          </p:grpSpPr>
          <p:sp>
            <p:nvSpPr>
              <p:cNvPr id="16" name="四角形"/>
              <p:cNvSpPr/>
              <p:nvPr/>
            </p:nvSpPr>
            <p:spPr>
              <a:xfrm>
                <a:off x="8763000" y="2095500"/>
                <a:ext cx="2667000" cy="1066800"/>
              </a:xfrm>
              <a:prstGeom prst="roundRect">
                <a:avLst>
                  <a:gd name="adj" fmla="val 1786"/>
                </a:avLst>
              </a:prstGeom>
              <a:solidFill>
                <a:srgbClr val="FEF3C7"/>
              </a:solidFill>
              <a:ln w="9525">
                <a:solidFill>
                  <a:srgbClr val="D0C7A3"/>
                </a:solidFill>
              </a:ln>
            </p:spPr>
          </p:sp>
          <p:sp>
            <p:nvSpPr>
              <p:cNvPr id="17" name="テキスト"/>
              <p:cNvSpPr txBox="1"/>
              <p:nvPr/>
            </p:nvSpPr>
            <p:spPr>
              <a:xfrm>
                <a:off x="8877300" y="2190750"/>
                <a:ext cx="2438400" cy="1905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78350F"/>
                    </a:solidFill>
                    <a:latin typeface="Meiryo UI"/>
                    <a:ea typeface="Meiryo UI"/>
                  </a:rPr>
                  <a:t>補足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8877300" y="2419350"/>
                <a:ext cx="2438400" cy="64770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215"/>
                  </a:lnSpc>
                  <a:buNone/>
                </a:pPr>
                <a:r>
                  <a:rPr lang="ja-JP" altLang="en-US" sz="900" b="0" dirty="0">
                    <a:solidFill>
                      <a:srgbClr val="78350F"/>
                    </a:solidFill>
                    <a:latin typeface="Meiryo UI"/>
                    <a:ea typeface="Meiryo UI"/>
                  </a:rPr>
                  <a:t>詳細画面の「削除」から開く。</a:t>
                </a:r>
              </a:p>
              <a:p>
                <a:pPr algn="l">
                  <a:lnSpc>
                    <a:spcPts val="1215"/>
                  </a:lnSpc>
                  <a:buNone/>
                </a:pPr>
                <a:r>
                  <a:rPr lang="ja-JP" altLang="en-US" sz="900" b="0" dirty="0">
                    <a:solidFill>
                      <a:srgbClr val="78350F"/>
                    </a:solidFill>
                    <a:latin typeface="Meiryo UI"/>
                    <a:ea typeface="Meiryo UI"/>
                  </a:rPr>
                  <a:t>背景の画面は操作できない状態にする。</a:t>
                </a: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申請一覧（承認待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4" name="四角形"/>
              <p:cNvSpPr/>
              <p:nvPr/>
            </p:nvSpPr>
            <p:spPr>
              <a:xfrm>
                <a:off x="76200" y="14859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5" name="四角形"/>
              <p:cNvSpPr/>
              <p:nvPr/>
            </p:nvSpPr>
            <p:spPr>
              <a:xfrm>
                <a:off x="76200" y="15621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6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29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638175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cxnSp>
            <p:nvCxnSpPr>
              <p:cNvPr id="26" name="線"/>
              <p:cNvCxnSpPr/>
              <p:nvPr/>
            </p:nvCxnSpPr>
            <p:spPr>
              <a:xfrm>
                <a:off x="3739604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7" name="線"/>
              <p:cNvCxnSpPr/>
              <p:nvPr/>
            </p:nvCxnSpPr>
            <p:spPr>
              <a:xfrm flipH="1">
                <a:off x="3739604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8" name="テキスト"/>
              <p:cNvSpPr txBox="1"/>
              <p:nvPr/>
            </p:nvSpPr>
            <p:spPr>
              <a:xfrm>
                <a:off x="3892004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申請一覧</a:t>
                </a:r>
              </a:p>
            </p:txBody>
          </p:sp>
        </p:grpSp>
      </p:grpSp>
      <p:grpSp>
        <p:nvGrpSpPr>
          <p:cNvPr id="33" name="見出し：申請一覧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31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2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申請一覧</a:t>
              </a:r>
            </a:p>
          </p:txBody>
        </p:sp>
      </p:grpSp>
      <p:grpSp>
        <p:nvGrpSpPr>
          <p:cNvPr id="40" name="タブ"/>
          <p:cNvGrpSpPr/>
          <p:nvPr/>
        </p:nvGrpSpPr>
        <p:grpSpPr>
          <a:xfrm>
            <a:off x="2400300" y="1485900"/>
            <a:ext cx="9486900" cy="419100"/>
            <a:chOff x="2400300" y="1485900"/>
            <a:chExt cx="9486900" cy="419100"/>
          </a:xfrm>
        </p:grpSpPr>
        <p:cxnSp>
          <p:nvCxnSpPr>
            <p:cNvPr id="34" name="線"/>
            <p:cNvCxnSpPr/>
            <p:nvPr/>
          </p:nvCxnSpPr>
          <p:spPr>
            <a:xfrm>
              <a:off x="2400300" y="1895475"/>
              <a:ext cx="9486900" cy="0"/>
            </a:xfrm>
            <a:prstGeom prst="line">
              <a:avLst/>
            </a:prstGeom>
            <a:ln w="9525">
              <a:solidFill>
                <a:srgbClr val="CBD5E1"/>
              </a:solidFill>
            </a:ln>
          </p:spPr>
        </p:cxnSp>
        <p:sp>
          <p:nvSpPr>
            <p:cNvPr id="35" name="テキスト"/>
            <p:cNvSpPr txBox="1"/>
            <p:nvPr/>
          </p:nvSpPr>
          <p:spPr>
            <a:xfrm>
              <a:off x="2400300" y="1485900"/>
              <a:ext cx="1258388" cy="3905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2457C5"/>
                  </a:solidFill>
                  <a:latin typeface="Meiryo UI"/>
                  <a:ea typeface="Meiryo UI"/>
                </a:rPr>
                <a:t>承認待ち（5）</a:t>
              </a:r>
            </a:p>
          </p:txBody>
        </p:sp>
        <p:sp>
          <p:nvSpPr>
            <p:cNvPr id="36" name="四角形"/>
            <p:cNvSpPr/>
            <p:nvPr/>
          </p:nvSpPr>
          <p:spPr>
            <a:xfrm>
              <a:off x="2400300" y="1876425"/>
              <a:ext cx="1258388" cy="28575"/>
            </a:xfrm>
            <a:prstGeom prst="rect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7" name="テキスト"/>
            <p:cNvSpPr txBox="1"/>
            <p:nvPr/>
          </p:nvSpPr>
          <p:spPr>
            <a:xfrm>
              <a:off x="3658688" y="1485900"/>
              <a:ext cx="917525" cy="3905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64748B"/>
                  </a:solidFill>
                  <a:latin typeface="Meiryo UI"/>
                  <a:ea typeface="Meiryo UI"/>
                </a:rPr>
                <a:t>承認済み</a:t>
              </a:r>
            </a:p>
          </p:txBody>
        </p:sp>
        <p:sp>
          <p:nvSpPr>
            <p:cNvPr id="38" name="テキスト"/>
            <p:cNvSpPr txBox="1"/>
            <p:nvPr/>
          </p:nvSpPr>
          <p:spPr>
            <a:xfrm>
              <a:off x="4576214" y="1485900"/>
              <a:ext cx="784175" cy="3905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64748B"/>
                  </a:solidFill>
                  <a:latin typeface="Meiryo UI"/>
                  <a:ea typeface="Meiryo UI"/>
                </a:rPr>
                <a:t>差戻し</a:t>
              </a:r>
            </a:p>
          </p:txBody>
        </p:sp>
        <p:sp>
          <p:nvSpPr>
            <p:cNvPr id="39" name="テキスト"/>
            <p:cNvSpPr txBox="1"/>
            <p:nvPr/>
          </p:nvSpPr>
          <p:spPr>
            <a:xfrm>
              <a:off x="5360389" y="1485900"/>
              <a:ext cx="790426" cy="3905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64748B"/>
                  </a:solidFill>
                  <a:latin typeface="Meiryo UI"/>
                  <a:ea typeface="Meiryo UI"/>
                </a:rPr>
                <a:t>すべて</a:t>
              </a:r>
            </a:p>
          </p:txBody>
        </p:sp>
      </p:grpSp>
      <p:grpSp>
        <p:nvGrpSpPr>
          <p:cNvPr id="45" name="検索ボックス"/>
          <p:cNvGrpSpPr/>
          <p:nvPr/>
        </p:nvGrpSpPr>
        <p:grpSpPr>
          <a:xfrm>
            <a:off x="8839200" y="2057400"/>
            <a:ext cx="3048000" cy="342900"/>
            <a:chOff x="8839200" y="2057400"/>
            <a:chExt cx="3048000" cy="342900"/>
          </a:xfrm>
        </p:grpSpPr>
        <p:sp>
          <p:nvSpPr>
            <p:cNvPr id="41" name="四角形"/>
            <p:cNvSpPr/>
            <p:nvPr/>
          </p:nvSpPr>
          <p:spPr>
            <a:xfrm>
              <a:off x="8839200" y="2057400"/>
              <a:ext cx="30480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2" name="円"/>
            <p:cNvSpPr/>
            <p:nvPr/>
          </p:nvSpPr>
          <p:spPr>
            <a:xfrm>
              <a:off x="8991600" y="2152650"/>
              <a:ext cx="114300" cy="114300"/>
            </a:xfrm>
            <a:prstGeom prst="ellipse">
              <a:avLst/>
            </a:prstGeom>
            <a:noFill/>
            <a:ln w="15240">
              <a:solidFill>
                <a:srgbClr val="64748B"/>
              </a:solidFill>
            </a:ln>
          </p:spPr>
        </p:sp>
        <p:cxnSp>
          <p:nvCxnSpPr>
            <p:cNvPr id="43" name="線"/>
            <p:cNvCxnSpPr/>
            <p:nvPr/>
          </p:nvCxnSpPr>
          <p:spPr>
            <a:xfrm>
              <a:off x="9086850" y="2247900"/>
              <a:ext cx="47625" cy="47625"/>
            </a:xfrm>
            <a:prstGeom prst="line">
              <a:avLst/>
            </a:prstGeom>
            <a:ln w="15240">
              <a:solidFill>
                <a:srgbClr val="64748B"/>
              </a:solidFill>
            </a:ln>
          </p:spPr>
        </p:cxnSp>
        <p:sp>
          <p:nvSpPr>
            <p:cNvPr id="44" name="テキスト"/>
            <p:cNvSpPr txBox="1"/>
            <p:nvPr/>
          </p:nvSpPr>
          <p:spPr>
            <a:xfrm>
              <a:off x="9239250" y="2057400"/>
              <a:ext cx="24384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94A3B8"/>
                  </a:solidFill>
                  <a:latin typeface="Meiryo UI"/>
                  <a:ea typeface="Meiryo UI"/>
                </a:rPr>
                <a:t>申請番号・申請者で検索</a:t>
              </a:r>
            </a:p>
          </p:txBody>
        </p:sp>
      </p:grpSp>
      <p:sp>
        <p:nvSpPr>
          <p:cNvPr id="46" name="テキスト"/>
          <p:cNvSpPr txBox="1"/>
          <p:nvPr/>
        </p:nvSpPr>
        <p:spPr>
          <a:xfrm>
            <a:off x="2400300" y="2057400"/>
            <a:ext cx="3810000" cy="3429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1418"/>
              </a:lnSpc>
              <a:buNone/>
            </a:pPr>
            <a:r>
              <a:rPr lang="ja-JP" altLang="en-US" sz="1050" b="0" dirty="0">
                <a:solidFill>
                  <a:srgbClr val="475569"/>
                </a:solidFill>
                <a:latin typeface="Meiryo UI"/>
                <a:ea typeface="Meiryo UI"/>
              </a:rPr>
              <a:t>承認が必要な申請が 5 件あります</a:t>
            </a:r>
          </a:p>
        </p:txBody>
      </p:sp>
      <p:graphicFrame>
        <p:nvGraphicFramePr>
          <p:cNvPr id="47" name="表"/>
          <p:cNvGraphicFramePr>
            <a:graphicFrameLocks noGrp="1"/>
          </p:cNvGraphicFramePr>
          <p:nvPr/>
        </p:nvGraphicFramePr>
        <p:xfrm>
          <a:off x="2400300" y="2552700"/>
          <a:ext cx="9486900" cy="2057400"/>
        </p:xfrm>
        <a:graphic>
          <a:graphicData uri="http://schemas.openxmlformats.org/drawingml/2006/table">
            <a:tbl>
              <a:tblPr firstRow="1"/>
              <a:tblGrid>
                <a:gridCol w="1409700"/>
                <a:gridCol w="1285875"/>
                <a:gridCol w="1876425"/>
                <a:gridCol w="1285875"/>
                <a:gridCol w="1285875"/>
                <a:gridCol w="1285875"/>
                <a:gridCol w="1057275"/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申請番号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申請日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申請種別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申請者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金額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期限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状態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R-2026-0142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2026/10/24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経費精算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高橋 健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48,200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10/28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至急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R-2026-0139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2026/10/23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出張申請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伊藤 由美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126,000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10/30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承認待ち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R-2026-0137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2026/10/22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備品購入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佐藤 花子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23,800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11/05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承認待ち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R-2026-0135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経費精算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田中 健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9,640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11/05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承認待ち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R-2026-0131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休暇申請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鈴木 一郎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—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10/27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承認待ち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5" name="ページ送り"/>
          <p:cNvGrpSpPr/>
          <p:nvPr/>
        </p:nvGrpSpPr>
        <p:grpSpPr>
          <a:xfrm>
            <a:off x="8267700" y="4762500"/>
            <a:ext cx="3619500" cy="304800"/>
            <a:chOff x="8267700" y="4762500"/>
            <a:chExt cx="3619500" cy="304800"/>
          </a:xfrm>
        </p:grpSpPr>
        <p:sp>
          <p:nvSpPr>
            <p:cNvPr id="48" name="テキスト"/>
            <p:cNvSpPr txBox="1"/>
            <p:nvPr/>
          </p:nvSpPr>
          <p:spPr>
            <a:xfrm>
              <a:off x="8267700" y="4762500"/>
              <a:ext cx="24765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64748B"/>
                  </a:solidFill>
                  <a:latin typeface="Meiryo UI"/>
                  <a:ea typeface="Meiryo UI"/>
                </a:rPr>
                <a:t>全 5 件</a:t>
              </a:r>
            </a:p>
          </p:txBody>
        </p:sp>
        <p:sp>
          <p:nvSpPr>
            <p:cNvPr id="49" name="四角形"/>
            <p:cNvSpPr/>
            <p:nvPr/>
          </p:nvSpPr>
          <p:spPr>
            <a:xfrm>
              <a:off x="10858500" y="47625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0" name="テキスト"/>
            <p:cNvSpPr txBox="1"/>
            <p:nvPr/>
          </p:nvSpPr>
          <p:spPr>
            <a:xfrm>
              <a:off x="10858500" y="47625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‹</a:t>
              </a:r>
            </a:p>
          </p:txBody>
        </p:sp>
        <p:sp>
          <p:nvSpPr>
            <p:cNvPr id="51" name="四角形"/>
            <p:cNvSpPr/>
            <p:nvPr/>
          </p:nvSpPr>
          <p:spPr>
            <a:xfrm>
              <a:off x="11220450" y="47625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52" name="テキスト"/>
            <p:cNvSpPr txBox="1"/>
            <p:nvPr/>
          </p:nvSpPr>
          <p:spPr>
            <a:xfrm>
              <a:off x="11220450" y="47625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1</a:t>
              </a:r>
            </a:p>
          </p:txBody>
        </p:sp>
        <p:sp>
          <p:nvSpPr>
            <p:cNvPr id="53" name="四角形"/>
            <p:cNvSpPr/>
            <p:nvPr/>
          </p:nvSpPr>
          <p:spPr>
            <a:xfrm>
              <a:off x="11582400" y="47625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4" name="テキスト"/>
            <p:cNvSpPr txBox="1"/>
            <p:nvPr/>
          </p:nvSpPr>
          <p:spPr>
            <a:xfrm>
              <a:off x="11582400" y="47625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›</a:t>
              </a:r>
            </a:p>
          </p:txBody>
        </p:sp>
      </p:grpSp>
      <p:grpSp>
        <p:nvGrpSpPr>
          <p:cNvPr id="60" name="メッセージ：期限を過ぎた申請は、自動的に上長の上長へ回送されます。"/>
          <p:cNvGrpSpPr/>
          <p:nvPr/>
        </p:nvGrpSpPr>
        <p:grpSpPr>
          <a:xfrm>
            <a:off x="2400300" y="5295900"/>
            <a:ext cx="9486900" cy="419100"/>
            <a:chOff x="2400300" y="5295900"/>
            <a:chExt cx="9486900" cy="419100"/>
          </a:xfrm>
        </p:grpSpPr>
        <p:sp>
          <p:nvSpPr>
            <p:cNvPr id="56" name="四角形"/>
            <p:cNvSpPr/>
            <p:nvPr/>
          </p:nvSpPr>
          <p:spPr>
            <a:xfrm>
              <a:off x="2400300" y="5295900"/>
              <a:ext cx="9486900" cy="419100"/>
            </a:xfrm>
            <a:prstGeom prst="roundRect">
              <a:avLst>
                <a:gd name="adj" fmla="val 13636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57" name="円"/>
            <p:cNvSpPr/>
            <p:nvPr/>
          </p:nvSpPr>
          <p:spPr>
            <a:xfrm>
              <a:off x="2533650" y="5410200"/>
              <a:ext cx="190500" cy="19050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</p:sp>
        <p:sp>
          <p:nvSpPr>
            <p:cNvPr id="58" name="テキスト"/>
            <p:cNvSpPr txBox="1"/>
            <p:nvPr/>
          </p:nvSpPr>
          <p:spPr>
            <a:xfrm>
              <a:off x="2533650" y="5410200"/>
              <a:ext cx="190500" cy="1905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i</a:t>
              </a:r>
            </a:p>
          </p:txBody>
        </p:sp>
        <p:sp>
          <p:nvSpPr>
            <p:cNvPr id="59" name="テキスト"/>
            <p:cNvSpPr txBox="1"/>
            <p:nvPr/>
          </p:nvSpPr>
          <p:spPr>
            <a:xfrm>
              <a:off x="2838450" y="5295900"/>
              <a:ext cx="8915400" cy="4191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475569"/>
                  </a:solidFill>
                  <a:latin typeface="Meiryo UI"/>
                  <a:ea typeface="Meiryo UI"/>
                </a:rPr>
                <a:t>期限を過ぎた申請は、自動的に上長の上長へ回送されます。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申請詳細（承認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4" name="四角形"/>
              <p:cNvSpPr/>
              <p:nvPr/>
            </p:nvSpPr>
            <p:spPr>
              <a:xfrm>
                <a:off x="76200" y="14859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5" name="四角形"/>
              <p:cNvSpPr/>
              <p:nvPr/>
            </p:nvSpPr>
            <p:spPr>
              <a:xfrm>
                <a:off x="76200" y="15621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6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32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638175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cxnSp>
            <p:nvCxnSpPr>
              <p:cNvPr id="26" name="線"/>
              <p:cNvCxnSpPr/>
              <p:nvPr/>
            </p:nvCxnSpPr>
            <p:spPr>
              <a:xfrm>
                <a:off x="3739604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7" name="線"/>
              <p:cNvCxnSpPr/>
              <p:nvPr/>
            </p:nvCxnSpPr>
            <p:spPr>
              <a:xfrm flipH="1">
                <a:off x="3739604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8" name="テキスト"/>
              <p:cNvSpPr txBox="1"/>
              <p:nvPr/>
            </p:nvSpPr>
            <p:spPr>
              <a:xfrm>
                <a:off x="3892004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申請一覧</a:t>
                </a:r>
              </a:p>
            </p:txBody>
          </p:sp>
          <p:cxnSp>
            <p:nvCxnSpPr>
              <p:cNvPr id="29" name="線"/>
              <p:cNvCxnSpPr/>
              <p:nvPr/>
            </p:nvCxnSpPr>
            <p:spPr>
              <a:xfrm>
                <a:off x="4482554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30" name="線"/>
              <p:cNvCxnSpPr/>
              <p:nvPr/>
            </p:nvCxnSpPr>
            <p:spPr>
              <a:xfrm flipH="1">
                <a:off x="4482554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31" name="テキスト"/>
              <p:cNvSpPr txBox="1"/>
              <p:nvPr/>
            </p:nvSpPr>
            <p:spPr>
              <a:xfrm>
                <a:off x="4634954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申請詳細</a:t>
                </a:r>
              </a:p>
            </p:txBody>
          </p:sp>
        </p:grpSp>
      </p:grpSp>
      <p:grpSp>
        <p:nvGrpSpPr>
          <p:cNvPr id="36" name="見出し：経費精算　R-2026-0142"/>
          <p:cNvGrpSpPr/>
          <p:nvPr/>
        </p:nvGrpSpPr>
        <p:grpSpPr>
          <a:xfrm>
            <a:off x="2400300" y="990600"/>
            <a:ext cx="3429000" cy="381000"/>
            <a:chOff x="2400300" y="990600"/>
            <a:chExt cx="3429000" cy="381000"/>
          </a:xfrm>
        </p:grpSpPr>
        <p:sp>
          <p:nvSpPr>
            <p:cNvPr id="34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5" name="テキスト"/>
            <p:cNvSpPr txBox="1"/>
            <p:nvPr/>
          </p:nvSpPr>
          <p:spPr>
            <a:xfrm>
              <a:off x="2552700" y="990600"/>
              <a:ext cx="3276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経費精算　R-2026-0142</a:t>
              </a:r>
            </a:p>
          </p:txBody>
        </p:sp>
      </p:grpSp>
      <p:grpSp>
        <p:nvGrpSpPr>
          <p:cNvPr id="39" name="ステータス：至急"/>
          <p:cNvGrpSpPr/>
          <p:nvPr/>
        </p:nvGrpSpPr>
        <p:grpSpPr>
          <a:xfrm>
            <a:off x="5905500" y="1057275"/>
            <a:ext cx="609600" cy="247650"/>
            <a:chOff x="5905500" y="1057275"/>
            <a:chExt cx="609600" cy="247650"/>
          </a:xfrm>
        </p:grpSpPr>
        <p:sp>
          <p:nvSpPr>
            <p:cNvPr id="37" name="四角形"/>
            <p:cNvSpPr/>
            <p:nvPr/>
          </p:nvSpPr>
          <p:spPr>
            <a:xfrm>
              <a:off x="5905500" y="105727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38" name="テキスト"/>
            <p:cNvSpPr txBox="1"/>
            <p:nvPr/>
          </p:nvSpPr>
          <p:spPr>
            <a:xfrm>
              <a:off x="5905500" y="1057275"/>
              <a:ext cx="609600" cy="24765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215"/>
                </a:lnSpc>
                <a:buNone/>
              </a:pPr>
              <a:r>
                <a:rPr lang="ja-JP" altLang="en-US" sz="900" b="1" dirty="0">
                  <a:solidFill>
                    <a:srgbClr val="B91C1C"/>
                  </a:solidFill>
                  <a:latin typeface="Meiryo UI"/>
                  <a:ea typeface="Meiryo UI"/>
                </a:rPr>
                <a:t>至急</a:t>
              </a:r>
            </a:p>
          </p:txBody>
        </p:sp>
      </p:grpSp>
      <p:grpSp>
        <p:nvGrpSpPr>
          <p:cNvPr id="66" name="グループ"/>
          <p:cNvGrpSpPr/>
          <p:nvPr/>
        </p:nvGrpSpPr>
        <p:grpSpPr>
          <a:xfrm>
            <a:off x="2400300" y="1485900"/>
            <a:ext cx="6096000" cy="3238500"/>
            <a:chOff x="2400300" y="1485900"/>
            <a:chExt cx="6096000" cy="3238500"/>
          </a:xfrm>
        </p:grpSpPr>
        <p:grpSp>
          <p:nvGrpSpPr>
            <p:cNvPr id="45" name="グループ枠：申請内容"/>
            <p:cNvGrpSpPr/>
            <p:nvPr/>
          </p:nvGrpSpPr>
          <p:grpSpPr>
            <a:xfrm>
              <a:off x="2400300" y="1485900"/>
              <a:ext cx="6096000" cy="3238500"/>
              <a:chOff x="2400300" y="1485900"/>
              <a:chExt cx="6096000" cy="3238500"/>
            </a:xfrm>
          </p:grpSpPr>
          <p:sp>
            <p:nvSpPr>
              <p:cNvPr id="40" name="四角形"/>
              <p:cNvSpPr/>
              <p:nvPr/>
            </p:nvSpPr>
            <p:spPr>
              <a:xfrm>
                <a:off x="2400300" y="1485900"/>
                <a:ext cx="6096000" cy="3238500"/>
              </a:xfrm>
              <a:prstGeom prst="roundRect">
                <a:avLst>
                  <a:gd name="adj" fmla="val 1765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1" name="四角形"/>
              <p:cNvSpPr/>
              <p:nvPr/>
            </p:nvSpPr>
            <p:spPr>
              <a:xfrm>
                <a:off x="2409825" y="1495425"/>
                <a:ext cx="60769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42" name="四角形"/>
              <p:cNvSpPr/>
              <p:nvPr/>
            </p:nvSpPr>
            <p:spPr>
              <a:xfrm>
                <a:off x="2409825" y="1676400"/>
                <a:ext cx="60769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43" name="線"/>
              <p:cNvCxnSpPr/>
              <p:nvPr/>
            </p:nvCxnSpPr>
            <p:spPr>
              <a:xfrm>
                <a:off x="2400300" y="1876425"/>
                <a:ext cx="60960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44" name="テキスト"/>
              <p:cNvSpPr txBox="1"/>
              <p:nvPr/>
            </p:nvSpPr>
            <p:spPr>
              <a:xfrm>
                <a:off x="2552700" y="1495425"/>
                <a:ext cx="57912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申請内容</a:t>
                </a:r>
              </a:p>
            </p:txBody>
          </p:sp>
        </p:grpSp>
        <p:sp>
          <p:nvSpPr>
            <p:cNvPr id="46" name="テキスト"/>
            <p:cNvSpPr txBox="1"/>
            <p:nvPr/>
          </p:nvSpPr>
          <p:spPr>
            <a:xfrm>
              <a:off x="2628900" y="192405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申請者</a:t>
              </a:r>
            </a:p>
          </p:txBody>
        </p:sp>
        <p:sp>
          <p:nvSpPr>
            <p:cNvPr id="47" name="テキスト"/>
            <p:cNvSpPr txBox="1"/>
            <p:nvPr/>
          </p:nvSpPr>
          <p:spPr>
            <a:xfrm>
              <a:off x="4000500" y="1924050"/>
              <a:ext cx="42672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高橋 健（営業第二部）</a:t>
              </a:r>
            </a:p>
          </p:txBody>
        </p:sp>
        <p:cxnSp>
          <p:nvCxnSpPr>
            <p:cNvPr id="48" name="線"/>
            <p:cNvCxnSpPr/>
            <p:nvPr/>
          </p:nvCxnSpPr>
          <p:spPr>
            <a:xfrm>
              <a:off x="2628900" y="23050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49" name="テキスト"/>
            <p:cNvSpPr txBox="1"/>
            <p:nvPr/>
          </p:nvSpPr>
          <p:spPr>
            <a:xfrm>
              <a:off x="2628900" y="230505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申請日</a:t>
              </a:r>
            </a:p>
          </p:txBody>
        </p:sp>
        <p:sp>
          <p:nvSpPr>
            <p:cNvPr id="50" name="テキスト"/>
            <p:cNvSpPr txBox="1"/>
            <p:nvPr/>
          </p:nvSpPr>
          <p:spPr>
            <a:xfrm>
              <a:off x="4000500" y="2305050"/>
              <a:ext cx="42672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2026/10/24</a:t>
              </a:r>
            </a:p>
          </p:txBody>
        </p:sp>
        <p:cxnSp>
          <p:nvCxnSpPr>
            <p:cNvPr id="51" name="線"/>
            <p:cNvCxnSpPr/>
            <p:nvPr/>
          </p:nvCxnSpPr>
          <p:spPr>
            <a:xfrm>
              <a:off x="2628900" y="26860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52" name="テキスト"/>
            <p:cNvSpPr txBox="1"/>
            <p:nvPr/>
          </p:nvSpPr>
          <p:spPr>
            <a:xfrm>
              <a:off x="2628900" y="268605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件名</a:t>
              </a:r>
            </a:p>
          </p:txBody>
        </p:sp>
        <p:sp>
          <p:nvSpPr>
            <p:cNvPr id="53" name="テキスト"/>
            <p:cNvSpPr txBox="1"/>
            <p:nvPr/>
          </p:nvSpPr>
          <p:spPr>
            <a:xfrm>
              <a:off x="4000500" y="2686050"/>
              <a:ext cx="42672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顧客訪問の交通費・会議費</a:t>
              </a:r>
            </a:p>
          </p:txBody>
        </p:sp>
        <p:cxnSp>
          <p:nvCxnSpPr>
            <p:cNvPr id="54" name="線"/>
            <p:cNvCxnSpPr/>
            <p:nvPr/>
          </p:nvCxnSpPr>
          <p:spPr>
            <a:xfrm>
              <a:off x="2628900" y="30670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55" name="テキスト"/>
            <p:cNvSpPr txBox="1"/>
            <p:nvPr/>
          </p:nvSpPr>
          <p:spPr>
            <a:xfrm>
              <a:off x="2628900" y="306705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金額</a:t>
              </a:r>
            </a:p>
          </p:txBody>
        </p:sp>
        <p:sp>
          <p:nvSpPr>
            <p:cNvPr id="56" name="テキスト"/>
            <p:cNvSpPr txBox="1"/>
            <p:nvPr/>
          </p:nvSpPr>
          <p:spPr>
            <a:xfrm>
              <a:off x="4000500" y="3067050"/>
              <a:ext cx="42672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48,200 円</a:t>
              </a:r>
            </a:p>
          </p:txBody>
        </p:sp>
        <p:cxnSp>
          <p:nvCxnSpPr>
            <p:cNvPr id="57" name="線"/>
            <p:cNvCxnSpPr/>
            <p:nvPr/>
          </p:nvCxnSpPr>
          <p:spPr>
            <a:xfrm>
              <a:off x="2628900" y="34480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58" name="テキスト"/>
            <p:cNvSpPr txBox="1"/>
            <p:nvPr/>
          </p:nvSpPr>
          <p:spPr>
            <a:xfrm>
              <a:off x="2628900" y="344805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支払先</a:t>
              </a:r>
            </a:p>
          </p:txBody>
        </p:sp>
        <p:sp>
          <p:nvSpPr>
            <p:cNvPr id="59" name="テキスト"/>
            <p:cNvSpPr txBox="1"/>
            <p:nvPr/>
          </p:nvSpPr>
          <p:spPr>
            <a:xfrm>
              <a:off x="4000500" y="3448050"/>
              <a:ext cx="42672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本人口座</a:t>
              </a:r>
            </a:p>
          </p:txBody>
        </p:sp>
        <p:cxnSp>
          <p:nvCxnSpPr>
            <p:cNvPr id="60" name="線"/>
            <p:cNvCxnSpPr/>
            <p:nvPr/>
          </p:nvCxnSpPr>
          <p:spPr>
            <a:xfrm>
              <a:off x="2628900" y="38290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61" name="テキスト"/>
            <p:cNvSpPr txBox="1"/>
            <p:nvPr/>
          </p:nvSpPr>
          <p:spPr>
            <a:xfrm>
              <a:off x="2628900" y="382905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添付書類</a:t>
              </a:r>
            </a:p>
          </p:txBody>
        </p:sp>
        <p:sp>
          <p:nvSpPr>
            <p:cNvPr id="62" name="テキスト"/>
            <p:cNvSpPr txBox="1"/>
            <p:nvPr/>
          </p:nvSpPr>
          <p:spPr>
            <a:xfrm>
              <a:off x="4000500" y="3829050"/>
              <a:ext cx="42672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領収書 3 件（PDF）</a:t>
              </a:r>
            </a:p>
          </p:txBody>
        </p:sp>
        <p:cxnSp>
          <p:nvCxnSpPr>
            <p:cNvPr id="63" name="線"/>
            <p:cNvCxnSpPr/>
            <p:nvPr/>
          </p:nvCxnSpPr>
          <p:spPr>
            <a:xfrm>
              <a:off x="2628900" y="4210050"/>
              <a:ext cx="56388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64" name="テキスト"/>
            <p:cNvSpPr txBox="1"/>
            <p:nvPr/>
          </p:nvSpPr>
          <p:spPr>
            <a:xfrm>
              <a:off x="2628900" y="4210050"/>
              <a:ext cx="1371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申請理由</a:t>
              </a:r>
            </a:p>
          </p:txBody>
        </p:sp>
        <p:sp>
          <p:nvSpPr>
            <p:cNvPr id="65" name="テキスト"/>
            <p:cNvSpPr txBox="1"/>
            <p:nvPr/>
          </p:nvSpPr>
          <p:spPr>
            <a:xfrm>
              <a:off x="4000500" y="4210050"/>
              <a:ext cx="42672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10月の顧客訪問（3社）に伴う交通費と会議費</a:t>
              </a:r>
            </a:p>
          </p:txBody>
        </p:sp>
      </p:grpSp>
      <p:grpSp>
        <p:nvGrpSpPr>
          <p:cNvPr id="84" name="グループ"/>
          <p:cNvGrpSpPr/>
          <p:nvPr/>
        </p:nvGrpSpPr>
        <p:grpSpPr>
          <a:xfrm>
            <a:off x="8648700" y="1485900"/>
            <a:ext cx="3238500" cy="3238500"/>
            <a:chOff x="8648700" y="1485900"/>
            <a:chExt cx="3238500" cy="3238500"/>
          </a:xfrm>
        </p:grpSpPr>
        <p:grpSp>
          <p:nvGrpSpPr>
            <p:cNvPr id="72" name="グループ枠：承認の流れ"/>
            <p:cNvGrpSpPr/>
            <p:nvPr/>
          </p:nvGrpSpPr>
          <p:grpSpPr>
            <a:xfrm>
              <a:off x="8648700" y="1485900"/>
              <a:ext cx="3238500" cy="3238500"/>
              <a:chOff x="8648700" y="1485900"/>
              <a:chExt cx="3238500" cy="3238500"/>
            </a:xfrm>
          </p:grpSpPr>
          <p:sp>
            <p:nvSpPr>
              <p:cNvPr id="67" name="四角形"/>
              <p:cNvSpPr/>
              <p:nvPr/>
            </p:nvSpPr>
            <p:spPr>
              <a:xfrm>
                <a:off x="8648700" y="1485900"/>
                <a:ext cx="3238500" cy="3238500"/>
              </a:xfrm>
              <a:prstGeom prst="roundRect">
                <a:avLst>
                  <a:gd name="adj" fmla="val 1765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8" name="四角形"/>
              <p:cNvSpPr/>
              <p:nvPr/>
            </p:nvSpPr>
            <p:spPr>
              <a:xfrm>
                <a:off x="8658225" y="1495425"/>
                <a:ext cx="32194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69" name="四角形"/>
              <p:cNvSpPr/>
              <p:nvPr/>
            </p:nvSpPr>
            <p:spPr>
              <a:xfrm>
                <a:off x="8658225" y="1676400"/>
                <a:ext cx="32194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70" name="線"/>
              <p:cNvCxnSpPr/>
              <p:nvPr/>
            </p:nvCxnSpPr>
            <p:spPr>
              <a:xfrm>
                <a:off x="8648700" y="1876425"/>
                <a:ext cx="32385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71" name="テキスト"/>
              <p:cNvSpPr txBox="1"/>
              <p:nvPr/>
            </p:nvSpPr>
            <p:spPr>
              <a:xfrm>
                <a:off x="8801100" y="1495425"/>
                <a:ext cx="29337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承認の流れ</a:t>
                </a:r>
              </a:p>
            </p:txBody>
          </p:sp>
        </p:grpSp>
        <p:sp>
          <p:nvSpPr>
            <p:cNvPr id="73" name="テキスト"/>
            <p:cNvSpPr txBox="1"/>
            <p:nvPr/>
          </p:nvSpPr>
          <p:spPr>
            <a:xfrm>
              <a:off x="8801100" y="1924050"/>
              <a:ext cx="10287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申請</a:t>
              </a:r>
            </a:p>
          </p:txBody>
        </p:sp>
        <p:sp>
          <p:nvSpPr>
            <p:cNvPr id="74" name="テキスト"/>
            <p:cNvSpPr txBox="1"/>
            <p:nvPr/>
          </p:nvSpPr>
          <p:spPr>
            <a:xfrm>
              <a:off x="9829800" y="1924050"/>
              <a:ext cx="1905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高橋 健　10/24</a:t>
              </a:r>
            </a:p>
          </p:txBody>
        </p:sp>
        <p:cxnSp>
          <p:nvCxnSpPr>
            <p:cNvPr id="75" name="線"/>
            <p:cNvCxnSpPr/>
            <p:nvPr/>
          </p:nvCxnSpPr>
          <p:spPr>
            <a:xfrm>
              <a:off x="8801100" y="2305050"/>
              <a:ext cx="2933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76" name="テキスト"/>
            <p:cNvSpPr txBox="1"/>
            <p:nvPr/>
          </p:nvSpPr>
          <p:spPr>
            <a:xfrm>
              <a:off x="8801100" y="2305050"/>
              <a:ext cx="10287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課長</a:t>
              </a:r>
            </a:p>
          </p:txBody>
        </p:sp>
        <p:sp>
          <p:nvSpPr>
            <p:cNvPr id="77" name="テキスト"/>
            <p:cNvSpPr txBox="1"/>
            <p:nvPr/>
          </p:nvSpPr>
          <p:spPr>
            <a:xfrm>
              <a:off x="9829800" y="2305050"/>
              <a:ext cx="1905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山田 太郎　未承認</a:t>
              </a:r>
            </a:p>
          </p:txBody>
        </p:sp>
        <p:cxnSp>
          <p:nvCxnSpPr>
            <p:cNvPr id="78" name="線"/>
            <p:cNvCxnSpPr/>
            <p:nvPr/>
          </p:nvCxnSpPr>
          <p:spPr>
            <a:xfrm>
              <a:off x="8801100" y="2686050"/>
              <a:ext cx="2933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79" name="テキスト"/>
            <p:cNvSpPr txBox="1"/>
            <p:nvPr/>
          </p:nvSpPr>
          <p:spPr>
            <a:xfrm>
              <a:off x="8801100" y="2686050"/>
              <a:ext cx="10287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部長</a:t>
              </a:r>
            </a:p>
          </p:txBody>
        </p:sp>
        <p:sp>
          <p:nvSpPr>
            <p:cNvPr id="80" name="テキスト"/>
            <p:cNvSpPr txBox="1"/>
            <p:nvPr/>
          </p:nvSpPr>
          <p:spPr>
            <a:xfrm>
              <a:off x="9829800" y="2686050"/>
              <a:ext cx="1905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—</a:t>
              </a:r>
            </a:p>
          </p:txBody>
        </p:sp>
        <p:cxnSp>
          <p:nvCxnSpPr>
            <p:cNvPr id="81" name="線"/>
            <p:cNvCxnSpPr/>
            <p:nvPr/>
          </p:nvCxnSpPr>
          <p:spPr>
            <a:xfrm>
              <a:off x="8801100" y="3067050"/>
              <a:ext cx="2933700" cy="0"/>
            </a:xfrm>
            <a:prstGeom prst="line">
              <a:avLst/>
            </a:prstGeom>
            <a:ln w="9525">
              <a:solidFill>
                <a:srgbClr val="E2E8F0"/>
              </a:solidFill>
            </a:ln>
          </p:spPr>
        </p:cxnSp>
        <p:sp>
          <p:nvSpPr>
            <p:cNvPr id="82" name="テキスト"/>
            <p:cNvSpPr txBox="1"/>
            <p:nvPr/>
          </p:nvSpPr>
          <p:spPr>
            <a:xfrm>
              <a:off x="8801100" y="3067050"/>
              <a:ext cx="10287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475569"/>
                  </a:solidFill>
                  <a:latin typeface="Meiryo UI"/>
                  <a:ea typeface="Meiryo UI"/>
                </a:rPr>
                <a:t>経理</a:t>
              </a:r>
            </a:p>
          </p:txBody>
        </p:sp>
        <p:sp>
          <p:nvSpPr>
            <p:cNvPr id="83" name="テキスト"/>
            <p:cNvSpPr txBox="1"/>
            <p:nvPr/>
          </p:nvSpPr>
          <p:spPr>
            <a:xfrm>
              <a:off x="9829800" y="3067050"/>
              <a:ext cx="1905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—</a:t>
              </a:r>
            </a:p>
          </p:txBody>
        </p:sp>
      </p:grpSp>
      <p:grpSp>
        <p:nvGrpSpPr>
          <p:cNvPr id="88" name="テキストエリア：コメント"/>
          <p:cNvGrpSpPr/>
          <p:nvPr/>
        </p:nvGrpSpPr>
        <p:grpSpPr>
          <a:xfrm>
            <a:off x="2400300" y="4876800"/>
            <a:ext cx="9486900" cy="990600"/>
            <a:chOff x="2400300" y="4876800"/>
            <a:chExt cx="9486900" cy="990600"/>
          </a:xfrm>
        </p:grpSpPr>
        <p:sp>
          <p:nvSpPr>
            <p:cNvPr id="85" name="テキスト"/>
            <p:cNvSpPr txBox="1"/>
            <p:nvPr/>
          </p:nvSpPr>
          <p:spPr>
            <a:xfrm>
              <a:off x="2400300" y="4876800"/>
              <a:ext cx="9486900" cy="20955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1F2937"/>
                  </a:solidFill>
                  <a:latin typeface="Meiryo UI"/>
                  <a:ea typeface="Meiryo UI"/>
                </a:rPr>
                <a:t>コメント</a:t>
              </a:r>
            </a:p>
          </p:txBody>
        </p:sp>
        <p:sp>
          <p:nvSpPr>
            <p:cNvPr id="86" name="四角形"/>
            <p:cNvSpPr/>
            <p:nvPr/>
          </p:nvSpPr>
          <p:spPr>
            <a:xfrm>
              <a:off x="2400300" y="5124450"/>
              <a:ext cx="9486900" cy="742950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7" name="テキスト"/>
            <p:cNvSpPr txBox="1"/>
            <p:nvPr/>
          </p:nvSpPr>
          <p:spPr>
            <a:xfrm>
              <a:off x="2514600" y="5219700"/>
              <a:ext cx="9258300" cy="55245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94A3B8"/>
                  </a:solidFill>
                  <a:latin typeface="Meiryo UI"/>
                  <a:ea typeface="Meiryo UI"/>
                </a:rPr>
                <a:t>差し戻す場合は理由を入力してください</a:t>
              </a:r>
            </a:p>
          </p:txBody>
        </p:sp>
      </p:grpSp>
      <p:grpSp>
        <p:nvGrpSpPr>
          <p:cNvPr id="91" name="ボタン：一覧に戻る"/>
          <p:cNvGrpSpPr/>
          <p:nvPr/>
        </p:nvGrpSpPr>
        <p:grpSpPr>
          <a:xfrm>
            <a:off x="2400300" y="6096000"/>
            <a:ext cx="1143000" cy="381000"/>
            <a:chOff x="2400300" y="6096000"/>
            <a:chExt cx="1143000" cy="381000"/>
          </a:xfrm>
        </p:grpSpPr>
        <p:sp>
          <p:nvSpPr>
            <p:cNvPr id="89" name="四角形"/>
            <p:cNvSpPr/>
            <p:nvPr/>
          </p:nvSpPr>
          <p:spPr>
            <a:xfrm>
              <a:off x="2400300" y="6096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0" name="テキスト"/>
            <p:cNvSpPr txBox="1"/>
            <p:nvPr/>
          </p:nvSpPr>
          <p:spPr>
            <a:xfrm>
              <a:off x="2400300" y="6096000"/>
              <a:ext cx="1143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一覧に戻る</a:t>
              </a:r>
            </a:p>
          </p:txBody>
        </p:sp>
      </p:grpSp>
      <p:grpSp>
        <p:nvGrpSpPr>
          <p:cNvPr id="94" name="ボタン：差し戻す"/>
          <p:cNvGrpSpPr/>
          <p:nvPr/>
        </p:nvGrpSpPr>
        <p:grpSpPr>
          <a:xfrm>
            <a:off x="9334500" y="6096000"/>
            <a:ext cx="1143000" cy="381000"/>
            <a:chOff x="9334500" y="6096000"/>
            <a:chExt cx="1143000" cy="381000"/>
          </a:xfrm>
        </p:grpSpPr>
        <p:sp>
          <p:nvSpPr>
            <p:cNvPr id="92" name="四角形"/>
            <p:cNvSpPr/>
            <p:nvPr/>
          </p:nvSpPr>
          <p:spPr>
            <a:xfrm>
              <a:off x="9334500" y="6096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DC2626"/>
              </a:solidFill>
            </a:ln>
          </p:spPr>
        </p:sp>
        <p:sp>
          <p:nvSpPr>
            <p:cNvPr id="93" name="テキスト"/>
            <p:cNvSpPr txBox="1"/>
            <p:nvPr/>
          </p:nvSpPr>
          <p:spPr>
            <a:xfrm>
              <a:off x="9334500" y="6096000"/>
              <a:ext cx="1143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DC2626"/>
                  </a:solidFill>
                  <a:latin typeface="Meiryo UI"/>
                  <a:ea typeface="Meiryo UI"/>
                </a:rPr>
                <a:t>差し戻す</a:t>
              </a:r>
            </a:p>
          </p:txBody>
        </p:sp>
      </p:grpSp>
      <p:grpSp>
        <p:nvGrpSpPr>
          <p:cNvPr id="97" name="ボタン：承認する"/>
          <p:cNvGrpSpPr/>
          <p:nvPr/>
        </p:nvGrpSpPr>
        <p:grpSpPr>
          <a:xfrm>
            <a:off x="10591800" y="6096000"/>
            <a:ext cx="1295400" cy="381000"/>
            <a:chOff x="10591800" y="6096000"/>
            <a:chExt cx="1295400" cy="381000"/>
          </a:xfrm>
        </p:grpSpPr>
        <p:sp>
          <p:nvSpPr>
            <p:cNvPr id="95" name="四角形"/>
            <p:cNvSpPr/>
            <p:nvPr/>
          </p:nvSpPr>
          <p:spPr>
            <a:xfrm>
              <a:off x="10591800" y="6096000"/>
              <a:ext cx="1295400" cy="381000"/>
            </a:xfrm>
            <a:prstGeom prst="roundRect">
              <a:avLst>
                <a:gd name="adj" fmla="val 15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96" name="テキスト"/>
            <p:cNvSpPr txBox="1"/>
            <p:nvPr/>
          </p:nvSpPr>
          <p:spPr>
            <a:xfrm>
              <a:off x="10591800" y="6096000"/>
              <a:ext cx="12954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承認する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マスタ管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4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5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6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7" name="四角形"/>
              <p:cNvSpPr/>
              <p:nvPr/>
            </p:nvSpPr>
            <p:spPr>
              <a:xfrm>
                <a:off x="76200" y="27432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8" name="四角形"/>
              <p:cNvSpPr/>
              <p:nvPr/>
            </p:nvSpPr>
            <p:spPr>
              <a:xfrm>
                <a:off x="76200" y="28194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29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646881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cxnSp>
            <p:nvCxnSpPr>
              <p:cNvPr id="26" name="線"/>
              <p:cNvCxnSpPr/>
              <p:nvPr/>
            </p:nvCxnSpPr>
            <p:spPr>
              <a:xfrm>
                <a:off x="3748311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7" name="線"/>
              <p:cNvCxnSpPr/>
              <p:nvPr/>
            </p:nvCxnSpPr>
            <p:spPr>
              <a:xfrm flipH="1">
                <a:off x="3748311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8" name="テキスト"/>
              <p:cNvSpPr txBox="1"/>
              <p:nvPr/>
            </p:nvSpPr>
            <p:spPr>
              <a:xfrm>
                <a:off x="3900711" y="723900"/>
                <a:ext cx="646881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店舗マスタ</a:t>
                </a:r>
              </a:p>
            </p:txBody>
          </p:sp>
        </p:grpSp>
      </p:grpSp>
      <p:grpSp>
        <p:nvGrpSpPr>
          <p:cNvPr id="33" name="見出し：店舗マスタ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31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2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店舗マスタ</a:t>
              </a:r>
            </a:p>
          </p:txBody>
        </p:sp>
      </p:grpSp>
      <p:grpSp>
        <p:nvGrpSpPr>
          <p:cNvPr id="38" name="検索ボックス"/>
          <p:cNvGrpSpPr/>
          <p:nvPr/>
        </p:nvGrpSpPr>
        <p:grpSpPr>
          <a:xfrm>
            <a:off x="2400300" y="1485900"/>
            <a:ext cx="3048000" cy="342900"/>
            <a:chOff x="2400300" y="1485900"/>
            <a:chExt cx="3048000" cy="342900"/>
          </a:xfrm>
        </p:grpSpPr>
        <p:sp>
          <p:nvSpPr>
            <p:cNvPr id="34" name="四角形"/>
            <p:cNvSpPr/>
            <p:nvPr/>
          </p:nvSpPr>
          <p:spPr>
            <a:xfrm>
              <a:off x="2400300" y="1485900"/>
              <a:ext cx="30480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5" name="円"/>
            <p:cNvSpPr/>
            <p:nvPr/>
          </p:nvSpPr>
          <p:spPr>
            <a:xfrm>
              <a:off x="2552700" y="1581150"/>
              <a:ext cx="114300" cy="114300"/>
            </a:xfrm>
            <a:prstGeom prst="ellipse">
              <a:avLst/>
            </a:prstGeom>
            <a:noFill/>
            <a:ln w="15240">
              <a:solidFill>
                <a:srgbClr val="64748B"/>
              </a:solidFill>
            </a:ln>
          </p:spPr>
        </p:sp>
        <p:cxnSp>
          <p:nvCxnSpPr>
            <p:cNvPr id="36" name="線"/>
            <p:cNvCxnSpPr/>
            <p:nvPr/>
          </p:nvCxnSpPr>
          <p:spPr>
            <a:xfrm>
              <a:off x="2647950" y="1676400"/>
              <a:ext cx="47625" cy="47625"/>
            </a:xfrm>
            <a:prstGeom prst="line">
              <a:avLst/>
            </a:prstGeom>
            <a:ln w="15240">
              <a:solidFill>
                <a:srgbClr val="64748B"/>
              </a:solidFill>
            </a:ln>
          </p:spPr>
        </p:cxnSp>
        <p:sp>
          <p:nvSpPr>
            <p:cNvPr id="37" name="テキスト"/>
            <p:cNvSpPr txBox="1"/>
            <p:nvPr/>
          </p:nvSpPr>
          <p:spPr>
            <a:xfrm>
              <a:off x="2800350" y="1485900"/>
              <a:ext cx="24384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94A3B8"/>
                  </a:solidFill>
                  <a:latin typeface="Meiryo UI"/>
                  <a:ea typeface="Meiryo UI"/>
                </a:rPr>
                <a:t>コード・名称で検索</a:t>
              </a:r>
            </a:p>
          </p:txBody>
        </p:sp>
      </p:grpSp>
      <p:grpSp>
        <p:nvGrpSpPr>
          <p:cNvPr id="41" name="ボタン：＋ 新規追加"/>
          <p:cNvGrpSpPr/>
          <p:nvPr/>
        </p:nvGrpSpPr>
        <p:grpSpPr>
          <a:xfrm>
            <a:off x="6972300" y="1485900"/>
            <a:ext cx="1143000" cy="342900"/>
            <a:chOff x="6972300" y="1485900"/>
            <a:chExt cx="1143000" cy="342900"/>
          </a:xfrm>
        </p:grpSpPr>
        <p:sp>
          <p:nvSpPr>
            <p:cNvPr id="39" name="四角形"/>
            <p:cNvSpPr/>
            <p:nvPr/>
          </p:nvSpPr>
          <p:spPr>
            <a:xfrm>
              <a:off x="6972300" y="1485900"/>
              <a:ext cx="11430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2457C5"/>
              </a:solidFill>
            </a:ln>
          </p:spPr>
        </p:sp>
        <p:sp>
          <p:nvSpPr>
            <p:cNvPr id="40" name="テキスト"/>
            <p:cNvSpPr txBox="1"/>
            <p:nvPr/>
          </p:nvSpPr>
          <p:spPr>
            <a:xfrm>
              <a:off x="6972300" y="1485900"/>
              <a:ext cx="1143000" cy="3429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2457C5"/>
                  </a:solidFill>
                  <a:latin typeface="Meiryo UI"/>
                  <a:ea typeface="Meiryo UI"/>
                </a:rPr>
                <a:t>＋ 新規追加</a:t>
              </a:r>
            </a:p>
          </p:txBody>
        </p:sp>
      </p:grpSp>
      <p:graphicFrame>
        <p:nvGraphicFramePr>
          <p:cNvPr id="42" name="表"/>
          <p:cNvGraphicFramePr>
            <a:graphicFrameLocks noGrp="1"/>
          </p:cNvGraphicFramePr>
          <p:nvPr/>
        </p:nvGraphicFramePr>
        <p:xfrm>
          <a:off x="2400300" y="1981200"/>
          <a:ext cx="5715000" cy="4114800"/>
        </p:xfrm>
        <a:graphic>
          <a:graphicData uri="http://schemas.openxmlformats.org/drawingml/2006/table">
            <a:tbl>
              <a:tblPr firstRow="1"/>
              <a:tblGrid>
                <a:gridCol w="1019175"/>
                <a:gridCol w="2657475"/>
                <a:gridCol w="1019175"/>
                <a:gridCol w="1019175"/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コード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店舗名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表示順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状態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001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本店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002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駅前支店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003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北町支店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3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004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南町支店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4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005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東口出張所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停止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006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西が丘支店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6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007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港支店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7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008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中央通り支店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8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009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旧本店（統合済）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99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停止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010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新町支店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011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桜台支店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有効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4" name="ページ送り"/>
          <p:cNvGrpSpPr/>
          <p:nvPr/>
        </p:nvGrpSpPr>
        <p:grpSpPr>
          <a:xfrm>
            <a:off x="4495800" y="6248400"/>
            <a:ext cx="3619500" cy="304800"/>
            <a:chOff x="4495800" y="6248400"/>
            <a:chExt cx="3619500" cy="304800"/>
          </a:xfrm>
        </p:grpSpPr>
        <p:sp>
          <p:nvSpPr>
            <p:cNvPr id="43" name="テキスト"/>
            <p:cNvSpPr txBox="1"/>
            <p:nvPr/>
          </p:nvSpPr>
          <p:spPr>
            <a:xfrm>
              <a:off x="4495800" y="6248400"/>
              <a:ext cx="17526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64748B"/>
                  </a:solidFill>
                  <a:latin typeface="Meiryo UI"/>
                  <a:ea typeface="Meiryo UI"/>
                </a:rPr>
                <a:t>全 24 件</a:t>
              </a:r>
            </a:p>
          </p:txBody>
        </p:sp>
        <p:sp>
          <p:nvSpPr>
            <p:cNvPr id="44" name="四角形"/>
            <p:cNvSpPr/>
            <p:nvPr/>
          </p:nvSpPr>
          <p:spPr>
            <a:xfrm>
              <a:off x="6362700" y="62484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5" name="テキスト"/>
            <p:cNvSpPr txBox="1"/>
            <p:nvPr/>
          </p:nvSpPr>
          <p:spPr>
            <a:xfrm>
              <a:off x="6362700" y="62484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‹</a:t>
              </a:r>
            </a:p>
          </p:txBody>
        </p:sp>
        <p:sp>
          <p:nvSpPr>
            <p:cNvPr id="46" name="四角形"/>
            <p:cNvSpPr/>
            <p:nvPr/>
          </p:nvSpPr>
          <p:spPr>
            <a:xfrm>
              <a:off x="6724650" y="62484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47" name="テキスト"/>
            <p:cNvSpPr txBox="1"/>
            <p:nvPr/>
          </p:nvSpPr>
          <p:spPr>
            <a:xfrm>
              <a:off x="6724650" y="62484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1</a:t>
              </a:r>
            </a:p>
          </p:txBody>
        </p:sp>
        <p:sp>
          <p:nvSpPr>
            <p:cNvPr id="48" name="四角形"/>
            <p:cNvSpPr/>
            <p:nvPr/>
          </p:nvSpPr>
          <p:spPr>
            <a:xfrm>
              <a:off x="7086600" y="62484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テキスト"/>
            <p:cNvSpPr txBox="1"/>
            <p:nvPr/>
          </p:nvSpPr>
          <p:spPr>
            <a:xfrm>
              <a:off x="7086600" y="62484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2</a:t>
              </a:r>
            </a:p>
          </p:txBody>
        </p:sp>
        <p:sp>
          <p:nvSpPr>
            <p:cNvPr id="50" name="四角形"/>
            <p:cNvSpPr/>
            <p:nvPr/>
          </p:nvSpPr>
          <p:spPr>
            <a:xfrm>
              <a:off x="7448550" y="62484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テキスト"/>
            <p:cNvSpPr txBox="1"/>
            <p:nvPr/>
          </p:nvSpPr>
          <p:spPr>
            <a:xfrm>
              <a:off x="7448550" y="62484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3</a:t>
              </a:r>
            </a:p>
          </p:txBody>
        </p:sp>
        <p:sp>
          <p:nvSpPr>
            <p:cNvPr id="52" name="四角形"/>
            <p:cNvSpPr/>
            <p:nvPr/>
          </p:nvSpPr>
          <p:spPr>
            <a:xfrm>
              <a:off x="7810500" y="62484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3" name="テキスト"/>
            <p:cNvSpPr txBox="1"/>
            <p:nvPr/>
          </p:nvSpPr>
          <p:spPr>
            <a:xfrm>
              <a:off x="7810500" y="6248400"/>
              <a:ext cx="3048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›</a:t>
              </a:r>
            </a:p>
          </p:txBody>
        </p:sp>
      </p:grpSp>
      <p:grpSp>
        <p:nvGrpSpPr>
          <p:cNvPr id="89" name="グループ"/>
          <p:cNvGrpSpPr/>
          <p:nvPr/>
        </p:nvGrpSpPr>
        <p:grpSpPr>
          <a:xfrm>
            <a:off x="8267700" y="1485900"/>
            <a:ext cx="3619500" cy="5067300"/>
            <a:chOff x="8267700" y="1485900"/>
            <a:chExt cx="3619500" cy="5067300"/>
          </a:xfrm>
        </p:grpSpPr>
        <p:grpSp>
          <p:nvGrpSpPr>
            <p:cNvPr id="60" name="グループ枠：店舗情報の編集"/>
            <p:cNvGrpSpPr/>
            <p:nvPr/>
          </p:nvGrpSpPr>
          <p:grpSpPr>
            <a:xfrm>
              <a:off x="8267700" y="1485900"/>
              <a:ext cx="3619500" cy="5067300"/>
              <a:chOff x="8267700" y="1485900"/>
              <a:chExt cx="3619500" cy="5067300"/>
            </a:xfrm>
          </p:grpSpPr>
          <p:sp>
            <p:nvSpPr>
              <p:cNvPr id="55" name="四角形"/>
              <p:cNvSpPr/>
              <p:nvPr/>
            </p:nvSpPr>
            <p:spPr>
              <a:xfrm>
                <a:off x="8267700" y="1485900"/>
                <a:ext cx="3619500" cy="5067300"/>
              </a:xfrm>
              <a:prstGeom prst="roundRect">
                <a:avLst>
                  <a:gd name="adj" fmla="val 1579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6" name="四角形"/>
              <p:cNvSpPr/>
              <p:nvPr/>
            </p:nvSpPr>
            <p:spPr>
              <a:xfrm>
                <a:off x="8277225" y="1495425"/>
                <a:ext cx="36004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57" name="四角形"/>
              <p:cNvSpPr/>
              <p:nvPr/>
            </p:nvSpPr>
            <p:spPr>
              <a:xfrm>
                <a:off x="8277225" y="1676400"/>
                <a:ext cx="36004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58" name="線"/>
              <p:cNvCxnSpPr/>
              <p:nvPr/>
            </p:nvCxnSpPr>
            <p:spPr>
              <a:xfrm>
                <a:off x="8267700" y="1876425"/>
                <a:ext cx="36195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59" name="テキスト"/>
              <p:cNvSpPr txBox="1"/>
              <p:nvPr/>
            </p:nvSpPr>
            <p:spPr>
              <a:xfrm>
                <a:off x="8420100" y="1495425"/>
                <a:ext cx="33147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店舗情報の編集</a:t>
                </a:r>
              </a:p>
            </p:txBody>
          </p:sp>
        </p:grpSp>
        <p:grpSp>
          <p:nvGrpSpPr>
            <p:cNvPr id="64" name="テキスト入力：コード"/>
            <p:cNvGrpSpPr/>
            <p:nvPr/>
          </p:nvGrpSpPr>
          <p:grpSpPr>
            <a:xfrm>
              <a:off x="8496300" y="2019300"/>
              <a:ext cx="3162300" cy="628650"/>
              <a:chOff x="8496300" y="2019300"/>
              <a:chExt cx="3162300" cy="628650"/>
            </a:xfrm>
          </p:grpSpPr>
          <p:sp>
            <p:nvSpPr>
              <p:cNvPr id="61" name="テキスト"/>
              <p:cNvSpPr txBox="1"/>
              <p:nvPr/>
            </p:nvSpPr>
            <p:spPr>
              <a:xfrm>
                <a:off x="8496300" y="2019300"/>
                <a:ext cx="3162300" cy="20955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コード</a:t>
                </a:r>
              </a:p>
            </p:txBody>
          </p:sp>
          <p:sp>
            <p:nvSpPr>
              <p:cNvPr id="62" name="四角形"/>
              <p:cNvSpPr/>
              <p:nvPr/>
            </p:nvSpPr>
            <p:spPr>
              <a:xfrm>
                <a:off x="8496300" y="2266950"/>
                <a:ext cx="31623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F5F9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3" name="テキスト"/>
              <p:cNvSpPr txBox="1"/>
              <p:nvPr/>
            </p:nvSpPr>
            <p:spPr>
              <a:xfrm>
                <a:off x="8610600" y="2266950"/>
                <a:ext cx="29337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002</a:t>
                </a:r>
              </a:p>
            </p:txBody>
          </p:sp>
        </p:grpSp>
        <p:grpSp>
          <p:nvGrpSpPr>
            <p:cNvPr id="70" name="テキスト入力：店舗名"/>
            <p:cNvGrpSpPr/>
            <p:nvPr/>
          </p:nvGrpSpPr>
          <p:grpSpPr>
            <a:xfrm>
              <a:off x="8496300" y="2800350"/>
              <a:ext cx="3162300" cy="628650"/>
              <a:chOff x="8496300" y="2800350"/>
              <a:chExt cx="3162300" cy="628650"/>
            </a:xfrm>
          </p:grpSpPr>
          <p:sp>
            <p:nvSpPr>
              <p:cNvPr id="65" name="テキスト"/>
              <p:cNvSpPr txBox="1"/>
              <p:nvPr/>
            </p:nvSpPr>
            <p:spPr>
              <a:xfrm>
                <a:off x="8496300" y="2800350"/>
                <a:ext cx="3162300" cy="20955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店舗名</a:t>
                </a:r>
              </a:p>
            </p:txBody>
          </p:sp>
          <p:sp>
            <p:nvSpPr>
              <p:cNvPr id="66" name="四角形"/>
              <p:cNvSpPr/>
              <p:nvPr/>
            </p:nvSpPr>
            <p:spPr>
              <a:xfrm>
                <a:off x="8943975" y="2819400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67" name="テキスト"/>
              <p:cNvSpPr txBox="1"/>
              <p:nvPr/>
            </p:nvSpPr>
            <p:spPr>
              <a:xfrm>
                <a:off x="8943975" y="2819400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68" name="四角形"/>
              <p:cNvSpPr/>
              <p:nvPr/>
            </p:nvSpPr>
            <p:spPr>
              <a:xfrm>
                <a:off x="8496300" y="3048000"/>
                <a:ext cx="31623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69" name="テキスト"/>
              <p:cNvSpPr txBox="1"/>
              <p:nvPr/>
            </p:nvSpPr>
            <p:spPr>
              <a:xfrm>
                <a:off x="8610600" y="3048000"/>
                <a:ext cx="29337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駅前支店</a:t>
                </a:r>
              </a:p>
            </p:txBody>
          </p:sp>
        </p:grpSp>
        <p:grpSp>
          <p:nvGrpSpPr>
            <p:cNvPr id="74" name="テキスト入力：表示順"/>
            <p:cNvGrpSpPr/>
            <p:nvPr/>
          </p:nvGrpSpPr>
          <p:grpSpPr>
            <a:xfrm>
              <a:off x="8496300" y="3581400"/>
              <a:ext cx="1524000" cy="628650"/>
              <a:chOff x="8496300" y="3581400"/>
              <a:chExt cx="1524000" cy="628650"/>
            </a:xfrm>
          </p:grpSpPr>
          <p:sp>
            <p:nvSpPr>
              <p:cNvPr id="71" name="テキスト"/>
              <p:cNvSpPr txBox="1"/>
              <p:nvPr/>
            </p:nvSpPr>
            <p:spPr>
              <a:xfrm>
                <a:off x="8496300" y="3581400"/>
                <a:ext cx="1524000" cy="20955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表示順</a:t>
                </a:r>
              </a:p>
            </p:txBody>
          </p:sp>
          <p:sp>
            <p:nvSpPr>
              <p:cNvPr id="72" name="四角形"/>
              <p:cNvSpPr/>
              <p:nvPr/>
            </p:nvSpPr>
            <p:spPr>
              <a:xfrm>
                <a:off x="8496300" y="3829050"/>
                <a:ext cx="1524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3" name="テキスト"/>
              <p:cNvSpPr txBox="1"/>
              <p:nvPr/>
            </p:nvSpPr>
            <p:spPr>
              <a:xfrm>
                <a:off x="8610600" y="382905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2</a:t>
                </a:r>
              </a:p>
            </p:txBody>
          </p:sp>
        </p:grpSp>
        <p:grpSp>
          <p:nvGrpSpPr>
            <p:cNvPr id="78" name="テキスト入力：電話番号"/>
            <p:cNvGrpSpPr/>
            <p:nvPr/>
          </p:nvGrpSpPr>
          <p:grpSpPr>
            <a:xfrm>
              <a:off x="8496300" y="4362450"/>
              <a:ext cx="3162300" cy="628650"/>
              <a:chOff x="8496300" y="4362450"/>
              <a:chExt cx="3162300" cy="628650"/>
            </a:xfrm>
          </p:grpSpPr>
          <p:sp>
            <p:nvSpPr>
              <p:cNvPr id="75" name="テキスト"/>
              <p:cNvSpPr txBox="1"/>
              <p:nvPr/>
            </p:nvSpPr>
            <p:spPr>
              <a:xfrm>
                <a:off x="8496300" y="4362450"/>
                <a:ext cx="3162300" cy="20955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電話番号</a:t>
                </a:r>
              </a:p>
            </p:txBody>
          </p:sp>
          <p:sp>
            <p:nvSpPr>
              <p:cNvPr id="76" name="四角形"/>
              <p:cNvSpPr/>
              <p:nvPr/>
            </p:nvSpPr>
            <p:spPr>
              <a:xfrm>
                <a:off x="8496300" y="4610100"/>
                <a:ext cx="31623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7" name="テキスト"/>
              <p:cNvSpPr txBox="1"/>
              <p:nvPr/>
            </p:nvSpPr>
            <p:spPr>
              <a:xfrm>
                <a:off x="8610600" y="4610100"/>
                <a:ext cx="29337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03-1234-5678</a:t>
                </a:r>
              </a:p>
            </p:txBody>
          </p:sp>
        </p:grpSp>
        <p:grpSp>
          <p:nvGrpSpPr>
            <p:cNvPr id="82" name="トグルスイッチ：この店舗を有効にする"/>
            <p:cNvGrpSpPr/>
            <p:nvPr/>
          </p:nvGrpSpPr>
          <p:grpSpPr>
            <a:xfrm>
              <a:off x="8496300" y="5181600"/>
              <a:ext cx="3162300" cy="304800"/>
              <a:chOff x="8496300" y="5181600"/>
              <a:chExt cx="3162300" cy="304800"/>
            </a:xfrm>
          </p:grpSpPr>
          <p:sp>
            <p:nvSpPr>
              <p:cNvPr id="79" name="四角形"/>
              <p:cNvSpPr/>
              <p:nvPr/>
            </p:nvSpPr>
            <p:spPr>
              <a:xfrm>
                <a:off x="8496300" y="5229225"/>
                <a:ext cx="3810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80" name="円"/>
              <p:cNvSpPr/>
              <p:nvPr/>
            </p:nvSpPr>
            <p:spPr>
              <a:xfrm>
                <a:off x="8686800" y="52482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1" name="テキスト"/>
              <p:cNvSpPr txBox="1"/>
              <p:nvPr/>
            </p:nvSpPr>
            <p:spPr>
              <a:xfrm>
                <a:off x="8991600" y="5181600"/>
                <a:ext cx="26670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この店舗を有効にする</a:t>
                </a:r>
              </a:p>
            </p:txBody>
          </p:sp>
        </p:grpSp>
        <p:grpSp>
          <p:nvGrpSpPr>
            <p:cNvPr id="85" name="ボタン：キャンセル"/>
            <p:cNvGrpSpPr/>
            <p:nvPr/>
          </p:nvGrpSpPr>
          <p:grpSpPr>
            <a:xfrm>
              <a:off x="8496300" y="5943600"/>
              <a:ext cx="1485900" cy="381000"/>
              <a:chOff x="8496300" y="5943600"/>
              <a:chExt cx="1485900" cy="381000"/>
            </a:xfrm>
          </p:grpSpPr>
          <p:sp>
            <p:nvSpPr>
              <p:cNvPr id="83" name="四角形"/>
              <p:cNvSpPr/>
              <p:nvPr/>
            </p:nvSpPr>
            <p:spPr>
              <a:xfrm>
                <a:off x="8496300" y="5943600"/>
                <a:ext cx="14859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84" name="テキスト"/>
              <p:cNvSpPr txBox="1"/>
              <p:nvPr/>
            </p:nvSpPr>
            <p:spPr>
              <a:xfrm>
                <a:off x="8496300" y="5943600"/>
                <a:ext cx="14859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キャンセル</a:t>
                </a:r>
              </a:p>
            </p:txBody>
          </p:sp>
        </p:grpSp>
        <p:grpSp>
          <p:nvGrpSpPr>
            <p:cNvPr id="88" name="ボタン：保存"/>
            <p:cNvGrpSpPr/>
            <p:nvPr/>
          </p:nvGrpSpPr>
          <p:grpSpPr>
            <a:xfrm>
              <a:off x="10172700" y="5943600"/>
              <a:ext cx="1485900" cy="381000"/>
              <a:chOff x="10172700" y="5943600"/>
              <a:chExt cx="1485900" cy="381000"/>
            </a:xfrm>
          </p:grpSpPr>
          <p:sp>
            <p:nvSpPr>
              <p:cNvPr id="86" name="四角形"/>
              <p:cNvSpPr/>
              <p:nvPr/>
            </p:nvSpPr>
            <p:spPr>
              <a:xfrm>
                <a:off x="10172700" y="5943600"/>
                <a:ext cx="14859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87" name="テキスト"/>
              <p:cNvSpPr txBox="1"/>
              <p:nvPr/>
            </p:nvSpPr>
            <p:spPr>
              <a:xfrm>
                <a:off x="10172700" y="5943600"/>
                <a:ext cx="14859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保存</a:t>
                </a: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帳票出力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4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5" name="四角形"/>
              <p:cNvSpPr/>
              <p:nvPr/>
            </p:nvSpPr>
            <p:spPr>
              <a:xfrm>
                <a:off x="76200" y="19050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6" name="四角形"/>
              <p:cNvSpPr/>
              <p:nvPr/>
            </p:nvSpPr>
            <p:spPr>
              <a:xfrm>
                <a:off x="76200" y="19812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7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26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51435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</p:grpSp>
      </p:grpSp>
      <p:grpSp>
        <p:nvGrpSpPr>
          <p:cNvPr id="30" name="見出し：帳票出力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28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29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帳票出力</a:t>
              </a:r>
            </a:p>
          </p:txBody>
        </p:sp>
      </p:grpSp>
      <p:grpSp>
        <p:nvGrpSpPr>
          <p:cNvPr id="80" name="グループ"/>
          <p:cNvGrpSpPr/>
          <p:nvPr/>
        </p:nvGrpSpPr>
        <p:grpSpPr>
          <a:xfrm>
            <a:off x="2400300" y="1485900"/>
            <a:ext cx="9486900" cy="2552700"/>
            <a:chOff x="2400300" y="1485900"/>
            <a:chExt cx="9486900" cy="2552700"/>
          </a:xfrm>
        </p:grpSpPr>
        <p:grpSp>
          <p:nvGrpSpPr>
            <p:cNvPr id="36" name="グループ枠：出力条件"/>
            <p:cNvGrpSpPr/>
            <p:nvPr/>
          </p:nvGrpSpPr>
          <p:grpSpPr>
            <a:xfrm>
              <a:off x="2400300" y="1485900"/>
              <a:ext cx="9486900" cy="2552700"/>
              <a:chOff x="2400300" y="1485900"/>
              <a:chExt cx="9486900" cy="2552700"/>
            </a:xfrm>
          </p:grpSpPr>
          <p:sp>
            <p:nvSpPr>
              <p:cNvPr id="31" name="四角形"/>
              <p:cNvSpPr/>
              <p:nvPr/>
            </p:nvSpPr>
            <p:spPr>
              <a:xfrm>
                <a:off x="2400300" y="1485900"/>
                <a:ext cx="9486900" cy="2552700"/>
              </a:xfrm>
              <a:prstGeom prst="roundRect">
                <a:avLst>
                  <a:gd name="adj" fmla="val 2239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2" name="四角形"/>
              <p:cNvSpPr/>
              <p:nvPr/>
            </p:nvSpPr>
            <p:spPr>
              <a:xfrm>
                <a:off x="2409825" y="1495425"/>
                <a:ext cx="94678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33" name="四角形"/>
              <p:cNvSpPr/>
              <p:nvPr/>
            </p:nvSpPr>
            <p:spPr>
              <a:xfrm>
                <a:off x="2409825" y="1676400"/>
                <a:ext cx="94678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34" name="線"/>
              <p:cNvCxnSpPr/>
              <p:nvPr/>
            </p:nvCxnSpPr>
            <p:spPr>
              <a:xfrm>
                <a:off x="2400300" y="1876425"/>
                <a:ext cx="94869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35" name="テキスト"/>
              <p:cNvSpPr txBox="1"/>
              <p:nvPr/>
            </p:nvSpPr>
            <p:spPr>
              <a:xfrm>
                <a:off x="2552700" y="1495425"/>
                <a:ext cx="91821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出力条件</a:t>
                </a:r>
              </a:p>
            </p:txBody>
          </p:sp>
        </p:grpSp>
        <p:grpSp>
          <p:nvGrpSpPr>
            <p:cNvPr id="43" name="プルダウン：帳票の種類"/>
            <p:cNvGrpSpPr/>
            <p:nvPr/>
          </p:nvGrpSpPr>
          <p:grpSpPr>
            <a:xfrm>
              <a:off x="2628900" y="1981200"/>
              <a:ext cx="4305300" cy="381000"/>
              <a:chOff x="2628900" y="1981200"/>
              <a:chExt cx="4305300" cy="381000"/>
            </a:xfrm>
          </p:grpSpPr>
          <p:sp>
            <p:nvSpPr>
              <p:cNvPr id="37" name="テキスト"/>
              <p:cNvSpPr txBox="1"/>
              <p:nvPr/>
            </p:nvSpPr>
            <p:spPr>
              <a:xfrm>
                <a:off x="2628900" y="1981200"/>
                <a:ext cx="914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帳票の種類</a:t>
                </a:r>
              </a:p>
            </p:txBody>
          </p:sp>
          <p:sp>
            <p:nvSpPr>
              <p:cNvPr id="38" name="四角形"/>
              <p:cNvSpPr/>
              <p:nvPr/>
            </p:nvSpPr>
            <p:spPr>
              <a:xfrm>
                <a:off x="3619500" y="2085975"/>
                <a:ext cx="30480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39" name="テキスト"/>
              <p:cNvSpPr txBox="1"/>
              <p:nvPr/>
            </p:nvSpPr>
            <p:spPr>
              <a:xfrm>
                <a:off x="3619500" y="2085975"/>
                <a:ext cx="304800" cy="1714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114"/>
                  </a:lnSpc>
                  <a:buNone/>
                </a:pPr>
                <a:r>
                  <a:rPr lang="ja-JP" altLang="en-US" sz="8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必須</a:t>
                </a:r>
              </a:p>
            </p:txBody>
          </p:sp>
          <p:sp>
            <p:nvSpPr>
              <p:cNvPr id="40" name="四角形"/>
              <p:cNvSpPr/>
              <p:nvPr/>
            </p:nvSpPr>
            <p:spPr>
              <a:xfrm>
                <a:off x="4038600" y="1981200"/>
                <a:ext cx="28956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1" name="テキスト"/>
              <p:cNvSpPr txBox="1"/>
              <p:nvPr/>
            </p:nvSpPr>
            <p:spPr>
              <a:xfrm>
                <a:off x="4152900" y="1981200"/>
                <a:ext cx="2476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顧客別取引明細</a:t>
                </a:r>
              </a:p>
            </p:txBody>
          </p:sp>
          <p:sp>
            <p:nvSpPr>
              <p:cNvPr id="42" name="三角形"/>
              <p:cNvSpPr/>
              <p:nvPr/>
            </p:nvSpPr>
            <p:spPr>
              <a:xfrm rot="10800000">
                <a:off x="6686550" y="2143125"/>
                <a:ext cx="104775" cy="57150"/>
              </a:xfrm>
              <a:prstGeom prst="triangle">
                <a:avLst/>
              </a:prstGeom>
              <a:solidFill>
                <a:srgbClr val="64748B"/>
              </a:solidFill>
              <a:ln>
                <a:noFill/>
              </a:ln>
            </p:spPr>
          </p:sp>
        </p:grpSp>
        <p:grpSp>
          <p:nvGrpSpPr>
            <p:cNvPr id="48" name="プルダウン：店舗"/>
            <p:cNvGrpSpPr/>
            <p:nvPr/>
          </p:nvGrpSpPr>
          <p:grpSpPr>
            <a:xfrm>
              <a:off x="7200900" y="1981200"/>
              <a:ext cx="4457700" cy="381000"/>
              <a:chOff x="7200900" y="1981200"/>
              <a:chExt cx="4457700" cy="381000"/>
            </a:xfrm>
          </p:grpSpPr>
          <p:sp>
            <p:nvSpPr>
              <p:cNvPr id="44" name="テキスト"/>
              <p:cNvSpPr txBox="1"/>
              <p:nvPr/>
            </p:nvSpPr>
            <p:spPr>
              <a:xfrm>
                <a:off x="7200900" y="19812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店舗</a:t>
                </a:r>
              </a:p>
            </p:txBody>
          </p:sp>
          <p:sp>
            <p:nvSpPr>
              <p:cNvPr id="45" name="四角形"/>
              <p:cNvSpPr/>
              <p:nvPr/>
            </p:nvSpPr>
            <p:spPr>
              <a:xfrm>
                <a:off x="8610600" y="1981200"/>
                <a:ext cx="3048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6" name="テキスト"/>
              <p:cNvSpPr txBox="1"/>
              <p:nvPr/>
            </p:nvSpPr>
            <p:spPr>
              <a:xfrm>
                <a:off x="8724900" y="1981200"/>
                <a:ext cx="26289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94A3B8"/>
                    </a:solidFill>
                    <a:latin typeface="Meiryo UI"/>
                    <a:ea typeface="Meiryo UI"/>
                  </a:rPr>
                  <a:t>すべて</a:t>
                </a:r>
              </a:p>
            </p:txBody>
          </p:sp>
          <p:sp>
            <p:nvSpPr>
              <p:cNvPr id="47" name="三角形"/>
              <p:cNvSpPr/>
              <p:nvPr/>
            </p:nvSpPr>
            <p:spPr>
              <a:xfrm rot="10800000">
                <a:off x="11410950" y="2143125"/>
                <a:ext cx="104775" cy="57150"/>
              </a:xfrm>
              <a:prstGeom prst="triangle">
                <a:avLst/>
              </a:prstGeom>
              <a:solidFill>
                <a:srgbClr val="64748B"/>
              </a:solidFill>
              <a:ln>
                <a:noFill/>
              </a:ln>
            </p:spPr>
          </p:sp>
        </p:grpSp>
        <p:grpSp>
          <p:nvGrpSpPr>
            <p:cNvPr id="56" name="日付入力：対象期間"/>
            <p:cNvGrpSpPr/>
            <p:nvPr/>
          </p:nvGrpSpPr>
          <p:grpSpPr>
            <a:xfrm>
              <a:off x="2628900" y="2476500"/>
              <a:ext cx="2819400" cy="381000"/>
              <a:chOff x="2628900" y="2476500"/>
              <a:chExt cx="2819400" cy="381000"/>
            </a:xfrm>
          </p:grpSpPr>
          <p:sp>
            <p:nvSpPr>
              <p:cNvPr id="49" name="テキスト"/>
              <p:cNvSpPr txBox="1"/>
              <p:nvPr/>
            </p:nvSpPr>
            <p:spPr>
              <a:xfrm>
                <a:off x="2628900" y="2476500"/>
                <a:ext cx="1295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対象期間</a:t>
                </a:r>
              </a:p>
            </p:txBody>
          </p:sp>
          <p:sp>
            <p:nvSpPr>
              <p:cNvPr id="50" name="四角形"/>
              <p:cNvSpPr/>
              <p:nvPr/>
            </p:nvSpPr>
            <p:spPr>
              <a:xfrm>
                <a:off x="4038600" y="2476500"/>
                <a:ext cx="14097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1" name="テキスト"/>
              <p:cNvSpPr txBox="1"/>
              <p:nvPr/>
            </p:nvSpPr>
            <p:spPr>
              <a:xfrm>
                <a:off x="4152900" y="2476500"/>
                <a:ext cx="952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2026/10/01</a:t>
                </a:r>
              </a:p>
            </p:txBody>
          </p:sp>
          <p:sp>
            <p:nvSpPr>
              <p:cNvPr id="52" name="四角形"/>
              <p:cNvSpPr/>
              <p:nvPr/>
            </p:nvSpPr>
            <p:spPr>
              <a:xfrm>
                <a:off x="5143500" y="2590800"/>
                <a:ext cx="171450" cy="161925"/>
              </a:xfrm>
              <a:prstGeom prst="roundRect">
                <a:avLst>
                  <a:gd name="adj" fmla="val 11765"/>
                </a:avLst>
              </a:prstGeom>
              <a:noFill/>
              <a:ln w="12383">
                <a:solidFill>
                  <a:srgbClr val="64748B"/>
                </a:solidFill>
              </a:ln>
            </p:spPr>
          </p:sp>
          <p:cxnSp>
            <p:nvCxnSpPr>
              <p:cNvPr id="53" name="線"/>
              <p:cNvCxnSpPr/>
              <p:nvPr/>
            </p:nvCxnSpPr>
            <p:spPr>
              <a:xfrm>
                <a:off x="5143500" y="2638425"/>
                <a:ext cx="171450" cy="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54" name="線"/>
              <p:cNvCxnSpPr/>
              <p:nvPr/>
            </p:nvCxnSpPr>
            <p:spPr>
              <a:xfrm>
                <a:off x="5191125" y="25717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55" name="線"/>
              <p:cNvCxnSpPr/>
              <p:nvPr/>
            </p:nvCxnSpPr>
            <p:spPr>
              <a:xfrm>
                <a:off x="5267325" y="25717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</p:grpSp>
        <p:sp>
          <p:nvSpPr>
            <p:cNvPr id="57" name="テキスト"/>
            <p:cNvSpPr txBox="1"/>
            <p:nvPr/>
          </p:nvSpPr>
          <p:spPr>
            <a:xfrm>
              <a:off x="5448300" y="2476500"/>
              <a:ext cx="3048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〜</a:t>
              </a:r>
            </a:p>
          </p:txBody>
        </p:sp>
        <p:grpSp>
          <p:nvGrpSpPr>
            <p:cNvPr id="64" name="日付入力"/>
            <p:cNvGrpSpPr/>
            <p:nvPr/>
          </p:nvGrpSpPr>
          <p:grpSpPr>
            <a:xfrm>
              <a:off x="5753100" y="2476500"/>
              <a:ext cx="1333500" cy="381000"/>
              <a:chOff x="5753100" y="2476500"/>
              <a:chExt cx="1333500" cy="381000"/>
            </a:xfrm>
          </p:grpSpPr>
          <p:sp>
            <p:nvSpPr>
              <p:cNvPr id="58" name="四角形"/>
              <p:cNvSpPr/>
              <p:nvPr/>
            </p:nvSpPr>
            <p:spPr>
              <a:xfrm>
                <a:off x="5753100" y="2476500"/>
                <a:ext cx="13335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9" name="テキスト"/>
              <p:cNvSpPr txBox="1"/>
              <p:nvPr/>
            </p:nvSpPr>
            <p:spPr>
              <a:xfrm>
                <a:off x="5867400" y="2476500"/>
                <a:ext cx="8763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2026/10/31</a:t>
                </a:r>
              </a:p>
            </p:txBody>
          </p:sp>
          <p:sp>
            <p:nvSpPr>
              <p:cNvPr id="60" name="四角形"/>
              <p:cNvSpPr/>
              <p:nvPr/>
            </p:nvSpPr>
            <p:spPr>
              <a:xfrm>
                <a:off x="6781800" y="2590800"/>
                <a:ext cx="171450" cy="161925"/>
              </a:xfrm>
              <a:prstGeom prst="roundRect">
                <a:avLst>
                  <a:gd name="adj" fmla="val 11765"/>
                </a:avLst>
              </a:prstGeom>
              <a:noFill/>
              <a:ln w="12383">
                <a:solidFill>
                  <a:srgbClr val="64748B"/>
                </a:solidFill>
              </a:ln>
            </p:spPr>
          </p:sp>
          <p:cxnSp>
            <p:nvCxnSpPr>
              <p:cNvPr id="61" name="線"/>
              <p:cNvCxnSpPr/>
              <p:nvPr/>
            </p:nvCxnSpPr>
            <p:spPr>
              <a:xfrm>
                <a:off x="6781800" y="2638425"/>
                <a:ext cx="171450" cy="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62" name="線"/>
              <p:cNvCxnSpPr/>
              <p:nvPr/>
            </p:nvCxnSpPr>
            <p:spPr>
              <a:xfrm>
                <a:off x="6829425" y="25717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  <p:cxnSp>
            <p:nvCxnSpPr>
              <p:cNvPr id="63" name="線"/>
              <p:cNvCxnSpPr/>
              <p:nvPr/>
            </p:nvCxnSpPr>
            <p:spPr>
              <a:xfrm>
                <a:off x="6905625" y="2571750"/>
                <a:ext cx="0" cy="38100"/>
              </a:xfrm>
              <a:prstGeom prst="line">
                <a:avLst/>
              </a:prstGeom>
              <a:ln w="12383">
                <a:solidFill>
                  <a:srgbClr val="64748B"/>
                </a:solidFill>
              </a:ln>
            </p:spPr>
          </p:cxnSp>
        </p:grpSp>
        <p:sp>
          <p:nvSpPr>
            <p:cNvPr id="65" name="テキスト"/>
            <p:cNvSpPr txBox="1"/>
            <p:nvPr/>
          </p:nvSpPr>
          <p:spPr>
            <a:xfrm>
              <a:off x="2628900" y="3009900"/>
              <a:ext cx="14097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1F2937"/>
                  </a:solidFill>
                  <a:latin typeface="Meiryo UI"/>
                  <a:ea typeface="Meiryo UI"/>
                </a:rPr>
                <a:t>出力形式</a:t>
              </a:r>
            </a:p>
          </p:txBody>
        </p:sp>
        <p:grpSp>
          <p:nvGrpSpPr>
            <p:cNvPr id="73" name="ラジオボタン"/>
            <p:cNvGrpSpPr/>
            <p:nvPr/>
          </p:nvGrpSpPr>
          <p:grpSpPr>
            <a:xfrm>
              <a:off x="4038600" y="3009900"/>
              <a:ext cx="3048000" cy="304800"/>
              <a:chOff x="4038600" y="3009900"/>
              <a:chExt cx="3048000" cy="304800"/>
            </a:xfrm>
          </p:grpSpPr>
          <p:sp>
            <p:nvSpPr>
              <p:cNvPr id="66" name="円"/>
              <p:cNvSpPr/>
              <p:nvPr/>
            </p:nvSpPr>
            <p:spPr>
              <a:xfrm>
                <a:off x="4038600" y="30765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 w="14288">
                <a:solidFill>
                  <a:srgbClr val="2457C5"/>
                </a:solidFill>
              </a:ln>
            </p:spPr>
          </p:sp>
          <p:sp>
            <p:nvSpPr>
              <p:cNvPr id="67" name="円"/>
              <p:cNvSpPr/>
              <p:nvPr/>
            </p:nvSpPr>
            <p:spPr>
              <a:xfrm>
                <a:off x="4081463" y="3119438"/>
                <a:ext cx="85725" cy="85725"/>
              </a:xfrm>
              <a:prstGeom prst="ellipse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68" name="テキスト"/>
              <p:cNvSpPr txBox="1"/>
              <p:nvPr/>
            </p:nvSpPr>
            <p:spPr>
              <a:xfrm>
                <a:off x="4286250" y="3048000"/>
                <a:ext cx="30480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PDF</a:t>
                </a:r>
              </a:p>
            </p:txBody>
          </p:sp>
          <p:sp>
            <p:nvSpPr>
              <p:cNvPr id="69" name="円"/>
              <p:cNvSpPr/>
              <p:nvPr/>
            </p:nvSpPr>
            <p:spPr>
              <a:xfrm>
                <a:off x="4819650" y="30765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 w="14288">
                <a:solidFill>
                  <a:srgbClr val="94A3B8"/>
                </a:solidFill>
              </a:ln>
            </p:spPr>
          </p:sp>
          <p:sp>
            <p:nvSpPr>
              <p:cNvPr id="70" name="テキスト"/>
              <p:cNvSpPr txBox="1"/>
              <p:nvPr/>
            </p:nvSpPr>
            <p:spPr>
              <a:xfrm>
                <a:off x="5067300" y="3048000"/>
                <a:ext cx="364182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Excel</a:t>
                </a:r>
              </a:p>
            </p:txBody>
          </p:sp>
          <p:sp>
            <p:nvSpPr>
              <p:cNvPr id="71" name="円"/>
              <p:cNvSpPr/>
              <p:nvPr/>
            </p:nvSpPr>
            <p:spPr>
              <a:xfrm>
                <a:off x="5660082" y="30765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 w="14288">
                <a:solidFill>
                  <a:srgbClr val="94A3B8"/>
                </a:solidFill>
              </a:ln>
            </p:spPr>
          </p:sp>
          <p:sp>
            <p:nvSpPr>
              <p:cNvPr id="72" name="テキスト"/>
              <p:cNvSpPr txBox="1"/>
              <p:nvPr/>
            </p:nvSpPr>
            <p:spPr>
              <a:xfrm>
                <a:off x="5907732" y="3048000"/>
                <a:ext cx="312288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CSV</a:t>
                </a:r>
              </a:p>
            </p:txBody>
          </p:sp>
        </p:grpSp>
        <p:grpSp>
          <p:nvGrpSpPr>
            <p:cNvPr id="76" name="チェックボックス"/>
            <p:cNvGrpSpPr/>
            <p:nvPr/>
          </p:nvGrpSpPr>
          <p:grpSpPr>
            <a:xfrm>
              <a:off x="7200900" y="3009900"/>
              <a:ext cx="4457700" cy="304800"/>
              <a:chOff x="7200900" y="3009900"/>
              <a:chExt cx="4457700" cy="304800"/>
            </a:xfrm>
          </p:grpSpPr>
          <p:sp>
            <p:nvSpPr>
              <p:cNvPr id="74" name="四角形"/>
              <p:cNvSpPr/>
              <p:nvPr/>
            </p:nvSpPr>
            <p:spPr>
              <a:xfrm>
                <a:off x="7200900" y="3076575"/>
                <a:ext cx="171450" cy="17145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94A3B8"/>
                </a:solidFill>
              </a:ln>
            </p:spPr>
          </p:sp>
          <p:sp>
            <p:nvSpPr>
              <p:cNvPr id="75" name="テキスト"/>
              <p:cNvSpPr txBox="1"/>
              <p:nvPr/>
            </p:nvSpPr>
            <p:spPr>
              <a:xfrm>
                <a:off x="7448550" y="3048000"/>
                <a:ext cx="1324914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0件の項目も出力する</a:t>
                </a:r>
              </a:p>
            </p:txBody>
          </p:sp>
        </p:grpSp>
        <p:grpSp>
          <p:nvGrpSpPr>
            <p:cNvPr id="79" name="ボタン：出力する"/>
            <p:cNvGrpSpPr/>
            <p:nvPr/>
          </p:nvGrpSpPr>
          <p:grpSpPr>
            <a:xfrm>
              <a:off x="10515600" y="3505200"/>
              <a:ext cx="1143000" cy="381000"/>
              <a:chOff x="10515600" y="3505200"/>
              <a:chExt cx="1143000" cy="381000"/>
            </a:xfrm>
          </p:grpSpPr>
          <p:sp>
            <p:nvSpPr>
              <p:cNvPr id="77" name="四角形"/>
              <p:cNvSpPr/>
              <p:nvPr/>
            </p:nvSpPr>
            <p:spPr>
              <a:xfrm>
                <a:off x="10515600" y="3505200"/>
                <a:ext cx="1143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78" name="テキスト"/>
              <p:cNvSpPr txBox="1"/>
              <p:nvPr/>
            </p:nvSpPr>
            <p:spPr>
              <a:xfrm>
                <a:off x="10515600" y="3505200"/>
                <a:ext cx="1143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出力する</a:t>
                </a:r>
              </a:p>
            </p:txBody>
          </p:sp>
        </p:grpSp>
      </p:grpSp>
      <p:grpSp>
        <p:nvGrpSpPr>
          <p:cNvPr id="86" name="グループ枠：出力履歴（直近7日間）"/>
          <p:cNvGrpSpPr/>
          <p:nvPr/>
        </p:nvGrpSpPr>
        <p:grpSpPr>
          <a:xfrm>
            <a:off x="2400300" y="4191000"/>
            <a:ext cx="9486900" cy="2362200"/>
            <a:chOff x="2400300" y="4191000"/>
            <a:chExt cx="9486900" cy="2362200"/>
          </a:xfrm>
        </p:grpSpPr>
        <p:sp>
          <p:nvSpPr>
            <p:cNvPr id="81" name="四角形"/>
            <p:cNvSpPr/>
            <p:nvPr/>
          </p:nvSpPr>
          <p:spPr>
            <a:xfrm>
              <a:off x="2400300" y="4191000"/>
              <a:ext cx="9486900" cy="2362200"/>
            </a:xfrm>
            <a:prstGeom prst="roundRect">
              <a:avLst>
                <a:gd name="adj" fmla="val 241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2" name="四角形"/>
            <p:cNvSpPr/>
            <p:nvPr/>
          </p:nvSpPr>
          <p:spPr>
            <a:xfrm>
              <a:off x="2409825" y="4200525"/>
              <a:ext cx="9467850" cy="38100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83" name="四角形"/>
            <p:cNvSpPr/>
            <p:nvPr/>
          </p:nvSpPr>
          <p:spPr>
            <a:xfrm>
              <a:off x="2409825" y="4381500"/>
              <a:ext cx="9467850" cy="200025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cxnSp>
          <p:nvCxnSpPr>
            <p:cNvPr id="84" name="線"/>
            <p:cNvCxnSpPr/>
            <p:nvPr/>
          </p:nvCxnSpPr>
          <p:spPr>
            <a:xfrm>
              <a:off x="2400300" y="4581525"/>
              <a:ext cx="9486900" cy="0"/>
            </a:xfrm>
            <a:prstGeom prst="line">
              <a:avLst/>
            </a:prstGeom>
            <a:ln w="9525">
              <a:solidFill>
                <a:srgbClr val="CBD5E1"/>
              </a:solidFill>
            </a:ln>
          </p:spPr>
        </p:cxnSp>
        <p:sp>
          <p:nvSpPr>
            <p:cNvPr id="85" name="テキスト"/>
            <p:cNvSpPr txBox="1"/>
            <p:nvPr/>
          </p:nvSpPr>
          <p:spPr>
            <a:xfrm>
              <a:off x="2552700" y="4200525"/>
              <a:ext cx="91821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519"/>
                </a:lnSpc>
                <a:buNone/>
              </a:pPr>
              <a:r>
                <a:rPr lang="ja-JP" altLang="en-US" sz="1125" b="1" dirty="0">
                  <a:solidFill>
                    <a:srgbClr val="1F2937"/>
                  </a:solidFill>
                  <a:latin typeface="Meiryo UI"/>
                  <a:ea typeface="Meiryo UI"/>
                </a:rPr>
                <a:t>出力履歴（直近7日間）</a:t>
              </a:r>
            </a:p>
          </p:txBody>
        </p:sp>
      </p:grpSp>
      <p:graphicFrame>
        <p:nvGraphicFramePr>
          <p:cNvPr id="87" name="表"/>
          <p:cNvGraphicFramePr>
            <a:graphicFrameLocks noGrp="1"/>
          </p:cNvGraphicFramePr>
          <p:nvPr/>
        </p:nvGraphicFramePr>
        <p:xfrm>
          <a:off x="2552700" y="4648200"/>
          <a:ext cx="9182100" cy="1714500"/>
        </p:xfrm>
        <a:graphic>
          <a:graphicData uri="http://schemas.openxmlformats.org/drawingml/2006/table">
            <a:tbl>
              <a:tblPr firstRow="1"/>
              <a:tblGrid>
                <a:gridCol w="1657350"/>
                <a:gridCol w="2038350"/>
                <a:gridCol w="3314700"/>
                <a:gridCol w="895350"/>
                <a:gridCol w="1276350"/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出力日時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帳票名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条件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形式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状態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2026/10/25 18:20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顧客別取引明細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2026/10/01〜10/24・全店舗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PDF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完了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2026/10/25 09:05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新規顧客一覧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 月分・本店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Excel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完了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2026/10/23 17:48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担当者別実績表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2026/09 月分・全店舗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PDF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期限切れ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2026/10/22 11:30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顧客別取引明細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2026/09/01〜09/30・駅前支店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CSV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作成中…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ファイル取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9" name="ヘッダー：顧客管理システム"/>
            <p:cNvGrpSpPr/>
            <p:nvPr/>
          </p:nvGrpSpPr>
          <p:grpSpPr>
            <a:xfrm>
              <a:off x="0" y="0"/>
              <a:ext cx="12192000" cy="533400"/>
              <a:chOff x="0" y="0"/>
              <a:chExt cx="12192000" cy="533400"/>
            </a:xfrm>
          </p:grpSpPr>
          <p:sp>
            <p:nvSpPr>
              <p:cNvPr id="2" name="四角形"/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3" name="四角形"/>
              <p:cNvSpPr/>
              <p:nvPr/>
            </p:nvSpPr>
            <p:spPr>
              <a:xfrm>
                <a:off x="190500" y="123825"/>
                <a:ext cx="2857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5079D1"/>
              </a:solidFill>
              <a:ln>
                <a:noFill/>
              </a:ln>
            </p:spPr>
          </p:sp>
          <p:sp>
            <p:nvSpPr>
              <p:cNvPr id="4" name="テキスト"/>
              <p:cNvSpPr txBox="1"/>
              <p:nvPr/>
            </p:nvSpPr>
            <p:spPr>
              <a:xfrm>
                <a:off x="190500" y="123825"/>
                <a:ext cx="285750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</a:t>
                </a:r>
              </a:p>
            </p:txBody>
          </p:sp>
          <p:sp>
            <p:nvSpPr>
              <p:cNvPr id="5" name="テキスト"/>
              <p:cNvSpPr txBox="1"/>
              <p:nvPr/>
            </p:nvSpPr>
            <p:spPr>
              <a:xfrm>
                <a:off x="590550" y="0"/>
                <a:ext cx="6096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823"/>
                  </a:lnSpc>
                  <a:buNone/>
                </a:pPr>
                <a:r>
                  <a:rPr lang="ja-JP" altLang="en-US" sz="1350" b="1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顧客管理システム</a:t>
                </a:r>
              </a:p>
            </p:txBody>
          </p:sp>
          <p:sp>
            <p:nvSpPr>
              <p:cNvPr id="6" name="四角形"/>
              <p:cNvSpPr/>
              <p:nvPr/>
            </p:nvSpPr>
            <p:spPr>
              <a:xfrm>
                <a:off x="11087100" y="114300"/>
                <a:ext cx="914400" cy="3048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7" name="テキスト"/>
              <p:cNvSpPr txBox="1"/>
              <p:nvPr/>
            </p:nvSpPr>
            <p:spPr>
              <a:xfrm>
                <a:off x="11087100" y="114300"/>
                <a:ext cx="91440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ログアウト</a:t>
                </a:r>
              </a:p>
            </p:txBody>
          </p:sp>
          <p:sp>
            <p:nvSpPr>
              <p:cNvPr id="8" name="テキスト"/>
              <p:cNvSpPr txBox="1"/>
              <p:nvPr/>
            </p:nvSpPr>
            <p:spPr>
              <a:xfrm>
                <a:off x="7467600" y="0"/>
                <a:ext cx="3429000" cy="533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r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FFFFFF"/>
                    </a:solidFill>
                    <a:latin typeface="Meiryo UI"/>
                    <a:ea typeface="Meiryo UI"/>
                  </a:rPr>
                  <a:t>営業第一部　山田 太郎</a:t>
                </a:r>
              </a:p>
            </p:txBody>
          </p:sp>
        </p:grpSp>
        <p:grpSp>
          <p:nvGrpSpPr>
            <p:cNvPr id="21" name="サイドメニュー"/>
            <p:cNvGrpSpPr/>
            <p:nvPr/>
          </p:nvGrpSpPr>
          <p:grpSpPr>
            <a:xfrm>
              <a:off x="0" y="533400"/>
              <a:ext cx="2095500" cy="6324600"/>
              <a:chOff x="0" y="533400"/>
              <a:chExt cx="2095500" cy="6324600"/>
            </a:xfrm>
          </p:grpSpPr>
          <p:sp>
            <p:nvSpPr>
              <p:cNvPr id="10" name="四角形"/>
              <p:cNvSpPr/>
              <p:nvPr/>
            </p:nvSpPr>
            <p:spPr>
              <a:xfrm>
                <a:off x="0" y="533400"/>
                <a:ext cx="2095500" cy="63246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11" name="線"/>
              <p:cNvCxnSpPr/>
              <p:nvPr/>
            </p:nvCxnSpPr>
            <p:spPr>
              <a:xfrm>
                <a:off x="2095500" y="533400"/>
                <a:ext cx="0" cy="6324600"/>
              </a:xfrm>
              <a:prstGeom prst="line">
                <a:avLst/>
              </a:prstGeom>
              <a:ln w="9525">
                <a:solidFill>
                  <a:srgbClr val="E2E8F0"/>
                </a:solidFill>
              </a:ln>
            </p:spPr>
          </p:cxnSp>
          <p:sp>
            <p:nvSpPr>
              <p:cNvPr id="12" name="テキスト"/>
              <p:cNvSpPr txBox="1"/>
              <p:nvPr/>
            </p:nvSpPr>
            <p:spPr>
              <a:xfrm>
                <a:off x="266700" y="6477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sp>
            <p:nvSpPr>
              <p:cNvPr id="13" name="テキスト"/>
              <p:cNvSpPr txBox="1"/>
              <p:nvPr/>
            </p:nvSpPr>
            <p:spPr>
              <a:xfrm>
                <a:off x="266700" y="10668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顧客管理</a:t>
                </a:r>
              </a:p>
            </p:txBody>
          </p:sp>
          <p:sp>
            <p:nvSpPr>
              <p:cNvPr id="14" name="テキスト"/>
              <p:cNvSpPr txBox="1"/>
              <p:nvPr/>
            </p:nvSpPr>
            <p:spPr>
              <a:xfrm>
                <a:off x="266700" y="14859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申請・承認</a:t>
                </a:r>
              </a:p>
            </p:txBody>
          </p:sp>
          <p:sp>
            <p:nvSpPr>
              <p:cNvPr id="15" name="テキスト"/>
              <p:cNvSpPr txBox="1"/>
              <p:nvPr/>
            </p:nvSpPr>
            <p:spPr>
              <a:xfrm>
                <a:off x="266700" y="19050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帳票出力</a:t>
                </a:r>
              </a:p>
            </p:txBody>
          </p:sp>
          <p:sp>
            <p:nvSpPr>
              <p:cNvPr id="16" name="四角形"/>
              <p:cNvSpPr/>
              <p:nvPr/>
            </p:nvSpPr>
            <p:spPr>
              <a:xfrm>
                <a:off x="76200" y="2324100"/>
                <a:ext cx="19431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0E7F7"/>
              </a:solidFill>
              <a:ln>
                <a:noFill/>
              </a:ln>
            </p:spPr>
          </p:sp>
          <p:sp>
            <p:nvSpPr>
              <p:cNvPr id="17" name="四角形"/>
              <p:cNvSpPr/>
              <p:nvPr/>
            </p:nvSpPr>
            <p:spPr>
              <a:xfrm>
                <a:off x="76200" y="2400300"/>
                <a:ext cx="381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457C5"/>
              </a:solidFill>
              <a:ln>
                <a:noFill/>
              </a:ln>
            </p:spPr>
          </p:sp>
          <p:sp>
            <p:nvSpPr>
              <p:cNvPr id="18" name="テキスト"/>
              <p:cNvSpPr txBox="1"/>
              <p:nvPr/>
            </p:nvSpPr>
            <p:spPr>
              <a:xfrm>
                <a:off x="266700" y="23241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1" dirty="0">
                    <a:solidFill>
                      <a:srgbClr val="1F4AA7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  <p:sp>
            <p:nvSpPr>
              <p:cNvPr id="19" name="テキスト"/>
              <p:cNvSpPr txBox="1"/>
              <p:nvPr/>
            </p:nvSpPr>
            <p:spPr>
              <a:xfrm>
                <a:off x="266700" y="27432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マスタ管理</a:t>
                </a:r>
              </a:p>
            </p:txBody>
          </p:sp>
          <p:sp>
            <p:nvSpPr>
              <p:cNvPr id="20" name="テキスト"/>
              <p:cNvSpPr txBox="1"/>
              <p:nvPr/>
            </p:nvSpPr>
            <p:spPr>
              <a:xfrm>
                <a:off x="266700" y="3162300"/>
                <a:ext cx="17145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334155"/>
                    </a:solidFill>
                    <a:latin typeface="Meiryo UI"/>
                    <a:ea typeface="Meiryo UI"/>
                  </a:rPr>
                  <a:t>システム設定</a:t>
                </a:r>
              </a:p>
            </p:txBody>
          </p:sp>
        </p:grpSp>
        <p:grpSp>
          <p:nvGrpSpPr>
            <p:cNvPr id="26" name="パンくずリスト"/>
            <p:cNvGrpSpPr/>
            <p:nvPr/>
          </p:nvGrpSpPr>
          <p:grpSpPr>
            <a:xfrm>
              <a:off x="2400300" y="723900"/>
              <a:ext cx="6096000" cy="228600"/>
              <a:chOff x="2400300" y="723900"/>
              <a:chExt cx="6096000" cy="228600"/>
            </a:xfrm>
          </p:grpSpPr>
          <p:sp>
            <p:nvSpPr>
              <p:cNvPr id="22" name="テキスト"/>
              <p:cNvSpPr txBox="1"/>
              <p:nvPr/>
            </p:nvSpPr>
            <p:spPr>
              <a:xfrm>
                <a:off x="2400300" y="723900"/>
                <a:ext cx="39632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0" dirty="0">
                    <a:solidFill>
                      <a:srgbClr val="2457C5"/>
                    </a:solidFill>
                    <a:latin typeface="Meiryo UI"/>
                    <a:ea typeface="Meiryo UI"/>
                  </a:rPr>
                  <a:t>ホーム</a:t>
                </a:r>
              </a:p>
            </p:txBody>
          </p:sp>
          <p:cxnSp>
            <p:nvCxnSpPr>
              <p:cNvPr id="23" name="線"/>
              <p:cNvCxnSpPr/>
              <p:nvPr/>
            </p:nvCxnSpPr>
            <p:spPr>
              <a:xfrm>
                <a:off x="2872829" y="8001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cxnSp>
            <p:nvCxnSpPr>
              <p:cNvPr id="24" name="線"/>
              <p:cNvCxnSpPr/>
              <p:nvPr/>
            </p:nvCxnSpPr>
            <p:spPr>
              <a:xfrm flipH="1">
                <a:off x="2872829" y="838200"/>
                <a:ext cx="38100" cy="38100"/>
              </a:xfrm>
              <a:prstGeom prst="line">
                <a:avLst/>
              </a:prstGeom>
              <a:ln w="13335">
                <a:solidFill>
                  <a:srgbClr val="94A3B8"/>
                </a:solidFill>
              </a:ln>
            </p:spPr>
          </p:cxnSp>
          <p:sp>
            <p:nvSpPr>
              <p:cNvPr id="25" name="テキスト"/>
              <p:cNvSpPr txBox="1"/>
              <p:nvPr/>
            </p:nvSpPr>
            <p:spPr>
              <a:xfrm>
                <a:off x="3025229" y="723900"/>
                <a:ext cx="643979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316"/>
                  </a:lnSpc>
                  <a:buNone/>
                </a:pPr>
                <a:r>
                  <a:rPr lang="ja-JP" altLang="en-US" sz="97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データ取込</a:t>
                </a:r>
              </a:p>
            </p:txBody>
          </p:sp>
        </p:grpSp>
      </p:grpSp>
      <p:grpSp>
        <p:nvGrpSpPr>
          <p:cNvPr id="30" name="見出し：データ取込（顧客情報）"/>
          <p:cNvGrpSpPr/>
          <p:nvPr/>
        </p:nvGrpSpPr>
        <p:grpSpPr>
          <a:xfrm>
            <a:off x="2400300" y="990600"/>
            <a:ext cx="4572000" cy="381000"/>
            <a:chOff x="2400300" y="990600"/>
            <a:chExt cx="4572000" cy="381000"/>
          </a:xfrm>
        </p:grpSpPr>
        <p:sp>
          <p:nvSpPr>
            <p:cNvPr id="28" name="四角形"/>
            <p:cNvSpPr/>
            <p:nvPr/>
          </p:nvSpPr>
          <p:spPr>
            <a:xfrm>
              <a:off x="2400300" y="1055370"/>
              <a:ext cx="47625" cy="251460"/>
            </a:xfrm>
            <a:prstGeom prst="roundRect">
              <a:avLst>
                <a:gd name="adj" fmla="val 40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29" name="テキスト"/>
            <p:cNvSpPr txBox="1"/>
            <p:nvPr/>
          </p:nvSpPr>
          <p:spPr>
            <a:xfrm>
              <a:off x="2552700" y="990600"/>
              <a:ext cx="44196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2228"/>
                </a:lnSpc>
                <a:buNone/>
              </a:pPr>
              <a:r>
                <a:rPr lang="ja-JP" altLang="en-US" sz="1650" b="1" dirty="0">
                  <a:solidFill>
                    <a:srgbClr val="1F2937"/>
                  </a:solidFill>
                  <a:latin typeface="Meiryo UI"/>
                  <a:ea typeface="Meiryo UI"/>
                </a:rPr>
                <a:t>データ取込（顧客情報）</a:t>
              </a:r>
            </a:p>
          </p:txBody>
        </p:sp>
      </p:grpSp>
      <p:grpSp>
        <p:nvGrpSpPr>
          <p:cNvPr id="42" name="ステップ表示"/>
          <p:cNvGrpSpPr/>
          <p:nvPr/>
        </p:nvGrpSpPr>
        <p:grpSpPr>
          <a:xfrm>
            <a:off x="7315200" y="914400"/>
            <a:ext cx="4572000" cy="533400"/>
            <a:chOff x="7315200" y="914400"/>
            <a:chExt cx="4572000" cy="533400"/>
          </a:xfrm>
        </p:grpSpPr>
        <p:sp>
          <p:nvSpPr>
            <p:cNvPr id="31" name="円"/>
            <p:cNvSpPr/>
            <p:nvPr/>
          </p:nvSpPr>
          <p:spPr>
            <a:xfrm>
              <a:off x="7943850" y="914400"/>
              <a:ext cx="266700" cy="266700"/>
            </a:xfrm>
            <a:prstGeom prst="ellipse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2" name="テキスト"/>
            <p:cNvSpPr txBox="1"/>
            <p:nvPr/>
          </p:nvSpPr>
          <p:spPr>
            <a:xfrm>
              <a:off x="7943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1</a:t>
              </a:r>
            </a:p>
          </p:txBody>
        </p:sp>
        <p:sp>
          <p:nvSpPr>
            <p:cNvPr id="33" name="テキスト"/>
            <p:cNvSpPr txBox="1"/>
            <p:nvPr/>
          </p:nvSpPr>
          <p:spPr>
            <a:xfrm>
              <a:off x="7315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ファイル選択</a:t>
              </a:r>
            </a:p>
          </p:txBody>
        </p:sp>
        <p:cxnSp>
          <p:nvCxnSpPr>
            <p:cNvPr id="34" name="線"/>
            <p:cNvCxnSpPr/>
            <p:nvPr/>
          </p:nvCxnSpPr>
          <p:spPr>
            <a:xfrm>
              <a:off x="8229600" y="1047750"/>
              <a:ext cx="1219200" cy="0"/>
            </a:xfrm>
            <a:prstGeom prst="line">
              <a:avLst/>
            </a:prstGeom>
            <a:ln w="19050">
              <a:solidFill>
                <a:srgbClr val="CBD5E1"/>
              </a:solidFill>
            </a:ln>
          </p:spPr>
        </p:cxnSp>
        <p:sp>
          <p:nvSpPr>
            <p:cNvPr id="35" name="円"/>
            <p:cNvSpPr/>
            <p:nvPr/>
          </p:nvSpPr>
          <p:spPr>
            <a:xfrm>
              <a:off x="9467850" y="914400"/>
              <a:ext cx="266700" cy="266700"/>
            </a:xfrm>
            <a:prstGeom prst="ellipse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6" name="テキスト"/>
            <p:cNvSpPr txBox="1"/>
            <p:nvPr/>
          </p:nvSpPr>
          <p:spPr>
            <a:xfrm>
              <a:off x="9467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2</a:t>
              </a:r>
            </a:p>
          </p:txBody>
        </p:sp>
        <p:sp>
          <p:nvSpPr>
            <p:cNvPr id="37" name="テキスト"/>
            <p:cNvSpPr txBox="1"/>
            <p:nvPr/>
          </p:nvSpPr>
          <p:spPr>
            <a:xfrm>
              <a:off x="8839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内容の確認</a:t>
              </a:r>
            </a:p>
          </p:txBody>
        </p:sp>
        <p:cxnSp>
          <p:nvCxnSpPr>
            <p:cNvPr id="38" name="線"/>
            <p:cNvCxnSpPr/>
            <p:nvPr/>
          </p:nvCxnSpPr>
          <p:spPr>
            <a:xfrm>
              <a:off x="9753600" y="1047750"/>
              <a:ext cx="1219200" cy="0"/>
            </a:xfrm>
            <a:prstGeom prst="line">
              <a:avLst/>
            </a:prstGeom>
            <a:ln w="19050">
              <a:solidFill>
                <a:srgbClr val="CBD5E1"/>
              </a:solidFill>
            </a:ln>
          </p:spPr>
        </p:cxnSp>
        <p:sp>
          <p:nvSpPr>
            <p:cNvPr id="39" name="円"/>
            <p:cNvSpPr/>
            <p:nvPr/>
          </p:nvSpPr>
          <p:spPr>
            <a:xfrm>
              <a:off x="10991850" y="914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0" name="テキスト"/>
            <p:cNvSpPr txBox="1"/>
            <p:nvPr/>
          </p:nvSpPr>
          <p:spPr>
            <a:xfrm>
              <a:off x="10991850" y="914400"/>
              <a:ext cx="266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64748B"/>
                  </a:solidFill>
                  <a:latin typeface="Meiryo UI"/>
                  <a:ea typeface="Meiryo UI"/>
                </a:rPr>
                <a:t>3</a:t>
              </a:r>
            </a:p>
          </p:txBody>
        </p:sp>
        <p:sp>
          <p:nvSpPr>
            <p:cNvPr id="41" name="テキスト"/>
            <p:cNvSpPr txBox="1"/>
            <p:nvPr/>
          </p:nvSpPr>
          <p:spPr>
            <a:xfrm>
              <a:off x="10363200" y="12192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0" dirty="0">
                  <a:solidFill>
                    <a:srgbClr val="1F2937"/>
                  </a:solidFill>
                  <a:latin typeface="Meiryo UI"/>
                  <a:ea typeface="Meiryo UI"/>
                </a:rPr>
                <a:t>取込</a:t>
              </a:r>
            </a:p>
          </p:txBody>
        </p:sp>
      </p:grpSp>
      <p:grpSp>
        <p:nvGrpSpPr>
          <p:cNvPr id="56" name="グループ"/>
          <p:cNvGrpSpPr/>
          <p:nvPr/>
        </p:nvGrpSpPr>
        <p:grpSpPr>
          <a:xfrm>
            <a:off x="2400300" y="1562100"/>
            <a:ext cx="9486900" cy="1866900"/>
            <a:chOff x="2400300" y="1562100"/>
            <a:chExt cx="9486900" cy="1866900"/>
          </a:xfrm>
        </p:grpSpPr>
        <p:grpSp>
          <p:nvGrpSpPr>
            <p:cNvPr id="48" name="グループ枠：取り込むファイル"/>
            <p:cNvGrpSpPr/>
            <p:nvPr/>
          </p:nvGrpSpPr>
          <p:grpSpPr>
            <a:xfrm>
              <a:off x="2400300" y="1562100"/>
              <a:ext cx="9486900" cy="1866900"/>
              <a:chOff x="2400300" y="1562100"/>
              <a:chExt cx="9486900" cy="1866900"/>
            </a:xfrm>
          </p:grpSpPr>
          <p:sp>
            <p:nvSpPr>
              <p:cNvPr id="43" name="四角形"/>
              <p:cNvSpPr/>
              <p:nvPr/>
            </p:nvSpPr>
            <p:spPr>
              <a:xfrm>
                <a:off x="2400300" y="1562100"/>
                <a:ext cx="9486900" cy="1866900"/>
              </a:xfrm>
              <a:prstGeom prst="roundRect">
                <a:avLst>
                  <a:gd name="adj" fmla="val 306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4" name="四角形"/>
              <p:cNvSpPr/>
              <p:nvPr/>
            </p:nvSpPr>
            <p:spPr>
              <a:xfrm>
                <a:off x="2409825" y="1571625"/>
                <a:ext cx="9467850" cy="3810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45" name="四角形"/>
              <p:cNvSpPr/>
              <p:nvPr/>
            </p:nvSpPr>
            <p:spPr>
              <a:xfrm>
                <a:off x="2409825" y="1752600"/>
                <a:ext cx="9467850" cy="200025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cxnSp>
            <p:nvCxnSpPr>
              <p:cNvPr id="46" name="線"/>
              <p:cNvCxnSpPr/>
              <p:nvPr/>
            </p:nvCxnSpPr>
            <p:spPr>
              <a:xfrm>
                <a:off x="2400300" y="1952625"/>
                <a:ext cx="9486900" cy="0"/>
              </a:xfrm>
              <a:prstGeom prst="line">
                <a:avLst/>
              </a:prstGeom>
              <a:ln w="9525">
                <a:solidFill>
                  <a:srgbClr val="CBD5E1"/>
                </a:solidFill>
              </a:ln>
            </p:spPr>
          </p:cxnSp>
          <p:sp>
            <p:nvSpPr>
              <p:cNvPr id="47" name="テキスト"/>
              <p:cNvSpPr txBox="1"/>
              <p:nvPr/>
            </p:nvSpPr>
            <p:spPr>
              <a:xfrm>
                <a:off x="2552700" y="1571625"/>
                <a:ext cx="91821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1519"/>
                  </a:lnSpc>
                  <a:buNone/>
                </a:pPr>
                <a:r>
                  <a:rPr lang="ja-JP" altLang="en-US" sz="1125" b="1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取り込むファイル</a:t>
                </a:r>
              </a:p>
            </p:txBody>
          </p:sp>
        </p:grpSp>
        <p:sp>
          <p:nvSpPr>
            <p:cNvPr id="49" name="四角形"/>
            <p:cNvSpPr/>
            <p:nvPr/>
          </p:nvSpPr>
          <p:spPr>
            <a:xfrm>
              <a:off x="2636044" y="2026444"/>
              <a:ext cx="9015413" cy="862013"/>
            </a:xfrm>
            <a:prstGeom prst="roundRect">
              <a:avLst>
                <a:gd name="adj" fmla="val 6630"/>
              </a:avLst>
            </a:prstGeom>
            <a:noFill/>
            <a:ln w="14288">
              <a:solidFill>
                <a:srgbClr val="94A3B8"/>
              </a:solidFill>
              <a:prstDash val="dash"/>
            </a:ln>
          </p:spPr>
        </p:sp>
        <p:sp>
          <p:nvSpPr>
            <p:cNvPr id="50" name="テキスト"/>
            <p:cNvSpPr txBox="1"/>
            <p:nvPr/>
          </p:nvSpPr>
          <p:spPr>
            <a:xfrm>
              <a:off x="2628900" y="2095500"/>
              <a:ext cx="9029700" cy="2667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475569"/>
                  </a:solidFill>
                  <a:latin typeface="Meiryo UI"/>
                  <a:ea typeface="Meiryo UI"/>
                </a:rPr>
                <a:t>ここに CSV ファイルをドラッグ＆ドロップ、または</a:t>
              </a:r>
            </a:p>
          </p:txBody>
        </p:sp>
        <p:grpSp>
          <p:nvGrpSpPr>
            <p:cNvPr id="53" name="ボタン：ファイルを選択"/>
            <p:cNvGrpSpPr/>
            <p:nvPr/>
          </p:nvGrpSpPr>
          <p:grpSpPr>
            <a:xfrm>
              <a:off x="6572250" y="2419350"/>
              <a:ext cx="1143000" cy="342900"/>
              <a:chOff x="6572250" y="2419350"/>
              <a:chExt cx="1143000" cy="342900"/>
            </a:xfrm>
          </p:grpSpPr>
          <p:sp>
            <p:nvSpPr>
              <p:cNvPr id="51" name="四角形"/>
              <p:cNvSpPr/>
              <p:nvPr/>
            </p:nvSpPr>
            <p:spPr>
              <a:xfrm>
                <a:off x="6572250" y="2419350"/>
                <a:ext cx="11430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2" name="テキスト"/>
              <p:cNvSpPr txBox="1"/>
              <p:nvPr/>
            </p:nvSpPr>
            <p:spPr>
              <a:xfrm>
                <a:off x="6572250" y="2419350"/>
                <a:ext cx="1143000" cy="3429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1418"/>
                  </a:lnSpc>
                  <a:buNone/>
                </a:pPr>
                <a:r>
                  <a:rPr lang="ja-JP" altLang="en-US" sz="1050" b="0" dirty="0">
                    <a:solidFill>
                      <a:srgbClr val="1F2937"/>
                    </a:solidFill>
                    <a:latin typeface="Meiryo UI"/>
                    <a:ea typeface="Meiryo UI"/>
                  </a:rPr>
                  <a:t>ファイルを選択</a:t>
                </a:r>
              </a:p>
            </p:txBody>
          </p:sp>
        </p:grpSp>
        <p:sp>
          <p:nvSpPr>
            <p:cNvPr id="54" name="テキスト"/>
            <p:cNvSpPr txBox="1"/>
            <p:nvPr/>
          </p:nvSpPr>
          <p:spPr>
            <a:xfrm>
              <a:off x="2628900" y="2971800"/>
              <a:ext cx="57150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1F2937"/>
                  </a:solidFill>
                  <a:latin typeface="Meiryo UI"/>
                  <a:ea typeface="Meiryo UI"/>
                </a:rPr>
                <a:t>選択中：customer_20261025.csv（120 件・48 KB）</a:t>
              </a:r>
            </a:p>
          </p:txBody>
        </p:sp>
        <p:sp>
          <p:nvSpPr>
            <p:cNvPr id="55" name="テキスト"/>
            <p:cNvSpPr txBox="1"/>
            <p:nvPr/>
          </p:nvSpPr>
          <p:spPr>
            <a:xfrm>
              <a:off x="7848600" y="2971800"/>
              <a:ext cx="3810000" cy="304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ts val="1215"/>
                </a:lnSpc>
                <a:buNone/>
              </a:pPr>
              <a:r>
                <a:rPr lang="ja-JP" altLang="en-US" sz="900" b="0" dirty="0">
                  <a:solidFill>
                    <a:srgbClr val="64748B"/>
                  </a:solidFill>
                  <a:latin typeface="Meiryo UI"/>
                  <a:ea typeface="Meiryo UI"/>
                </a:rPr>
                <a:t>文字コード UTF-8、1ファイル 10 MB まで</a:t>
              </a:r>
            </a:p>
          </p:txBody>
        </p:sp>
      </p:grpSp>
      <p:grpSp>
        <p:nvGrpSpPr>
          <p:cNvPr id="61" name="メッセージ：120 件中 3 件にエラーがあります。エラーの行は取り込まれません。"/>
          <p:cNvGrpSpPr/>
          <p:nvPr/>
        </p:nvGrpSpPr>
        <p:grpSpPr>
          <a:xfrm>
            <a:off x="2400300" y="3581400"/>
            <a:ext cx="9486900" cy="419100"/>
            <a:chOff x="2400300" y="3581400"/>
            <a:chExt cx="9486900" cy="419100"/>
          </a:xfrm>
        </p:grpSpPr>
        <p:sp>
          <p:nvSpPr>
            <p:cNvPr id="57" name="四角形"/>
            <p:cNvSpPr/>
            <p:nvPr/>
          </p:nvSpPr>
          <p:spPr>
            <a:xfrm>
              <a:off x="2400300" y="3581400"/>
              <a:ext cx="9486900" cy="419100"/>
            </a:xfrm>
            <a:prstGeom prst="roundRect">
              <a:avLst>
                <a:gd name="adj" fmla="val 13636"/>
              </a:avLst>
            </a:prstGeom>
            <a:solidFill>
              <a:srgbClr val="FEF3C7"/>
            </a:solidFill>
            <a:ln w="9525">
              <a:solidFill>
                <a:srgbClr val="FCD34D"/>
              </a:solidFill>
            </a:ln>
          </p:spPr>
        </p:sp>
        <p:sp>
          <p:nvSpPr>
            <p:cNvPr id="58" name="円"/>
            <p:cNvSpPr/>
            <p:nvPr/>
          </p:nvSpPr>
          <p:spPr>
            <a:xfrm>
              <a:off x="2533650" y="3695700"/>
              <a:ext cx="190500" cy="190500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59" name="テキスト"/>
            <p:cNvSpPr txBox="1"/>
            <p:nvPr/>
          </p:nvSpPr>
          <p:spPr>
            <a:xfrm>
              <a:off x="2533650" y="3695700"/>
              <a:ext cx="190500" cy="1905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316"/>
                </a:lnSpc>
                <a:buNone/>
              </a:pPr>
              <a:r>
                <a:rPr lang="ja-JP" altLang="en-US" sz="975" b="1" dirty="0">
                  <a:solidFill>
                    <a:srgbClr val="FFFFFF"/>
                  </a:solidFill>
                  <a:latin typeface="Meiryo UI"/>
                  <a:ea typeface="Meiryo UI"/>
                </a:rPr>
                <a:t>!</a:t>
              </a:r>
            </a:p>
          </p:txBody>
        </p:sp>
        <p:sp>
          <p:nvSpPr>
            <p:cNvPr id="60" name="テキスト"/>
            <p:cNvSpPr txBox="1"/>
            <p:nvPr/>
          </p:nvSpPr>
          <p:spPr>
            <a:xfrm>
              <a:off x="2838450" y="3581400"/>
              <a:ext cx="8915400" cy="4191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B45309"/>
                  </a:solidFill>
                  <a:latin typeface="Meiryo UI"/>
                  <a:ea typeface="Meiryo UI"/>
                </a:rPr>
                <a:t>120 件中 3 件にエラーがあります。エラーの行は取り込まれません。</a:t>
              </a:r>
            </a:p>
          </p:txBody>
        </p:sp>
      </p:grpSp>
      <p:graphicFrame>
        <p:nvGraphicFramePr>
          <p:cNvPr id="62" name="表"/>
          <p:cNvGraphicFramePr>
            <a:graphicFrameLocks noGrp="1"/>
          </p:cNvGraphicFramePr>
          <p:nvPr/>
        </p:nvGraphicFramePr>
        <p:xfrm>
          <a:off x="2400300" y="4152900"/>
          <a:ext cx="9486900" cy="1714500"/>
        </p:xfrm>
        <a:graphic>
          <a:graphicData uri="http://schemas.openxmlformats.org/drawingml/2006/table">
            <a:tbl>
              <a:tblPr firstRow="1"/>
              <a:tblGrid>
                <a:gridCol w="571500"/>
                <a:gridCol w="1371600"/>
                <a:gridCol w="1600200"/>
                <a:gridCol w="1600200"/>
                <a:gridCol w="914400"/>
                <a:gridCol w="3429000"/>
              </a:tblGrid>
              <a:tr h="342900"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行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顧客番号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氏名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電話番号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判定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1" dirty="0">
                          <a:solidFill>
                            <a:srgbClr val="173980"/>
                          </a:solidFill>
                          <a:latin typeface="Meiryo UI"/>
                          <a:ea typeface="Meiryo UI"/>
                        </a:rPr>
                        <a:t>内容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5EB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12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C-0015001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青木 誠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090-1111-2222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エラー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電話番号の形式が正しくありません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45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C-0015034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endParaRPr lang="ja-JP" altLang="en-US" sz="975" b="0" dirty="0">
                        <a:solidFill>
                          <a:srgbClr val="1F2937"/>
                        </a:solidFill>
                        <a:latin typeface="Meiryo UI"/>
                        <a:ea typeface="Meiryo UI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03-5555-6666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エラー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氏名が入力されていません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87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C-0012345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山田 太郎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090-1234-5678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エラー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同じ顧客番号がすでに登録されています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r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1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C-0015000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石井 和子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080-3333-4444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r>
                        <a:rPr lang="ja-JP" altLang="en-US" sz="975" b="0" dirty="0">
                          <a:solidFill>
                            <a:srgbClr val="1F2937"/>
                          </a:solidFill>
                          <a:latin typeface="Meiryo UI"/>
                          <a:ea typeface="Meiryo UI"/>
                        </a:rPr>
                        <a:t>OK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6"/>
                        </a:lnSpc>
                        <a:buNone/>
                      </a:pPr>
                      <a:endParaRPr lang="ja-JP" altLang="en-US" sz="975" b="0" dirty="0">
                        <a:solidFill>
                          <a:srgbClr val="1F2937"/>
                        </a:solidFill>
                        <a:latin typeface="Meiryo UI"/>
                        <a:ea typeface="Meiryo UI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id="65" name="ボタン：ファイルを選び直す"/>
          <p:cNvGrpSpPr/>
          <p:nvPr/>
        </p:nvGrpSpPr>
        <p:grpSpPr>
          <a:xfrm>
            <a:off x="2400300" y="6172200"/>
            <a:ext cx="1524000" cy="381000"/>
            <a:chOff x="2400300" y="6172200"/>
            <a:chExt cx="1524000" cy="381000"/>
          </a:xfrm>
        </p:grpSpPr>
        <p:sp>
          <p:nvSpPr>
            <p:cNvPr id="63" name="四角形"/>
            <p:cNvSpPr/>
            <p:nvPr/>
          </p:nvSpPr>
          <p:spPr>
            <a:xfrm>
              <a:off x="2400300" y="6172200"/>
              <a:ext cx="1524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4" name="テキスト"/>
            <p:cNvSpPr txBox="1"/>
            <p:nvPr/>
          </p:nvSpPr>
          <p:spPr>
            <a:xfrm>
              <a:off x="2400300" y="6172200"/>
              <a:ext cx="1524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0" dirty="0">
                  <a:solidFill>
                    <a:srgbClr val="1F2937"/>
                  </a:solidFill>
                  <a:latin typeface="Meiryo UI"/>
                  <a:ea typeface="Meiryo UI"/>
                </a:rPr>
                <a:t>ファイルを選び直す</a:t>
              </a:r>
            </a:p>
          </p:txBody>
        </p:sp>
      </p:grpSp>
      <p:grpSp>
        <p:nvGrpSpPr>
          <p:cNvPr id="68" name="ボタン：117 件を取り込む"/>
          <p:cNvGrpSpPr/>
          <p:nvPr/>
        </p:nvGrpSpPr>
        <p:grpSpPr>
          <a:xfrm>
            <a:off x="10210800" y="6172200"/>
            <a:ext cx="1676400" cy="381000"/>
            <a:chOff x="10210800" y="6172200"/>
            <a:chExt cx="1676400" cy="381000"/>
          </a:xfrm>
        </p:grpSpPr>
        <p:sp>
          <p:nvSpPr>
            <p:cNvPr id="66" name="四角形"/>
            <p:cNvSpPr/>
            <p:nvPr/>
          </p:nvSpPr>
          <p:spPr>
            <a:xfrm>
              <a:off x="10210800" y="6172200"/>
              <a:ext cx="1676400" cy="381000"/>
            </a:xfrm>
            <a:prstGeom prst="roundRect">
              <a:avLst>
                <a:gd name="adj" fmla="val 15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67" name="テキスト"/>
            <p:cNvSpPr txBox="1"/>
            <p:nvPr/>
          </p:nvSpPr>
          <p:spPr>
            <a:xfrm>
              <a:off x="10210800" y="6172200"/>
              <a:ext cx="16764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117 件を取り込む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システムエラ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ヘッダー：顧客管理システム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2" name="四角形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3" name="四角形"/>
            <p:cNvSpPr/>
            <p:nvPr/>
          </p:nvSpPr>
          <p:spPr>
            <a:xfrm>
              <a:off x="190500" y="12382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5079D1"/>
            </a:solidFill>
            <a:ln>
              <a:noFill/>
            </a:ln>
          </p:spPr>
        </p:sp>
        <p:sp>
          <p:nvSpPr>
            <p:cNvPr id="4" name="テキスト"/>
            <p:cNvSpPr txBox="1"/>
            <p:nvPr/>
          </p:nvSpPr>
          <p:spPr>
            <a:xfrm>
              <a:off x="190500" y="123825"/>
              <a:ext cx="285750" cy="28575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519"/>
                </a:lnSpc>
                <a:buNone/>
              </a:pPr>
              <a:r>
                <a:rPr lang="ja-JP" altLang="en-US" sz="1125" b="1" dirty="0">
                  <a:solidFill>
                    <a:srgbClr val="FFFFFF"/>
                  </a:solidFill>
                  <a:latin typeface="Meiryo UI"/>
                  <a:ea typeface="Meiryo UI"/>
                </a:rPr>
                <a:t>顧</a:t>
              </a:r>
            </a:p>
          </p:txBody>
        </p:sp>
        <p:sp>
          <p:nvSpPr>
            <p:cNvPr id="5" name="テキスト"/>
            <p:cNvSpPr txBox="1"/>
            <p:nvPr/>
          </p:nvSpPr>
          <p:spPr>
            <a:xfrm>
              <a:off x="590550" y="0"/>
              <a:ext cx="6096000" cy="5334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1823"/>
                </a:lnSpc>
                <a:buNone/>
              </a:pPr>
              <a:r>
                <a:rPr lang="ja-JP" altLang="en-US" sz="1350" b="1" dirty="0">
                  <a:solidFill>
                    <a:srgbClr val="FFFFFF"/>
                  </a:solidFill>
                  <a:latin typeface="Meiryo UI"/>
                  <a:ea typeface="Meiryo UI"/>
                </a:rPr>
                <a:t>顧客管理システム</a:t>
              </a:r>
            </a:p>
          </p:txBody>
        </p:sp>
      </p:grpSp>
      <p:grpSp>
        <p:nvGrpSpPr>
          <p:cNvPr id="9" name="番号マーク"/>
          <p:cNvGrpSpPr/>
          <p:nvPr/>
        </p:nvGrpSpPr>
        <p:grpSpPr>
          <a:xfrm>
            <a:off x="5753100" y="1676400"/>
            <a:ext cx="685800" cy="685800"/>
            <a:chOff x="5753100" y="1676400"/>
            <a:chExt cx="685800" cy="685800"/>
          </a:xfrm>
        </p:grpSpPr>
        <p:sp>
          <p:nvSpPr>
            <p:cNvPr id="7" name="円"/>
            <p:cNvSpPr/>
            <p:nvPr/>
          </p:nvSpPr>
          <p:spPr>
            <a:xfrm>
              <a:off x="5753100" y="1676400"/>
              <a:ext cx="685800" cy="6858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" name="テキスト"/>
            <p:cNvSpPr txBox="1"/>
            <p:nvPr/>
          </p:nvSpPr>
          <p:spPr>
            <a:xfrm>
              <a:off x="5753100" y="1676400"/>
              <a:ext cx="685800" cy="6858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3645"/>
                </a:lnSpc>
                <a:buNone/>
              </a:pPr>
              <a:r>
                <a:rPr lang="ja-JP" altLang="en-US" sz="2700" b="1" dirty="0">
                  <a:solidFill>
                    <a:srgbClr val="FFFFFF"/>
                  </a:solidFill>
                  <a:latin typeface="Meiryo UI"/>
                  <a:ea typeface="Meiryo UI"/>
                </a:rPr>
                <a:t>!</a:t>
              </a:r>
            </a:p>
          </p:txBody>
        </p:sp>
      </p:grpSp>
      <p:sp>
        <p:nvSpPr>
          <p:cNvPr id="10" name="テキスト"/>
          <p:cNvSpPr txBox="1"/>
          <p:nvPr/>
        </p:nvSpPr>
        <p:spPr>
          <a:xfrm>
            <a:off x="2286000" y="25908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2228"/>
              </a:lnSpc>
              <a:buNone/>
            </a:pPr>
            <a:r>
              <a:rPr lang="ja-JP" altLang="en-US" sz="1650" b="1" dirty="0">
                <a:solidFill>
                  <a:srgbClr val="1F2937"/>
                </a:solidFill>
                <a:latin typeface="Meiryo UI"/>
                <a:ea typeface="Meiryo UI"/>
              </a:rPr>
              <a:t>処理中にエラーが発生しました</a:t>
            </a:r>
          </a:p>
        </p:txBody>
      </p:sp>
      <p:sp>
        <p:nvSpPr>
          <p:cNvPr id="11" name="テキスト"/>
          <p:cNvSpPr txBox="1"/>
          <p:nvPr/>
        </p:nvSpPr>
        <p:spPr>
          <a:xfrm>
            <a:off x="2286000" y="3048000"/>
            <a:ext cx="7620000" cy="4953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1418"/>
              </a:lnSpc>
              <a:buNone/>
            </a:pPr>
            <a:r>
              <a:rPr lang="ja-JP" altLang="en-US" sz="1050" b="0" dirty="0">
                <a:solidFill>
                  <a:srgbClr val="475569"/>
                </a:solidFill>
                <a:latin typeface="Meiryo UI"/>
                <a:ea typeface="Meiryo UI"/>
              </a:rPr>
              <a:t>しばらく時間をおいてから、もう一度お試しください。</a:t>
            </a:r>
          </a:p>
          <a:p>
            <a:pPr algn="ctr">
              <a:lnSpc>
                <a:spcPts val="1418"/>
              </a:lnSpc>
              <a:buNone/>
            </a:pPr>
            <a:r>
              <a:rPr lang="ja-JP" altLang="en-US" sz="1050" b="0" dirty="0">
                <a:solidFill>
                  <a:srgbClr val="475569"/>
                </a:solidFill>
                <a:latin typeface="Meiryo UI"/>
                <a:ea typeface="Meiryo UI"/>
              </a:rPr>
              <a:t>解決しない場合は、下のエラー番号を添えてシステム管理者にお問い合わせください。</a:t>
            </a:r>
          </a:p>
        </p:txBody>
      </p:sp>
      <p:grpSp>
        <p:nvGrpSpPr>
          <p:cNvPr id="14" name="グループ"/>
          <p:cNvGrpSpPr/>
          <p:nvPr/>
        </p:nvGrpSpPr>
        <p:grpSpPr>
          <a:xfrm>
            <a:off x="4191000" y="3771900"/>
            <a:ext cx="3810000" cy="533400"/>
            <a:chOff x="4191000" y="3771900"/>
            <a:chExt cx="3810000" cy="533400"/>
          </a:xfrm>
        </p:grpSpPr>
        <p:sp>
          <p:nvSpPr>
            <p:cNvPr id="12" name="四角形"/>
            <p:cNvSpPr/>
            <p:nvPr/>
          </p:nvSpPr>
          <p:spPr>
            <a:xfrm>
              <a:off x="4191000" y="3771900"/>
              <a:ext cx="3810000" cy="533400"/>
            </a:xfrm>
            <a:prstGeom prst="roundRect">
              <a:avLst>
                <a:gd name="adj" fmla="val 10714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テキスト"/>
            <p:cNvSpPr txBox="1"/>
            <p:nvPr/>
          </p:nvSpPr>
          <p:spPr>
            <a:xfrm>
              <a:off x="4191000" y="3771900"/>
              <a:ext cx="3810000" cy="5334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1F2937"/>
                  </a:solidFill>
                  <a:latin typeface="Meiryo UI"/>
                  <a:ea typeface="Meiryo UI"/>
                </a:rPr>
                <a:t>エラー番号：E500-20261026-0142</a:t>
              </a:r>
            </a:p>
          </p:txBody>
        </p:sp>
      </p:grpSp>
      <p:grpSp>
        <p:nvGrpSpPr>
          <p:cNvPr id="17" name="ボタン：ホームに戻る"/>
          <p:cNvGrpSpPr/>
          <p:nvPr/>
        </p:nvGrpSpPr>
        <p:grpSpPr>
          <a:xfrm>
            <a:off x="5334000" y="4572000"/>
            <a:ext cx="1524000" cy="381000"/>
            <a:chOff x="5334000" y="4572000"/>
            <a:chExt cx="1524000" cy="381000"/>
          </a:xfrm>
        </p:grpSpPr>
        <p:sp>
          <p:nvSpPr>
            <p:cNvPr id="15" name="四角形"/>
            <p:cNvSpPr/>
            <p:nvPr/>
          </p:nvSpPr>
          <p:spPr>
            <a:xfrm>
              <a:off x="5334000" y="4572000"/>
              <a:ext cx="1524000" cy="381000"/>
            </a:xfrm>
            <a:prstGeom prst="roundRect">
              <a:avLst>
                <a:gd name="adj" fmla="val 15000"/>
              </a:avLst>
            </a:prstGeom>
            <a:solidFill>
              <a:srgbClr val="2457C5"/>
            </a:solidFill>
            <a:ln>
              <a:noFill/>
            </a:ln>
          </p:spPr>
        </p:sp>
        <p:sp>
          <p:nvSpPr>
            <p:cNvPr id="16" name="テキスト"/>
            <p:cNvSpPr txBox="1"/>
            <p:nvPr/>
          </p:nvSpPr>
          <p:spPr>
            <a:xfrm>
              <a:off x="5334000" y="4572000"/>
              <a:ext cx="1524000" cy="38100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1418"/>
                </a:lnSpc>
                <a:buNone/>
              </a:pPr>
              <a:r>
                <a:rPr lang="ja-JP" altLang="en-US" sz="1050" b="1" dirty="0">
                  <a:solidFill>
                    <a:srgbClr val="FFFFFF"/>
                  </a:solidFill>
                  <a:latin typeface="Meiryo UI"/>
                  <a:ea typeface="Meiryo UI"/>
                </a:rPr>
                <a:t>ホームに戻る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16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業務システム画面テンプレート</dc:title>
  <dc:creator>画面イメージエディタ</dc:creator>
  <cp:revision>1</cp:revision>
  <dcterms:created xsi:type="dcterms:W3CDTF">2026-10-25T16:21:38Z</dcterms:created>
  <dcterms:modified xsi:type="dcterms:W3CDTF">2026-10-25T16:21:38Z</dcterms:modified>
</cp:coreProperties>
</file>