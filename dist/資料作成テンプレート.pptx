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</p:sldIdLst>
  <p:notesMasterIdLst>
    <p:notesMasterId r:id="rId5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3bc68233-f546-c5bf-5564-dd50dd734808}">
          <p14:sldIdLst>
            <p14:sldId id="256"/>
            <p14:sldId id="257"/>
            <p14:sldId id="258"/>
          </p14:sldIdLst>
        </p14:section>
        <p14:section name="1. 理由や主張を伝えたい" id="{fde31c94-b4dc-d64a-a65b-81b97b34d7d3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2. 比べて選んでほしい" id="{ebd6967c-8a18-4bf8-55e6-6eb0eab8f640}">
          <p14:sldIdLst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3. 流れや段取りを見せたい" id="{81db955b-4134-1482-a90a-a84d86196661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4. 数字で納得してもらいたい" id="{bad37f5d-88f9-0477-afbe-8d3bbfb2de62}">
          <p14:sldIdLst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5. 全体像を理解してもらいたい" id="{42da7c28-d715-778d-9b92-1c6e51062e70}">
          <p14:sldIdLst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6. 分類して優先順位を決めたい" id="{619e0b9c-da65-bbdc-c5f8-a67f33e55e27}">
          <p14:sldIdLst>
            <p14:sldId id="289"/>
            <p14:sldId id="290"/>
            <p14:sldId id="291"/>
            <p14:sldId id="292"/>
          </p14:sldIdLst>
        </p14:section>
        <p14:section name="7. 業務の流れを説明したい" id="{664f33d7-45d5-0152-b5fd-4bc9da8c8525}">
          <p14:sldIdLst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8. システム処理の流れを説明したい" id="{4b512577-dcd0-abc4-46d5-4268d5a12c7b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9. まとめて締めくくりたい" id="{573f0bbb-1f74-37f0-b340-5f32fba85b03}">
          <p14:sldIdLst>
            <p14:sldId id="308"/>
            <p14:sldId id="309"/>
            <p14:sldId id="310"/>
            <p14:sldId id="31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notesMaster" Target="notesMasters/notesMaster1.xml"/><Relationship Id="rId59" Type="http://schemas.openxmlformats.org/officeDocument/2006/relationships/presProps" Target="presProps.xml"/><Relationship Id="rId60" Type="http://schemas.openxmlformats.org/officeDocument/2006/relationships/viewProps" Target="viewProps.xml"/><Relationship Id="rId61" Type="http://schemas.openxmlformats.org/officeDocument/2006/relationships/theme" Target="theme/theme1.xml"/><Relationship Id="rId6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655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5B6655"/>
                </a:solidFill>
                <a:latin typeface="+mn-lt"/>
              </a:rPr>
              <a:t>ヘルプデスク問い合わせ件数（件）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通常月</c:v>
                </c:pt>
              </c:strCache>
            </c:strRef>
          </c:tx>
          <c:spPr>
            <a:solidFill>
              <a:srgbClr val="A9D18E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5月</c:v>
                  </c:pt>
                  <c:pt idx="1">
                    <c:v>6月</c:v>
                  </c:pt>
                  <c:pt idx="2">
                    <c:v>7月</c:v>
                  </c:pt>
                  <c:pt idx="3">
                    <c:v>8月</c:v>
                  </c:pt>
                  <c:pt idx="4">
                    <c:v>9月</c:v>
                  </c:pt>
                  <c:pt idx="5">
                    <c:v>10月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312</c:v>
                </c:pt>
                <c:pt idx="1">
                  <c:v>298</c:v>
                </c:pt>
                <c:pt idx="2">
                  <c:v>335</c:v>
                </c:pt>
                <c:pt idx="3">
                  <c:v>290</c:v>
                </c:pt>
                <c:pt idx="4">
                  <c:v>318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10月</c:v>
                </c:pt>
              </c:strCache>
            </c:strRef>
          </c:tx>
          <c:spPr>
            <a:solidFill>
              <a:srgbClr val="2F5233"/>
            </a:solidFill>
            <a:effectLst/>
          </c:spPr>
          <c:invertIfNegative val="0"/>
          <c:dLbls>
            <c:numFmt formatCode="#,##0;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5月</c:v>
                  </c:pt>
                  <c:pt idx="1">
                    <c:v>6月</c:v>
                  </c:pt>
                  <c:pt idx="2">
                    <c:v>7月</c:v>
                  </c:pt>
                  <c:pt idx="3">
                    <c:v>8月</c:v>
                  </c:pt>
                  <c:pt idx="4">
                    <c:v>9月</c:v>
                  </c:pt>
                  <c:pt idx="5">
                    <c:v>10月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486</c:v>
                </c:pt>
              </c:numCache>
            </c:numRef>
          </c:val>
        </c:ser>
        <c:dLbls>
          <c:numFmt formatCode="#,##0;;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AD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迷ったら「このスライドを見た人に何をしてほしいか」で目的を選ぶ。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型：根拠を3つ並べる（主張に理由が複数あるとき）
コツ：根拠は3つまでにし、各ボックスの見出しは一言で言い切る。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型：結論＋箇条書き（結論を目立たせて補足を添えたいとき）
コツ：左の結論ボックスに一番言いたい一文を入れ、右は短い箇条書きにする。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型：ピラミッド（主張・根拠・事実の3段で論理を見せたいとき）
コツ：上から主張、根拠、裏付けの事実の順に置き、下の段ほど細かくする。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型：課題→対策（課題と打ち手を1対1で対応させたいとき）
コツ：左右の行の高さをそろえ、どの課題にどの対策が効くかを横一直線で読めるようにする。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型：問い→答え（聞き手の疑問に正面から答えたいとき）
コツ：左に想定される問いを置き、右の答えを大きくする。答えは結論から書く。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型：左右対比（Before/After、現状と案を比べるとき）
コツ：比べる項目を左右で同じ順番・同じ高さに並べると、違いが一目で分かる。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型：比較表（候補を複数の軸で評価するとき）
コツ：評価軸は行、候補は列にする。推奨する列だけ色を付ける。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型：○△×評価（細かい数値より結論の印象を伝えたいとき）
コツ：記号の意味（○＝満たす など）を表の下に小さく書いておく。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型：メリット・デメリット（1つの案の良い点と注意点を整理するとき）
コツ：デメリットの横に対処法を一言添えると、反対意見を先回りして潰せる。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型：3案カード（3つの案から1つを推したいとき）
コツ：推奨案を真ん中に置くと視線が集まる。カードの項目順は3つでそろえる。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型：横ステップ（手順や段階を順番に見せるとき）
コツ：ステップ名は動詞で終える（「調査する」「移行する」）。今いる段階に色を付ける。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型：縦フロー＋分岐（条件によって処理が分かれるとき）
コツ：分岐点には問いの形で条件を書き、矢印に「はい／いいえ」を添える。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型：タイムライン（過去の経緯や出来事の時系列を見せるとき）
コツ：日付は線の上、出来事は線の下と、置き場所を固定すると読みやすくなる。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型：ロードマップ（複数の作業の期間や並行関係を見せるとき）
コツ：行は作業、横は時間。マイルストーンは縦の点線で示す。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型：サイクル（繰り返す運用や改善の流れを見せるとき）
コツ：4段階までに収める。始まりの段階だけ色を変えると読み始めの位置が分かる。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型：数字を主役に（1つの数値で効果や規模を示すとき）
コツ：数字は大きく、単位と比較対象（前年比、現状比など）を必ず添える。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型：グラフ＋示唆（データから言えることを添えるとき）
コツ：グラフの中で見てほしい1本だけ色を付け、右に「だから何か」を書く。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型：KPIを並べる（複数の指標の状況をまとめて見せるとき）
コツ：指標は3〜4個までにする。下の帯に全体として言えることを一文で書く。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型：Before→After（改善前後の差を数字で見せるとき）
コツ：Beforeは控えめな色、Afterを強調色にすると、変化の向きがすぐ伝わる。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型：表＋ハイライト（一覧の中の特定の行に注目させたいとき）
コツ：表全体は薄く、注目させたい行だけ色を付ける。説明は表の外に書く。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型：図＋説明（構成図や画面に解説を添えるとき）
コツ：図に番号を振り、右の説明を同じ番号で対応させると行き来しやすくなる。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型：全体→内訳（構成要素や論点を分解して見せるとき）
コツ：同じ段の要素は粒度をそろえ、漏れなくダブりなく分ける。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型：入れ子（範囲や所属の関係（何が何に含まれるか）を見せるとき）
コツ：外側ほど薄い色、内側ほど濃い色にすると包含関係が伝わる。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型：中心＋周辺（1つのものと関係者・関連要素のつながりを見せるとき）
コツ：中心に主役を置き、周りの要素との関係を一言で書く。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型：レイヤー（層の重なりでできている構造を見せるとき）
コツ：上の層ほど利用者に近いものを置く。左に層の名前を書く。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型：2×2マトリクス（2つの軸で分類・優先度付けするとき）
コツ：右上を「良い領域」にそろえるのが定番。軸の名前と向きを必ず書く。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型：ポジショニングマップ（複数の対象の位置関係を見せるとき）
コツ：点の数は8個程度までにする。見てほしい点だけ色と大きさを変える。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型：優先リスト（順位付けした結果を見せるとき）
コツ：上位だけ強調し、順位の決め方（評価基準）を下に小さく添える。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型：スイムレーン（複数の部署や担当をまたぐ業務を見せるとき）
コツ：レーンは関わる人の順に上から並べる。レーンをまたぐ矢印が多い所が、引き継ぎで止まりやすい所。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型：折り返しステップ（10前後のステップを順番どおりに見せるとき）
コツ：1行5つまでにして2段に折り返す。番号を大きく付けると、段をまたいでも順番を追える。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型：フェーズ＋ステップ（多くのステップを大きな段階でまとめたいとき）
コツ：まずフェーズの名前だけで全体が分かるようにし、ステップはその下に並べる。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型：全体→拡大（長い業務のうち、1つの工程を詳しく見せたいとき）
コツ：上段に全体を小さく残しておくと、今どこの話をしているかが分かる。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型：フロー＋担当表（各ステップの担当や受け渡す資料まで示したいとき）
コツ：列は「誰が・何を受け取り・何を渡すか」にそろえる。引き継ぎ資料にそのまま使える。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型：例外・差し戻し付き（通常の流れと例外の流れを両方見せたいとき）
コツ：通常の流れは上に一直線で置き、例外は下に別の色で出す。戻り先を矢印で示す。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型：シーケンス図（部品どうしのやり取りを時間順に見せるとき）
コツ：部品は呼ぶ側を左に並べる。戻りの矢印は点線にすると、行きと帰りが区別できる。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型：データフロー（データがどこから来て、どう変わり、どこへ行くかを見せるとき）
コツ：左に入力、中央に処理、右に出力の3列に分ける。処理の名前は動詞で書く。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型：構成図＋処理番号（細かい構成図の上で処理の順番を示したいとき）
コツ：矢印に丸数字を振り、右の説明を同じ番号で対応させる。図には文字を書き込みすぎない。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型：バッチの時間割（夜間処理などの開始・終了時刻と順番を見せるとき）
コツ：横軸は時刻にし、締め切りの時刻を縦線で示す。余裕がどれだけあるかが一目で分かる。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型：状態遷移図（データや申請の状態がどう変わるかを見せるとき）
コツ：状態は名詞、矢印は操作（動詞）で書く。終わりの状態だけ色を変える。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型：概要→詳細（全体の流れの1か所だけを細かく見せたいとき）
コツ：左に全体の流れを残し、詳しく描く部分を点線で結ぶ。詳細側にだけ分岐を描き込む。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型：正常系＋異常系（エラー時にどう回復するかまで見せたいとき）
コツ：上段に正常系、下段に異常系を置き、どのステップで何が起きたら下に落ちるかを縦の矢印で示す。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型：要点3つのまとめ（最後に結論を振り返るとき）
コツ：本文のメッセージ行をそのまま並べ直すと、まとめがぶれない。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型：お願い事項（承認や判断を求めるとき）
コツ：依頼は「何を・いつまでに」を1行で書く。期限は下の帯に分けて目立たせる。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型：アジェンダ（資料の冒頭や章の区切りで全体を示すとき）
コツ：章の区切りごとに同じアジェンダを出し、今の章だけ色を付けると迷子にならない。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2F5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E2F0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スライド配置の型帳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0.xml"/><Relationship Id="rId3" Type="http://schemas.openxmlformats.org/officeDocument/2006/relationships/slide" Target="slide16.xml"/><Relationship Id="rId4" Type="http://schemas.openxmlformats.org/officeDocument/2006/relationships/slide" Target="slide22.xml"/><Relationship Id="rId5" Type="http://schemas.openxmlformats.org/officeDocument/2006/relationships/slide" Target="slide28.xml"/><Relationship Id="rId6" Type="http://schemas.openxmlformats.org/officeDocument/2006/relationships/slide" Target="slide34.xml"/><Relationship Id="rId7" Type="http://schemas.openxmlformats.org/officeDocument/2006/relationships/slide" Target="slide38.xml"/><Relationship Id="rId8" Type="http://schemas.openxmlformats.org/officeDocument/2006/relationships/slide" Target="slide45.xml"/><Relationship Id="rId9" Type="http://schemas.openxmlformats.org/officeDocument/2006/relationships/slide" Target="slide53.xml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2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2.xml"/><Relationship Id="rId3" Type="http://schemas.openxmlformats.org/officeDocument/2006/relationships/slide" Target="slide13.xml"/><Relationship Id="rId4" Type="http://schemas.openxmlformats.org/officeDocument/2006/relationships/slide" Target="slide14.xml"/><Relationship Id="rId5" Type="http://schemas.openxmlformats.org/officeDocument/2006/relationships/slide" Target="slide15.xml"/><Relationship Id="rId6" Type="http://schemas.openxmlformats.org/officeDocument/2006/relationships/slide" Target="slide2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17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" Target="slide23.xml"/><Relationship Id="rId2" Type="http://schemas.openxmlformats.org/officeDocument/2006/relationships/slide" Target="slide24.xml"/><Relationship Id="rId3" Type="http://schemas.openxmlformats.org/officeDocument/2006/relationships/slide" Target="slide25.xml"/><Relationship Id="rId4" Type="http://schemas.openxmlformats.org/officeDocument/2006/relationships/slide" Target="slide26.xml"/><Relationship Id="rId5" Type="http://schemas.openxmlformats.org/officeDocument/2006/relationships/slide" Target="slide27.xml"/><Relationship Id="rId6" Type="http://schemas.openxmlformats.org/officeDocument/2006/relationships/slide" Target="slide2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chart" Target="/ppt/charts/chart1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30.xml"/><Relationship Id="rId3" Type="http://schemas.openxmlformats.org/officeDocument/2006/relationships/slide" Target="slide31.xml"/><Relationship Id="rId4" Type="http://schemas.openxmlformats.org/officeDocument/2006/relationships/slide" Target="slide32.xml"/><Relationship Id="rId5" Type="http://schemas.openxmlformats.org/officeDocument/2006/relationships/slide" Target="slide33.xml"/><Relationship Id="rId6" Type="http://schemas.openxmlformats.org/officeDocument/2006/relationships/slide" Target="slide2.xm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" Target="slide36.xml"/><Relationship Id="rId3" Type="http://schemas.openxmlformats.org/officeDocument/2006/relationships/slide" Target="slide37.xml"/><Relationship Id="rId4" Type="http://schemas.openxmlformats.org/officeDocument/2006/relationships/slide" Target="slide2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" Target="slide39.xml"/><Relationship Id="rId2" Type="http://schemas.openxmlformats.org/officeDocument/2006/relationships/slide" Target="slide40.xml"/><Relationship Id="rId3" Type="http://schemas.openxmlformats.org/officeDocument/2006/relationships/slide" Target="slide41.xml"/><Relationship Id="rId4" Type="http://schemas.openxmlformats.org/officeDocument/2006/relationships/slide" Target="slide42.xml"/><Relationship Id="rId5" Type="http://schemas.openxmlformats.org/officeDocument/2006/relationships/slide" Target="slide43.xml"/><Relationship Id="rId6" Type="http://schemas.openxmlformats.org/officeDocument/2006/relationships/slide" Target="slide44.xml"/><Relationship Id="rId7" Type="http://schemas.openxmlformats.org/officeDocument/2006/relationships/slide" Target="slide2.xml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" Target="slide46.xml"/><Relationship Id="rId2" Type="http://schemas.openxmlformats.org/officeDocument/2006/relationships/slide" Target="slide47.xml"/><Relationship Id="rId3" Type="http://schemas.openxmlformats.org/officeDocument/2006/relationships/slide" Target="slide48.xml"/><Relationship Id="rId4" Type="http://schemas.openxmlformats.org/officeDocument/2006/relationships/slide" Target="slide49.xml"/><Relationship Id="rId5" Type="http://schemas.openxmlformats.org/officeDocument/2006/relationships/slide" Target="slide50.xml"/><Relationship Id="rId6" Type="http://schemas.openxmlformats.org/officeDocument/2006/relationships/slide" Target="slide51.xml"/><Relationship Id="rId7" Type="http://schemas.openxmlformats.org/officeDocument/2006/relationships/slide" Target="slide52.xml"/><Relationship Id="rId8" Type="http://schemas.openxmlformats.org/officeDocument/2006/relationships/slide" Target="slide2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" Target="slide54.xml"/><Relationship Id="rId2" Type="http://schemas.openxmlformats.org/officeDocument/2006/relationships/slide" Target="slide55.xml"/><Relationship Id="rId3" Type="http://schemas.openxmlformats.org/officeDocument/2006/relationships/slide" Target="slide56.xml"/><Relationship Id="rId4" Type="http://schemas.openxmlformats.org/officeDocument/2006/relationships/slide" Target="slide2.xml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スライド配置の型帳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伝えたいメッセージから、1枚の形を選ぶための見本集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66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9つの目的　44パターン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34290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4E7352"/>
          </a:solidFill>
          <a:ln/>
        </p:spPr>
      </p:sp>
      <p:sp>
        <p:nvSpPr>
          <p:cNvPr id="6" name="Shape 4"/>
          <p:cNvSpPr/>
          <p:nvPr/>
        </p:nvSpPr>
        <p:spPr>
          <a:xfrm>
            <a:off x="7150608" y="34290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4E7352"/>
          </a:solidFill>
          <a:ln/>
        </p:spPr>
      </p:sp>
      <p:sp>
        <p:nvSpPr>
          <p:cNvPr id="7" name="Shape 5"/>
          <p:cNvSpPr/>
          <p:nvPr/>
        </p:nvSpPr>
        <p:spPr>
          <a:xfrm>
            <a:off x="7717536" y="342900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4E7352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0" y="3813048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4E7352"/>
          </a:solidFill>
          <a:ln/>
        </p:spPr>
      </p:sp>
      <p:sp>
        <p:nvSpPr>
          <p:cNvPr id="9" name="Shape 7"/>
          <p:cNvSpPr/>
          <p:nvPr/>
        </p:nvSpPr>
        <p:spPr>
          <a:xfrm>
            <a:off x="7150608" y="3813048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E2F0D9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36" y="3813048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4E735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目的から選ぶ：伝えたいことに近いものを開く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26187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3F8E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2618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2618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理由や主張を伝え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理由や主張を伝えたい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2618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「この方式を採用すべき理由は3つある」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2618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p.5–9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16276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6276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比べて選んでほし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比べて選んでほしい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34840" y="16276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「B社のサービスが条件を最も満たす」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16276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p.11–15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3F8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19933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19933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流れや段取りを見せ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流れや段取りを見せたい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19933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「移行は4段階で進める」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19933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p.17–21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35915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" y="23591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23591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数字で納得してもらい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数字で納得してもらいたい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23591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「作業時間が月40時間減る」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23591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p.23–27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72491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3F8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27249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272491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全体像を理解してもらい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全体像を理解してもらいたい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434840" y="272491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「新しいシステム構成はこうなる」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7249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p.29–33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09067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4360" y="309067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30906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分類して優先順位を決め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分類して優先順位を決めたい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434840" y="309067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「まず着手すべきは右上の2つ」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09067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p.35–37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45643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3F8E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94360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97280" y="3456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7" action="ppaction://hlinksldjump" tooltip="業務の流れを説明し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業務の流れを説明したい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4434840" y="345643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「経費精算は3部署・8ステップで回る」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345643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p.39–44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382219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9436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" y="38221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8" action="ppaction://hlinksldjump" tooltip="システム処理の流れを説明し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システム処理の流れを説明したい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434840" y="382219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「表示までに5つの部品が連携する」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0" y="382219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p.46–52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187952"/>
            <a:ext cx="8229600" cy="329184"/>
          </a:xfrm>
          <a:prstGeom prst="roundRect">
            <a:avLst>
              <a:gd name="adj" fmla="val 16667"/>
            </a:avLst>
          </a:prstGeom>
          <a:solidFill>
            <a:srgbClr val="F3F8E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94360" y="4187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97280" y="41879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9" action="ppaction://hlinksldjump" tooltip="まとめて締めくくりたい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まとめて締めくくりたい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4434840" y="4187952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「本日お願いしたいことは2点」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498080" y="418795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p.54–56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457200" y="45537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目的名をクリックすると、その章の扉に移動します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どの型にも共通する4つのコツ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2F52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メッセージ行は文章で書く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「現状の課題」ではなく「運用負荷の7割が手作業に集中している」のように、結論を一文で書く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強調色は1か所だけ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濃い緑で塗った場所が「見てほしい場所」になる。2か所以上に付けると効果が薄れる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要素は3〜4個まで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5個以上になりそうなら、グループにまとめるか2枚に分ける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4023360" cy="1463040"/>
          </a:xfrm>
          <a:prstGeom prst="round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左上から右下へ読む順に置く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1188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視線は左上から始まるので、結論や出発点は左か上に置く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理由や主張を伝えたい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言いたいことは決まっていて、その裏付けを見せたいときの型。メッセージの例：「この方式を採用すべき理由は3つある」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根拠を3つ並べ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1-1　根拠を3つ並べる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主張に理由が複数あるとき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結論＋箇条書き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1-2　結論＋箇条書き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結論を目立たせて補足を添えたいとき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ピラミッド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1-3　ピラミッド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主張・根拠・事実の3段で論理を見せたいとき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課題→対策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1-4　課題→対策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課題と打ち手を1対1で対応させたいとき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問い→答え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1-5　問い→答え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聞き手の疑問に正面から答えたいとき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1-1　根拠を3つ並べる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主張に理由が複数あるとき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社内チャットは全社導入すべき。連絡・記録・会議で効果が出る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00200"/>
            <a:ext cx="658368" cy="658368"/>
          </a:xfrm>
          <a:prstGeom prst="ellipse">
            <a:avLst/>
          </a:prstGeom>
          <a:solidFill>
            <a:srgbClr val="E2F0D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55648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連絡が速くなる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281635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メールの往復をやめ、短いやり取りはチャットで即時に済ませる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85876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3152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返信時間 4時間→15分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3F8EF"/>
          </a:solidFill>
          <a:ln/>
        </p:spPr>
      </p:sp>
      <p:sp>
        <p:nvSpPr>
          <p:cNvPr id="13" name="Shape 10"/>
          <p:cNvSpPr/>
          <p:nvPr/>
        </p:nvSpPr>
        <p:spPr>
          <a:xfrm>
            <a:off x="3566160" y="1600200"/>
            <a:ext cx="658368" cy="658368"/>
          </a:xfrm>
          <a:prstGeom prst="ellipse">
            <a:avLst/>
          </a:prstGeom>
          <a:solidFill>
            <a:srgbClr val="E2F0D9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08" y="175564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6616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やり取りが残る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3566160" y="281635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部署ごとのチャンネルに経緯が残り、後から検索で探せる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3474720" y="385876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356616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引き継ぎ資料 ほぼ不要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126480" y="137160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F3F8EF"/>
          </a:solidFill>
          <a:ln/>
        </p:spPr>
      </p:sp>
      <p:sp>
        <p:nvSpPr>
          <p:cNvPr id="20" name="Shape 16"/>
          <p:cNvSpPr/>
          <p:nvPr/>
        </p:nvSpPr>
        <p:spPr>
          <a:xfrm>
            <a:off x="6400800" y="1600200"/>
            <a:ext cx="658368" cy="658368"/>
          </a:xfrm>
          <a:prstGeom prst="ellipse">
            <a:avLst/>
          </a:prstGeom>
          <a:solidFill>
            <a:srgbClr val="E2F0D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1755648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40080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会議が減る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400800" y="2816352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共有だけの定例会議をチャンネルへの投稿に置き換える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309360" y="3858768"/>
            <a:ext cx="21945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40080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定例会議 週5本→2本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1-2　結論＋箇条書き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結論を目立たせて補足を添えたいとき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ヘルプデスクへの問い合わせは、半分をFAQで自己解決にできる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91840" cy="3154680"/>
          </a:xfrm>
          <a:prstGeom prst="roundRect">
            <a:avLst>
              <a:gd name="adj" fmla="val 1739"/>
            </a:avLst>
          </a:prstGeom>
          <a:solidFill>
            <a:srgbClr val="2F5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結論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2697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問い合わせの52%は、手順を案内すれば利用者が自分で解決できる内容だった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023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直近3か月・1,240件を分類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9080" y="137160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3F8EF"/>
          </a:solidFill>
          <a:ln/>
        </p:spPr>
      </p:sp>
      <p:sp>
        <p:nvSpPr>
          <p:cNvPr id="10" name="Shape 8"/>
          <p:cNvSpPr/>
          <p:nvPr/>
        </p:nvSpPr>
        <p:spPr>
          <a:xfrm>
            <a:off x="4251960" y="1636776"/>
            <a:ext cx="420624" cy="42062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1636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49961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パスワード再設定が最多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全体の21%。手順書へのリンクを案内するだけで解決している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069080" y="246888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3F8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251960" y="2734056"/>
            <a:ext cx="420624" cy="42062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196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9689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プリンタ・ネットワーク設定が続く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292608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全体の18%。画面付きの手順があれば利用者が自分で対応できる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069080" y="356616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3F8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251960" y="3831336"/>
            <a:ext cx="420624" cy="42062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251960" y="3831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694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FAQは既にあるが見つけにくい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402336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ポータルの3階層目にあり、存在を知らない利用者が多い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1-3　ピラミッド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主張・根拠・事実の3段で論理を見せたいとき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在宅勤務は全部署に広げられる。成果・採用・費用で裏付けがある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651760" y="1325880"/>
            <a:ext cx="3840480" cy="658368"/>
          </a:xfrm>
          <a:prstGeom prst="roundRect">
            <a:avLst>
              <a:gd name="adj" fmla="val 8333"/>
            </a:avLst>
          </a:prstGeom>
          <a:solidFill>
            <a:srgbClr val="2F5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51760" y="13258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在宅勤務を全部署に広げる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 flipH="1">
            <a:off x="1737360" y="1984248"/>
            <a:ext cx="2834640" cy="256032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4028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2F0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成果は落ちていない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984248"/>
            <a:ext cx="91" cy="256032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24028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2F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9184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採用で有利になる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0" y="1984248"/>
            <a:ext cx="2834640" cy="256032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240280"/>
            <a:ext cx="2560320" cy="640080"/>
          </a:xfrm>
          <a:prstGeom prst="roundRect">
            <a:avLst>
              <a:gd name="adj" fmla="val 8571"/>
            </a:avLst>
          </a:prstGeom>
          <a:solidFill>
            <a:srgbClr val="E2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22402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固定費が下がる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 flipH="1">
            <a:off x="1078992" y="2880360"/>
            <a:ext cx="658368" cy="320040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00400"/>
            <a:ext cx="1252728" cy="1280160"/>
          </a:xfrm>
          <a:prstGeom prst="roundRect">
            <a:avLst>
              <a:gd name="adj" fmla="val 4380"/>
            </a:avLst>
          </a:prstGeom>
          <a:solidFill>
            <a:srgbClr val="F3F8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6928" y="3310128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処理件数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前年比+3%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737360" y="2880360"/>
            <a:ext cx="740664" cy="320040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56232" y="3200400"/>
            <a:ext cx="1252728" cy="1280160"/>
          </a:xfrm>
          <a:prstGeom prst="roundRect">
            <a:avLst>
              <a:gd name="adj" fmla="val 4380"/>
            </a:avLst>
          </a:prstGeom>
          <a:solidFill>
            <a:srgbClr val="F3F8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965960" y="3310128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期限遅れは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横ばい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flipH="1">
            <a:off x="3877056" y="2880360"/>
            <a:ext cx="694944" cy="320040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55264" y="3200400"/>
            <a:ext cx="1252728" cy="1280160"/>
          </a:xfrm>
          <a:prstGeom prst="roundRect">
            <a:avLst>
              <a:gd name="adj" fmla="val 4380"/>
            </a:avLst>
          </a:prstGeom>
          <a:solidFill>
            <a:srgbClr val="F3F8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364992" y="3310128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応募者の6割が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在宅を重視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0" y="2880360"/>
            <a:ext cx="704088" cy="320040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4296" y="3200400"/>
            <a:ext cx="1252728" cy="1280160"/>
          </a:xfrm>
          <a:prstGeom prst="roundRect">
            <a:avLst>
              <a:gd name="adj" fmla="val 4380"/>
            </a:avLst>
          </a:prstGeom>
          <a:solidFill>
            <a:srgbClr val="F3F8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64024" y="3310128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内定辞退が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2割減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 flipH="1">
            <a:off x="6675120" y="2880360"/>
            <a:ext cx="731520" cy="320040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53328" y="3200400"/>
            <a:ext cx="1252728" cy="1280160"/>
          </a:xfrm>
          <a:prstGeom prst="roundRect">
            <a:avLst>
              <a:gd name="adj" fmla="val 4380"/>
            </a:avLst>
          </a:prstGeom>
          <a:solidFill>
            <a:srgbClr val="F3F8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63056" y="3310128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座席を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3割削減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06640" y="2880360"/>
            <a:ext cx="667512" cy="320040"/>
          </a:xfrm>
          <a:prstGeom prst="line">
            <a:avLst/>
          </a:prstGeom>
          <a:noFill/>
          <a:ln w="15875">
            <a:solidFill>
              <a:srgbClr val="C5D6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3200400"/>
            <a:ext cx="1252728" cy="1280160"/>
          </a:xfrm>
          <a:prstGeom prst="roundRect">
            <a:avLst>
              <a:gd name="adj" fmla="val 4380"/>
            </a:avLst>
          </a:prstGeom>
          <a:solidFill>
            <a:srgbClr val="F3F8E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562088" y="3310128"/>
            <a:ext cx="1051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通勤手当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年1,200万減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1-4　課題→対策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課題と打ち手を1対1で対応させたいとき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棚卸し作業の3つの課題には、それぞれ対応する打ち手がある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課題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2984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3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17465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台帳と実物が合わない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異動・廃棄の届け出が漏れている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06240" y="1901952"/>
            <a:ext cx="411480" cy="320040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627632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E2F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37760" y="17465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資産ラベルをQRコード化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084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スマホで読み取って現物確認を記録する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3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734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確認に1か月かかる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7238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全拠点を担当者が巡回している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06240" y="2889504"/>
            <a:ext cx="411480" cy="320040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615184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E2F0D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37760" y="27340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拠点ごとの自己点検に変更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937760" y="307238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本部は差異のあった拠点だけ確認する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602736"/>
            <a:ext cx="3566160" cy="868680"/>
          </a:xfrm>
          <a:prstGeom prst="roundRect">
            <a:avLst>
              <a:gd name="adj" fmla="val 6316"/>
            </a:avLst>
          </a:prstGeom>
          <a:solidFill>
            <a:srgbClr val="F1F3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721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結果の集計が手作業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059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拠点ごとの表計算ファイルを手で統合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06240" y="3877056"/>
            <a:ext cx="411480" cy="320040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3602736"/>
            <a:ext cx="3931920" cy="868680"/>
          </a:xfrm>
          <a:prstGeom prst="roundRect">
            <a:avLst>
              <a:gd name="adj" fmla="val 6316"/>
            </a:avLst>
          </a:prstGeom>
          <a:solidFill>
            <a:srgbClr val="E2F0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37760" y="37216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回答フォームで自動集計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937760" y="405993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差異の一覧がそのまま出力される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1-5　問い→答え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聞き手の疑問に正面から答えたいとき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PC更新を1年前倒しするのは、保守切れを避けるため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017520" cy="3154680"/>
          </a:xfrm>
          <a:prstGeom prst="roundRect">
            <a:avLst>
              <a:gd name="adj" fmla="val 1818"/>
            </a:avLst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Q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377440"/>
            <a:ext cx="2514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なぜ、予定より1年早くPCを入れ替えるのか？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69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経営会議で想定される質問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11880" y="2788920"/>
            <a:ext cx="411480" cy="320040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10" name="Shape 8"/>
          <p:cNvSpPr/>
          <p:nvPr/>
        </p:nvSpPr>
        <p:spPr>
          <a:xfrm>
            <a:off x="4160520" y="1371600"/>
            <a:ext cx="452628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34840" y="15544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627632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現行OSのサポートが来年10月に切れ、それ以降は更新が届かなくなるため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743200"/>
            <a:ext cx="4069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予定どおりだと、約半年間サポート切れのPCを使い続けることになる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前倒しの追加費用は、リース残額の約180万円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同じ時期に入れ替える他社が多く、納期が延びるおそれもある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比べて選んでほしい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複数の選択肢を並べて、どれを選ぶべきかを判断してもらうための型。メッセージの例：「B社のサービスが条件を最も満たす」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左右対比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2-1　左右対比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Before/After、現状と案を比べるとき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比較表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2-2　比較表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候補を複数の軸で評価するとき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○△×評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2-3　○△×評価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細かい数値より結論の印象を伝えたいとき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メリット・デメリット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2-4　メリット・デメリット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1つの案の良い点と注意点を整理するとき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3案カード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2-5　3案カード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3つの案から1つを推したいとき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2-1　左右対比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Before/After、現状と案を比べるとき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申請を電子化すると、承認までの日数が5日から1日に縮まる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　紙の申請書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37760" y="1325880"/>
            <a:ext cx="3749040" cy="502920"/>
          </a:xfrm>
          <a:prstGeom prst="roundRect">
            <a:avLst>
              <a:gd name="adj" fmla="val 10909"/>
            </a:avLst>
          </a:prstGeom>
          <a:solidFill>
            <a:srgbClr val="2F523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120640" y="13258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導入後　ワークフローシステム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5DA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659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記入・押印して上司の席へ持参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1688" y="2194560"/>
            <a:ext cx="411480" cy="292608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13" name="Shape 11"/>
          <p:cNvSpPr/>
          <p:nvPr/>
        </p:nvSpPr>
        <p:spPr>
          <a:xfrm>
            <a:off x="4937760" y="196596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E2F0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20640" y="196596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06440" y="196596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画面で入力し、ボタンひとつで提出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5DA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8346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834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承認者が不在だと書類が止まる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61688" y="3063240"/>
            <a:ext cx="411480" cy="292608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283464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E2F0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0640" y="283464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283464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外出先のスマホからも承認できる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70332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5DA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7033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保管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3703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書庫に紙で保管、探すのに時間がかかる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61688" y="3931920"/>
            <a:ext cx="411480" cy="292608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27" name="Shape 25"/>
          <p:cNvSpPr/>
          <p:nvPr/>
        </p:nvSpPr>
        <p:spPr>
          <a:xfrm>
            <a:off x="4937760" y="3703320"/>
            <a:ext cx="3749040" cy="749808"/>
          </a:xfrm>
          <a:prstGeom prst="roundRect">
            <a:avLst>
              <a:gd name="adj" fmla="val 7317"/>
            </a:avLst>
          </a:prstGeom>
          <a:solidFill>
            <a:srgbClr val="E2F0D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20640" y="37033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保管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806440" y="3703320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検索ですぐに過去の申請を探せる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2-2　比較表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候補を複数の軸で評価するとき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ファイル共有は、管理機能とログ保管でB社が条件を満たす</a:t>
            </a:r>
            <a:endParaRPr lang="en-US" sz="2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A社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B社（推奨）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C社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月額（1人あたり）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600円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900円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1,200円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容量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1TB／人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無制限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無制限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外部共有の制御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リンク単位のみ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部署・相手ごとに設定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部署・相手ごとに設定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操作ログの保管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90日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7年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1年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国内データセンター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なし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あり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※価格は税抜・年間契約時。ログ保管期間は社内規程で5年以上が必要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2-3　○△×評価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細かい数値より結論の印象を伝えたいとき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会議室の予約は、予約システムだけが二重予約を防げる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紙の台帳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共有の表計算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予約システム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導入コスト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使いやすさ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二重予約の防止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69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69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B665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利用状況の分析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C8691C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×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△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○</a:t>
                      </a:r>
                      <a:endParaRPr lang="en-US" sz="2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09728" marR="109728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○＝満たす　△＝一部満たす　×＝満たさない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2-4　メリット・デメリット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1つの案の良い点と注意点を整理するとき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業務PCはノート型に統一する。注意点はすべて対処できる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38912" cy="438912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＋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1325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メリット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8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0116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会議室や自宅でも同じ環境で働ける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席を離れても作業が途切れない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8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2898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災害時にも業務を続けやすい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持ち出して別拠点で業務を再開できる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94176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3F8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座席のフリーアドレス化が進む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固定席が不要になり、配置を柔軟にできる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38912" cy="43891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63440" y="13258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－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30368" y="13258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デメリットと対処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663440" y="192024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1F3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01168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紛失・盗難のリスク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3408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対処：ディスク暗号化と遠隔ロックを必須にする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63440" y="2807208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1F3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846320" y="28986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画面が小さく作業しにくい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対処：各席に外付けモニターを置く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63440" y="3694176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F1F3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0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導入費が1台あたり2万円増える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846320" y="41148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対処：5年使える機種を選び、更改周期を延ばす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2-5　3案カード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3つの案から1つを推したいとき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セキュリティ研修は、費用と管理の両面でeラーニングが最適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971800"/>
          </a:xfrm>
          <a:prstGeom prst="roundRect">
            <a:avLst>
              <a:gd name="adj" fmla="val 2143"/>
            </a:avLst>
          </a:prstGeom>
          <a:solidFill>
            <a:srgbClr val="F3F8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案1　集合研修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40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講師を招いて部署ごとに実施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880360"/>
            <a:ext cx="2103120" cy="91"/>
          </a:xfrm>
          <a:prstGeom prst="line">
            <a:avLst/>
          </a:prstGeom>
          <a:noFill/>
          <a:ln w="9525">
            <a:solidFill>
              <a:srgbClr val="C5D6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26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26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約150万円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383280"/>
            <a:ext cx="2103120" cy="91"/>
          </a:xfrm>
          <a:prstGeom prst="line">
            <a:avLst/>
          </a:prstGeom>
          <a:noFill/>
          <a:ln w="9525">
            <a:solidFill>
              <a:srgbClr val="C5D6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4290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2か月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2103120" cy="91"/>
          </a:xfrm>
          <a:prstGeom prst="line">
            <a:avLst/>
          </a:prstGeom>
          <a:noFill/>
          <a:ln w="9525">
            <a:solidFill>
              <a:srgbClr val="C5D6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9319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受講管理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39319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出欠表で手作業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1371600"/>
            <a:ext cx="2560320" cy="3154680"/>
          </a:xfrm>
          <a:prstGeom prst="roundRect">
            <a:avLst>
              <a:gd name="adj" fmla="val 2143"/>
            </a:avLst>
          </a:prstGeom>
          <a:solidFill>
            <a:srgbClr val="2F5233"/>
          </a:solidFill>
          <a:ln/>
        </p:spPr>
      </p:sp>
      <p:sp>
        <p:nvSpPr>
          <p:cNvPr id="18" name="Shape 16"/>
          <p:cNvSpPr/>
          <p:nvPr/>
        </p:nvSpPr>
        <p:spPr>
          <a:xfrm>
            <a:off x="4069080" y="1216152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C8691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069080" y="12161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案2　eラーニング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520440" y="20574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各自が期間内に動画で受講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3520440" y="2697480"/>
            <a:ext cx="2103120" cy="91"/>
          </a:xfrm>
          <a:prstGeom prst="line">
            <a:avLst/>
          </a:prstGeom>
          <a:noFill/>
          <a:ln w="9525">
            <a:solidFill>
              <a:srgbClr val="4E73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27432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27432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約60万円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520440" y="3200400"/>
            <a:ext cx="2103120" cy="91"/>
          </a:xfrm>
          <a:prstGeom prst="line">
            <a:avLst/>
          </a:prstGeom>
          <a:noFill/>
          <a:ln w="9525">
            <a:solidFill>
              <a:srgbClr val="4E73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32461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32461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1か月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20440" y="3703320"/>
            <a:ext cx="2103120" cy="91"/>
          </a:xfrm>
          <a:prstGeom prst="line">
            <a:avLst/>
          </a:prstGeom>
          <a:noFill/>
          <a:ln w="9525">
            <a:solidFill>
              <a:srgbClr val="4E735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20440" y="374904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受講管理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343400" y="374904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自動で集計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26480" y="1554480"/>
            <a:ext cx="2560320" cy="2971800"/>
          </a:xfrm>
          <a:prstGeom prst="roundRect">
            <a:avLst>
              <a:gd name="adj" fmla="val 2143"/>
            </a:avLst>
          </a:prstGeom>
          <a:solidFill>
            <a:srgbClr val="F3F8E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550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案3　外部に委託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2240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研修会社が企画から運営まで担当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355080" y="2880360"/>
            <a:ext cx="2103120" cy="91"/>
          </a:xfrm>
          <a:prstGeom prst="line">
            <a:avLst/>
          </a:prstGeom>
          <a:noFill/>
          <a:ln w="9525">
            <a:solidFill>
              <a:srgbClr val="C5D6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2926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178040" y="29260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約300万円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355080" y="3383280"/>
            <a:ext cx="2103120" cy="91"/>
          </a:xfrm>
          <a:prstGeom prst="line">
            <a:avLst/>
          </a:prstGeom>
          <a:noFill/>
          <a:ln w="9525">
            <a:solidFill>
              <a:srgbClr val="C5D6B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355080" y="342900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期間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178040" y="342900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3か月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55080" y="3886200"/>
            <a:ext cx="2103120" cy="91"/>
          </a:xfrm>
          <a:prstGeom prst="line">
            <a:avLst/>
          </a:prstGeom>
          <a:noFill/>
          <a:ln w="9525">
            <a:solidFill>
              <a:srgbClr val="C5D6B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55080" y="393192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受講管理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393192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委託先が報告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流れや段取りを見せたい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順番や時間の経過を、左から右・上から下へ読ませるための型。メッセージの例：「移行は4段階で進める」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横ステップ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3-1　横ステップ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手順や段階を順番に見せるとき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縦フロー＋分岐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3-2　縦フロー＋分岐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条件によって処理が分かれるとき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タイムライン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3-3　タイムライン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過去の経緯や出来事の時系列を見せるとき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ロードマップ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3-4　ロードマップ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複数の作業の期間や並行関係を見せるとき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サイクル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3-5　サイクル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繰り返す運用や改善の流れを見せるとき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　横ステップ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手順や段階を順番に見せるとき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グループウェア移行は4段階で進め、今は2段階目にいる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48840" cy="685800"/>
          </a:xfrm>
          <a:prstGeom prst="homePlate">
            <a:avLst/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 準備する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02920" y="228600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A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346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移行対象の洗い出し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利用部署への説明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1371600"/>
            <a:ext cx="2148840" cy="685800"/>
          </a:xfrm>
          <a:prstGeom prst="chevron">
            <a:avLst/>
          </a:prstGeom>
          <a:solidFill>
            <a:srgbClr val="2F5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807208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 試験する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532888" y="228600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3F8EF"/>
          </a:solidFill>
          <a:ln w="19050">
            <a:solidFill>
              <a:srgbClr val="5482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70048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11月（現在）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70048" y="28346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情報システム部で先行利用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データ移行の手順を確認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17136" y="1371600"/>
            <a:ext cx="2148840" cy="685800"/>
          </a:xfrm>
          <a:prstGeom prst="chevron">
            <a:avLst/>
          </a:prstGeom>
          <a:solidFill>
            <a:srgbClr val="E2F0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37176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 移行する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62856" y="228600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AD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00016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12月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700016" y="28346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部署ごとに順次切り替え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旧環境は閲覧のみに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47104" y="1371600"/>
            <a:ext cx="2148840" cy="685800"/>
          </a:xfrm>
          <a:prstGeom prst="chevron">
            <a:avLst/>
          </a:prstGeom>
          <a:solidFill>
            <a:srgbClr val="E2F0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67144" y="13716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 定着させる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592824" y="2286000"/>
            <a:ext cx="192024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A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29984" y="2423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1〜3月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729984" y="283464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問い合わせ対応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旧環境の廃止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　縦フロー＋分岐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条件によって処理が分かれるとき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障害の問い合わせは、業務が止まっているかで対応を分ける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108960" y="1298448"/>
            <a:ext cx="2926080" cy="548640"/>
          </a:xfrm>
          <a:prstGeom prst="roundRect">
            <a:avLst>
              <a:gd name="adj" fmla="val 10000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08960" y="12984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問い合わせを受け付ける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0" y="1847088"/>
            <a:ext cx="91" cy="256032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17520" y="2121408"/>
            <a:ext cx="3108960" cy="914400"/>
          </a:xfrm>
          <a:prstGeom prst="diamond">
            <a:avLst/>
          </a:prstGeom>
          <a:solidFill>
            <a:srgbClr val="E2F0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2121408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業務が止まっている？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flipH="1">
            <a:off x="2011680" y="2578608"/>
            <a:ext cx="1005840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578608"/>
            <a:ext cx="91" cy="731520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26480" y="2578608"/>
            <a:ext cx="1005840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0" y="2578608"/>
            <a:ext cx="91" cy="731520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14884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286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いいえ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3756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2F523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緊急対応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840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15分以内に担当者が折り返し、責任者にも即時に報告する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77840" y="333756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806440" y="3456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通常チケット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806440" y="384048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受付順に対応し、翌営業日までに一次回答を返す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　タイムライン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過去の経緯や出来事の時系列を見せるとき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見送りから2年、課題が順に解消され、再検討の条件が整った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8046720" cy="91"/>
          </a:xfrm>
          <a:prstGeom prst="line">
            <a:avLst/>
          </a:prstGeom>
          <a:noFill/>
          <a:ln w="38100">
            <a:solidFill>
              <a:srgbClr val="A9D18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2024年11月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4984" y="2066544"/>
            <a:ext cx="256032" cy="256032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8" name="Shape 6"/>
          <p:cNvSpPr/>
          <p:nvPr/>
        </p:nvSpPr>
        <p:spPr>
          <a:xfrm>
            <a:off x="393192" y="2514600"/>
            <a:ext cx="1499616" cy="1828800"/>
          </a:xfrm>
          <a:prstGeom prst="roundRect">
            <a:avLst>
              <a:gd name="adj" fmla="val 3659"/>
            </a:avLst>
          </a:prstGeom>
          <a:solidFill>
            <a:srgbClr val="F3F8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導入を見送り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291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費用と運用体制が課題に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084832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2025年4月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34056" y="2066544"/>
            <a:ext cx="256032" cy="256032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3" name="Shape 11"/>
          <p:cNvSpPr/>
          <p:nvPr/>
        </p:nvSpPr>
        <p:spPr>
          <a:xfrm>
            <a:off x="2112264" y="2514600"/>
            <a:ext cx="1499616" cy="1828800"/>
          </a:xfrm>
          <a:prstGeom prst="roundRect">
            <a:avLst>
              <a:gd name="adj" fmla="val 3659"/>
            </a:avLst>
          </a:prstGeom>
          <a:solidFill>
            <a:srgbClr val="F3F8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21992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担当者を増員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2221992" y="3291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運用を担える体制ができた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803904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2025年10月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53128" y="2066544"/>
            <a:ext cx="256032" cy="256032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8" name="Shape 16"/>
          <p:cNvSpPr/>
          <p:nvPr/>
        </p:nvSpPr>
        <p:spPr>
          <a:xfrm>
            <a:off x="3831336" y="2514600"/>
            <a:ext cx="1499616" cy="1828800"/>
          </a:xfrm>
          <a:prstGeom prst="roundRect">
            <a:avLst>
              <a:gd name="adj" fmla="val 3659"/>
            </a:avLst>
          </a:prstGeom>
          <a:solidFill>
            <a:srgbClr val="F3F8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941064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価格改定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941064" y="3291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年額が約3割下がった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522976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2026年6月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72200" y="2066544"/>
            <a:ext cx="256032" cy="256032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3" name="Shape 21"/>
          <p:cNvSpPr/>
          <p:nvPr/>
        </p:nvSpPr>
        <p:spPr>
          <a:xfrm>
            <a:off x="5550408" y="2514600"/>
            <a:ext cx="1499616" cy="1828800"/>
          </a:xfrm>
          <a:prstGeom prst="roundRect">
            <a:avLst>
              <a:gd name="adj" fmla="val 3659"/>
            </a:avLst>
          </a:prstGeom>
          <a:solidFill>
            <a:srgbClr val="F3F8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660136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他部署から要望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660136" y="3291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3部署が利用を希望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242048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2026年11月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91272" y="2066544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8" name="Shape 26"/>
          <p:cNvSpPr/>
          <p:nvPr/>
        </p:nvSpPr>
        <p:spPr>
          <a:xfrm>
            <a:off x="7269480" y="2514600"/>
            <a:ext cx="1499616" cy="1828800"/>
          </a:xfrm>
          <a:prstGeom prst="roundRect">
            <a:avLst>
              <a:gd name="adj" fmla="val 3659"/>
            </a:avLst>
          </a:prstGeom>
          <a:solidFill>
            <a:srgbClr val="2F523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79208" y="26517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再検討を提案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7379208" y="3291840"/>
            <a:ext cx="12984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本日のご相談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　ロードマップ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複数の作業の期間や並行関係を見せるとき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経費精算システムは、4つの作業を並行させ半年で切り替える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42032" y="1325880"/>
            <a:ext cx="973836" cy="365760"/>
          </a:xfrm>
          <a:prstGeom prst="rect">
            <a:avLst>
              <a:gd name="adj" fmla="val 15000"/>
            </a:avLst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514600" y="132588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70732" y="1325880"/>
            <a:ext cx="973836" cy="365760"/>
          </a:xfrm>
          <a:prstGeom prst="rect">
            <a:avLst>
              <a:gd name="adj" fmla="val 15000"/>
            </a:avLst>
          </a:prstGeom>
          <a:solidFill>
            <a:srgbClr val="E2F0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43300" y="132588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99432" y="1325880"/>
            <a:ext cx="973836" cy="365760"/>
          </a:xfrm>
          <a:prstGeom prst="rect">
            <a:avLst>
              <a:gd name="adj" fmla="val 15000"/>
            </a:avLst>
          </a:prstGeom>
          <a:solidFill>
            <a:srgbClr val="E2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32588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8132" y="1325880"/>
            <a:ext cx="973836" cy="365760"/>
          </a:xfrm>
          <a:prstGeom prst="rect">
            <a:avLst>
              <a:gd name="adj" fmla="val 15000"/>
            </a:avLst>
          </a:prstGeom>
          <a:solidFill>
            <a:srgbClr val="E2F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00700" y="132588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56832" y="1325880"/>
            <a:ext cx="973836" cy="365760"/>
          </a:xfrm>
          <a:prstGeom prst="rect">
            <a:avLst>
              <a:gd name="adj" fmla="val 15000"/>
            </a:avLst>
          </a:prstGeom>
          <a:solidFill>
            <a:srgbClr val="E2F0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29400" y="132588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8月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85532" y="1325880"/>
            <a:ext cx="973836" cy="365760"/>
          </a:xfrm>
          <a:prstGeom prst="rect">
            <a:avLst>
              <a:gd name="adj" fmla="val 15000"/>
            </a:avLst>
          </a:prstGeom>
          <a:solidFill>
            <a:srgbClr val="E2F0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58100" y="1325880"/>
            <a:ext cx="1028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874520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1F3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" y="187452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要件を固める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14600" y="1947672"/>
            <a:ext cx="1543050" cy="329184"/>
          </a:xfrm>
          <a:prstGeom prst="roundRect">
            <a:avLst>
              <a:gd name="adj" fmla="val 27778"/>
            </a:avLst>
          </a:prstGeom>
          <a:solidFill>
            <a:srgbClr val="A9D18E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496312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1F3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4963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設定・開発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851910" y="2569464"/>
            <a:ext cx="2571750" cy="329184"/>
          </a:xfrm>
          <a:prstGeom prst="roundRect">
            <a:avLst>
              <a:gd name="adj" fmla="val 27778"/>
            </a:avLst>
          </a:prstGeom>
          <a:solidFill>
            <a:srgbClr val="A9D18E"/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" y="3118104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1F3E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94360" y="311810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利用者の研修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806440" y="3191256"/>
            <a:ext cx="1645920" cy="329184"/>
          </a:xfrm>
          <a:prstGeom prst="roundRect">
            <a:avLst>
              <a:gd name="adj" fmla="val 27778"/>
            </a:avLst>
          </a:prstGeom>
          <a:solidFill>
            <a:srgbClr val="A9D18E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739896"/>
            <a:ext cx="1920240" cy="475488"/>
          </a:xfrm>
          <a:prstGeom prst="roundRect">
            <a:avLst>
              <a:gd name="adj" fmla="val 11538"/>
            </a:avLst>
          </a:prstGeom>
          <a:solidFill>
            <a:srgbClr val="F1F3E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373989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データ移行と切替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629400" y="3813048"/>
            <a:ext cx="1440180" cy="329184"/>
          </a:xfrm>
          <a:prstGeom prst="roundRect">
            <a:avLst>
              <a:gd name="adj" fmla="val 27778"/>
            </a:avLst>
          </a:prstGeom>
          <a:solidFill>
            <a:srgbClr val="2F5233"/>
          </a:solidFill>
          <a:ln/>
        </p:spPr>
      </p:sp>
      <p:sp>
        <p:nvSpPr>
          <p:cNvPr id="29" name="Shape 27"/>
          <p:cNvSpPr/>
          <p:nvPr/>
        </p:nvSpPr>
        <p:spPr>
          <a:xfrm>
            <a:off x="8069580" y="1828800"/>
            <a:ext cx="91" cy="2514600"/>
          </a:xfrm>
          <a:prstGeom prst="line">
            <a:avLst/>
          </a:prstGeom>
          <a:noFill/>
          <a:ln w="19050">
            <a:solidFill>
              <a:srgbClr val="C8691C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6789420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9月中旬　本番切替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　サイクル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繰り返す運用や改善の流れを見せるとき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アクセスログ点検は、4つのステップを毎月回して精度を上げる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91840" y="1298448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2F5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474720" y="14081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 ログを集める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7739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全サーバから自動で収集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0" y="24231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3F8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 異常を見つける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898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ルールに合わない操作を抽出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91840" y="361188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3F8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474720" y="37216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 原因を確かめる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408736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担当部署に事実を確認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2423160"/>
            <a:ext cx="2560320" cy="914400"/>
          </a:xfrm>
          <a:prstGeom prst="roundRect">
            <a:avLst>
              <a:gd name="adj" fmla="val 6000"/>
            </a:avLst>
          </a:prstGeom>
          <a:solidFill>
            <a:srgbClr val="F3F8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25328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 ルールを直す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898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誤検知を減らし、漏れを塞ぐ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52160" y="1755648"/>
            <a:ext cx="1005840" cy="62179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5897880" y="3337560"/>
            <a:ext cx="960120" cy="685800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 flipV="1">
            <a:off x="2286000" y="3383280"/>
            <a:ext cx="960120" cy="640080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2286000" y="1783080"/>
            <a:ext cx="960120" cy="594360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977640" y="2331720"/>
            <a:ext cx="1188720" cy="1188720"/>
          </a:xfrm>
          <a:prstGeom prst="ellipse">
            <a:avLst/>
          </a:prstGeom>
          <a:solidFill>
            <a:srgbClr val="E2F0D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977640" y="23317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毎月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繰り返す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数字で納得してもらいたい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数値やデータを根拠にして、規模や効果を実感してもらうための型。メッセージの例：「作業時間が月40時間減る」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数字を主役に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4-1　数字を主役に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1つの数値で効果や規模を示すとき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グラフ＋示唆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4-2　グラフ＋示唆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データから言えることを添えるとき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KPIを並べる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4-3　KPIを並べる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複数の指標の状況をまとめて見せるとき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Before→Af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4-4　Before→After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改善前後の差を数字で見せるとき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表＋ハイライト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4-5　表＋ハイライト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一覧の中の特定の行に注目させたいとき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4-1　数字を主役に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1つの数値で効果や規模を示すとき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両面印刷を標準設定にしただけで、印刷枚数が4割減った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3154680"/>
          </a:xfrm>
          <a:prstGeom prst="roundRect">
            <a:avLst>
              <a:gd name="adj" fmla="val 1739"/>
            </a:avLst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印刷枚数の削減率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</a:t>
            </a:r>
            <a:pPr indent="0" marL="0">
              <a:buNone/>
            </a:pPr>
            <a:r>
              <a:rPr lang="en-US" sz="4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9319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2026年4〜9月、前年同期比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977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D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5544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何をしたか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92024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全プリンタの初期設定を「両面・モノクロ」に変更。利用者の操作は変えていない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3977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A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200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どれだけ効いたか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56616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月平均 38,000枚 → 22,000枚。用紙とトナーで年間約190万円の削減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4-2　グラフ＋示唆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データから言えることを添えるとき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10月の問い合わせ急増は、OS更新の事前案内不足が原因だった</a:t>
            </a:r>
            <a:endParaRPr lang="en-US" sz="2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371600"/>
            <a:ext cx="2743200" cy="3154680"/>
          </a:xfrm>
          <a:prstGeom prst="roundRect">
            <a:avLst>
              <a:gd name="adj" fmla="val 2000"/>
            </a:avLst>
          </a:prstGeom>
          <a:solidFill>
            <a:srgbClr val="E2F0D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1722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このグラフから言えること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19202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10月は平常月より約170件多い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27432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増加分の8割がOS更新後の画面変化に関する質問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次回は更新の1週間前に変更点を案内する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4-3　KPIを並べる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複数の指標の状況をまとめて見せるとき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運用指標は、障害の復旧時間を除いてすべて目標を達成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3F8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2412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稼働率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99.97%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 99.9%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2F523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488" y="157276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12724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平均復旧時間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2743200" y="2057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2.4時間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274320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 1時間以内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11880" y="126187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C8691C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611880" y="12618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未達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66344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3F8E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57276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3036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問い合わせ満足度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2057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4.3</a:t>
            </a:r>
            <a:endParaRPr lang="en-US" sz="2800" dirty="0"/>
          </a:p>
        </p:txBody>
      </p:sp>
      <p:sp>
        <p:nvSpPr>
          <p:cNvPr id="21" name="Text 16"/>
          <p:cNvSpPr txBox="1"/>
          <p:nvPr/>
        </p:nvSpPr>
        <p:spPr>
          <a:xfrm>
            <a:off x="484632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 4.0（5点満点）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66560" y="1371600"/>
            <a:ext cx="1920240" cy="2057400"/>
          </a:xfrm>
          <a:prstGeom prst="roundRect">
            <a:avLst>
              <a:gd name="adj" fmla="val 2857"/>
            </a:avLst>
          </a:prstGeom>
          <a:solidFill>
            <a:srgbClr val="F3F8E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28" y="1572768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33488" y="155448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重大インシデント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949440" y="2057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0件</a:t>
            </a:r>
            <a:endParaRPr lang="en-US" sz="2800" dirty="0"/>
          </a:p>
        </p:txBody>
      </p:sp>
      <p:sp>
        <p:nvSpPr>
          <p:cNvPr id="26" name="Text 20"/>
          <p:cNvSpPr txBox="1"/>
          <p:nvPr/>
        </p:nvSpPr>
        <p:spPr>
          <a:xfrm>
            <a:off x="6949440" y="28803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目標 0件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E2F0D9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85800" y="3611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復旧時間が延びた主因は夜間の連絡体制。来月から夜間の一次対応を外部に委託し、1時間以内を目指す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4-4　Before→After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改善前後の差を数字で見せるとき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月次レポートの作成を自動化し、作業時間を月40時間減らす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現在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120</a:t>
            </a:r>
            <a:pPr indent="0" marL="0">
              <a:buNone/>
            </a:pPr>
            <a:r>
              <a:rPr lang="en-US" sz="1800" b="1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時間／月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データ収集と転記に7割を費やしている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2194560"/>
            <a:ext cx="868680" cy="502920"/>
          </a:xfrm>
          <a:prstGeom prst="rightArrow">
            <a:avLst/>
          </a:prstGeom>
          <a:solidFill>
            <a:srgbClr val="A9D18E"/>
          </a:solidFill>
          <a:ln/>
        </p:spPr>
      </p:sp>
      <p:sp>
        <p:nvSpPr>
          <p:cNvPr id="10" name="Shape 8"/>
          <p:cNvSpPr/>
          <p:nvPr/>
        </p:nvSpPr>
        <p:spPr>
          <a:xfrm>
            <a:off x="5212080" y="1371600"/>
            <a:ext cx="3474720" cy="2103120"/>
          </a:xfrm>
          <a:prstGeom prst="roundRect">
            <a:avLst>
              <a:gd name="adj" fmla="val 2609"/>
            </a:avLst>
          </a:prstGeom>
          <a:solidFill>
            <a:srgbClr val="2F5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4068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自動化後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19202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80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時間／月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971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空いた時間を分析とコメント作成に回す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E2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－40時間／月</a:t>
            </a:r>
            <a:pPr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年間では約480時間、担当者3人分の1か月強に相当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4-5　表＋ハイライト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一覧の中の特定の行に注目させたいとき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保守切れPCの4割が北支店に集中。ここから入れ替える</a:t>
            </a:r>
            <a:endParaRPr lang="en-US" sz="2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3949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拠点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PC台数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保守切れ台数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割合</a:t>
                      </a:r>
                      <a:endParaRPr lang="en-US" sz="13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本店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182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6.6%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北支店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64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31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48.4%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南支店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58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15.5%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東支店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71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19.7%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西支店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49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16.3%</a:t>
                      </a:r>
                      <a:endParaRPr lang="en-US" sz="14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137160" marR="137160" marT="27432" marB="27432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325880"/>
            <a:ext cx="2560320" cy="2743200"/>
          </a:xfrm>
          <a:prstGeom prst="roundRect">
            <a:avLst>
              <a:gd name="adj" fmla="val 2143"/>
            </a:avLst>
          </a:prstGeom>
          <a:solidFill>
            <a:srgbClr val="F3F8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3550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北支店を優先する理由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55080" y="19202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保守切れ全74台のうち31台が北支店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2018年に一括導入した機種が残っている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来年度予算の初回分で入れ替えられる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2026年10月末時点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全体像を理解してもらいたい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構成や関係性など、ものごとの形をつかんでもらうための型。メッセージの例：「新しいシステム構成はこうなる」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図＋説明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5-1　図＋説明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構成図や画面に解説を添えるとき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全体→内訳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5-2　全体→内訳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構成要素や論点を分解して見せるとき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入れ子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5-3　入れ子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範囲や所属の関係（何が何に含まれるか）を見せるとき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中心＋周辺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5-4　中心＋周辺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1つのものと関係者・関連要素のつながりを見せるとき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レイヤー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5-5　レイヤー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層の重なりでできている構造を見せるとき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5-1　図＋説明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構成図や画面に解説を添えるとき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新しいファイル共有は、認証を通った人だけが部署フォルダに届く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0292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C5D6B8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777240" y="237744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2F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3774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利用者のPC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221992"/>
            <a:ext cx="329184" cy="329184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37744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F5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377440" y="23774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認証サーバ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58568" y="2221992"/>
            <a:ext cx="329184" cy="329184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58568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37744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E2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77640" y="237744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ファイルサーバ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58768" y="2221992"/>
            <a:ext cx="329184" cy="329184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858768" y="2221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11680" y="2743200"/>
            <a:ext cx="34747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11880" y="2743200"/>
            <a:ext cx="34747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977640" y="3520440"/>
            <a:ext cx="1234440" cy="594360"/>
          </a:xfrm>
          <a:prstGeom prst="roundRect">
            <a:avLst>
              <a:gd name="adj" fmla="val 9231"/>
            </a:avLst>
          </a:prstGeom>
          <a:solidFill>
            <a:srgbClr val="F1F3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977640" y="3520440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バックアップ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90288" y="3108960"/>
            <a:ext cx="91" cy="393192"/>
          </a:xfrm>
          <a:prstGeom prst="line">
            <a:avLst/>
          </a:prstGeom>
          <a:noFill/>
          <a:ln w="15875">
            <a:solidFill>
              <a:srgbClr val="5B6655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64008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社内ネットワーク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60720" y="1371600"/>
            <a:ext cx="365760" cy="365760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76072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13441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利用者のPC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76479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社内ネットワークに接続した端末だけが使える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760720" y="2468880"/>
            <a:ext cx="365760" cy="365760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7607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2441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認証サーバ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63640" y="286207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ID・パスワードと所属部署を確認する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760720" y="3566160"/>
            <a:ext cx="365760" cy="365760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7607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63640" y="3538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ファイルサーバ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395935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所属部署のフォルダだけが見える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5-2　全体→内訳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構成要素や論点を分解して見せるとき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情報セキュリティ対策は、技術・人・物理の3つの柱で構成する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7520" y="1298448"/>
            <a:ext cx="3108960" cy="621792"/>
          </a:xfrm>
          <a:prstGeom prst="roundRect">
            <a:avLst>
              <a:gd name="adj" fmla="val 8824"/>
            </a:avLst>
          </a:prstGeom>
          <a:solidFill>
            <a:srgbClr val="2F5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17520" y="1298448"/>
            <a:ext cx="3108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情報セキュリティ対策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91" cy="22860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148840"/>
            <a:ext cx="5669280" cy="91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2148840"/>
            <a:ext cx="91" cy="22860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技術的対策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2004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ウイルス対策ソフト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通信の暗号化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アクセス権の管理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0" y="2148840"/>
            <a:ext cx="91" cy="22860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23774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9184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人的対策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91840" y="3063240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20440" y="32004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年1回の研修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標的型メール訓練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入退社時の手続き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2148840"/>
            <a:ext cx="91" cy="22860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2377440"/>
            <a:ext cx="2560320" cy="548640"/>
          </a:xfrm>
          <a:prstGeom prst="roundRect">
            <a:avLst>
              <a:gd name="adj" fmla="val 10000"/>
            </a:avLst>
          </a:prstGeom>
          <a:solidFill>
            <a:srgbClr val="E2F0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物理的対策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26480" y="3063240"/>
            <a:ext cx="2560320" cy="1463040"/>
          </a:xfrm>
          <a:prstGeom prst="round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55080" y="320040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サーバ室の入退室管理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書類の施錠保管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端末の盗難防止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5-3　入れ子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範囲や所属の関係（何が何に含まれるか）を見せるとき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重要データのサーバには、管理用ネットワークからしか入れない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5875">
            <a:solidFill>
              <a:srgbClr val="A9D18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14447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社内ネットワーク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F3F8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業務用ネットワーク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24231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業務用PC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651760" y="24231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5176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プリンタ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日常の業務はここで行う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828800"/>
            <a:ext cx="3657600" cy="2468880"/>
          </a:xfrm>
          <a:prstGeom prst="roundRect">
            <a:avLst>
              <a:gd name="adj" fmla="val 2222"/>
            </a:avLst>
          </a:prstGeom>
          <a:solidFill>
            <a:srgbClr val="E2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1938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管理用ネットワーク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937760" y="24231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管理用端末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675120" y="242316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2F523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7512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重要データ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サーバ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92240" y="2788920"/>
            <a:ext cx="164592" cy="91"/>
          </a:xfrm>
          <a:prstGeom prst="line">
            <a:avLst/>
          </a:prstGeom>
          <a:noFill/>
          <a:ln w="15875">
            <a:solidFill>
              <a:srgbClr val="2F523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93776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管理者だけが、承認を得て入る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93776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業務用ネットワークからは直接つながらない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5-4　中心＋周辺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1つのものと関係者・関連要素のつながりを見せるとき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新しい勤怠システムには、役割の違う5つの関係者がいる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 flipH="1" flipV="1">
            <a:off x="1691640" y="1737360"/>
            <a:ext cx="2880360" cy="118872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572000" y="1737360"/>
            <a:ext cx="2880360" cy="118872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1691640" y="2926080"/>
            <a:ext cx="2880360" cy="118872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926080"/>
            <a:ext cx="2880360" cy="1188720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572000" y="1709928"/>
            <a:ext cx="91" cy="1216152"/>
          </a:xfrm>
          <a:prstGeom prst="line">
            <a:avLst/>
          </a:prstGeom>
          <a:noFill/>
          <a:ln w="19050">
            <a:solidFill>
              <a:srgbClr val="C5D6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2588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3F8E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99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人事部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運用ルールを決める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09360" y="132588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3F8E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399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情報システム部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1755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設定と保守を担う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3F8E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76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各部門の社員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133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毎日打刻して申請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703320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3F8E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37764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システムの提供会社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4133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障害時に対応する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29000" y="1298448"/>
            <a:ext cx="2286000" cy="822960"/>
          </a:xfrm>
          <a:prstGeom prst="roundRect">
            <a:avLst>
              <a:gd name="adj" fmla="val 6667"/>
            </a:avLst>
          </a:prstGeom>
          <a:solidFill>
            <a:srgbClr val="F3F8EF"/>
          </a:solidFill>
          <a:ln w="12700">
            <a:solidFill>
              <a:srgbClr val="C5D6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6616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経営層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172821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導入を承認する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703320" y="2286000"/>
            <a:ext cx="1737360" cy="1737360"/>
          </a:xfrm>
          <a:prstGeom prst="ellipse">
            <a:avLst/>
          </a:prstGeom>
          <a:solidFill>
            <a:srgbClr val="2F523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703320" y="22860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新しい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勤怠システム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5-5　レイヤー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層の重なりでできている構造を見せるとき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今回の更改は「基盤」の層だけで、利用者の操作は変わらない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06040" y="1325880"/>
            <a:ext cx="38862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AD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34640" y="132588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社員・パート職員　約350人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E2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130552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アプリケーション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606040" y="2130552"/>
            <a:ext cx="38862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AD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34640" y="213055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勤怠・経費精算・文書管理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35224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2F5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935224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606040" y="2935224"/>
            <a:ext cx="3886200" cy="694944"/>
          </a:xfrm>
          <a:prstGeom prst="roundRect">
            <a:avLst>
              <a:gd name="adj" fmla="val 7895"/>
            </a:avLst>
          </a:prstGeom>
          <a:solidFill>
            <a:srgbClr val="F3F8EF"/>
          </a:solidFill>
          <a:ln w="22225">
            <a:solidFill>
              <a:srgbClr val="2F52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34640" y="293522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サーバ・OS・データベース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2011680" cy="694944"/>
          </a:xfrm>
          <a:prstGeom prst="roundRect">
            <a:avLst>
              <a:gd name="adj" fmla="val 7895"/>
            </a:avLst>
          </a:prstGeom>
          <a:solidFill>
            <a:srgbClr val="E2F0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739896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ネットワーク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606040" y="3739896"/>
            <a:ext cx="388620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D5DAD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34640" y="373989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拠点間回線・社内LAN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1325880"/>
            <a:ext cx="1965960" cy="3108960"/>
          </a:xfrm>
          <a:prstGeom prst="roundRect">
            <a:avLst>
              <a:gd name="adj" fmla="val 2791"/>
            </a:avLst>
          </a:prstGeom>
          <a:solidFill>
            <a:srgbClr val="F3F8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903720" y="14630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今回の範囲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1828800"/>
            <a:ext cx="1645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基盤の層だけを入れ替える。上のアプリと利用者の画面はそのまま使える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分類して優先順位を決めたい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たくさんある選択肢を整理し、どこから手を付けるかを決めるための型。メッセージの例：「まず着手すべきは右上の2つ」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2×2マトリクス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6-1　2×2マトリクス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2つの軸で分類・優先度付けするとき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ポジショニングマップ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6-2　ポジショニングマップ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複数の対象の位置関係を見せるとき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優先リスト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6-3　優先リスト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順位付けした結果を見せるとき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6-1　2×2マトリクス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2つの軸で分類・優先度付けするとき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8つの改善案のうち、手軽で効果の大きい2つから着手する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60120" y="1325880"/>
            <a:ext cx="2423160" cy="1463040"/>
          </a:xfrm>
          <a:prstGeom prst="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効果大・手間大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655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計画的に進める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325880"/>
            <a:ext cx="2423160" cy="1463040"/>
          </a:xfrm>
          <a:prstGeom prst="rect">
            <a:avLst>
              <a:gd name="adj" fmla="val 3750"/>
            </a:avLst>
          </a:prstGeom>
          <a:solidFill>
            <a:srgbClr val="2F52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1417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効果大・手間小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16550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すぐに着手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2880360"/>
            <a:ext cx="2423160" cy="1463040"/>
          </a:xfrm>
          <a:prstGeom prst="rect">
            <a:avLst>
              <a:gd name="adj" fmla="val 3750"/>
            </a:avLst>
          </a:prstGeom>
          <a:solidFill>
            <a:srgbClr val="F1F3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効果小・手間大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209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見送る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4720" y="2880360"/>
            <a:ext cx="2423160" cy="1463040"/>
          </a:xfrm>
          <a:prstGeom prst="rect">
            <a:avLst>
              <a:gd name="adj" fmla="val 3750"/>
            </a:avLst>
          </a:prstGeom>
          <a:solidFill>
            <a:srgbClr val="F3F8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11880" y="297180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効果小・手間小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20954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余力で対応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183234" y="2157984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66114" y="2093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基幹システム刷新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479499" y="2489911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662379" y="242590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BIツール導入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2114" y="2157984"/>
            <a:ext cx="146304" cy="146304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34994" y="2093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FAQ整備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2114" y="2489911"/>
            <a:ext cx="146304" cy="146304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834994" y="242590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定型メール化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83234" y="3666744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66114" y="3602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独自アプリ開発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479499" y="3998671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662379" y="393466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紙台帳の電子化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652114" y="3666744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34994" y="36027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会議室の表示板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652114" y="3998671"/>
            <a:ext cx="146304" cy="14630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834994" y="393466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壁紙の統一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274320" y="1325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 大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74320" y="40690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 小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60120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 大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44074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手間 小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1325880"/>
            <a:ext cx="2423160" cy="3017520"/>
          </a:xfrm>
          <a:prstGeom prst="roundRect">
            <a:avLst>
              <a:gd name="adj" fmla="val 2264"/>
            </a:avLst>
          </a:prstGeom>
          <a:solidFill>
            <a:srgbClr val="E2F0D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46520" y="1481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着手する2案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187452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FAQ整備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問い合わせの半分を自己解決へ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定型メール化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連絡文の作成時間を短縮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6-2　ポジショニングマップ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複数の対象の位置関係を見せるとき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パスワード管理ツールは、D製品だけが手頃で機能も十分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5120640" cy="3017520"/>
          </a:xfrm>
          <a:prstGeom prst="rect">
            <a:avLst>
              <a:gd name="adj" fmla="val 1818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0" y="1325880"/>
            <a:ext cx="91" cy="3017520"/>
          </a:xfrm>
          <a:prstGeom prst="line">
            <a:avLst/>
          </a:prstGeom>
          <a:noFill/>
          <a:ln w="12700">
            <a:solidFill>
              <a:srgbClr val="C5D6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34640"/>
            <a:ext cx="5120640" cy="91"/>
          </a:xfrm>
          <a:prstGeom prst="line">
            <a:avLst/>
          </a:prstGeom>
          <a:noFill/>
          <a:ln w="12700">
            <a:solidFill>
              <a:srgbClr val="C5D6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99616" y="3588106"/>
            <a:ext cx="182880" cy="182880"/>
          </a:xfrm>
          <a:prstGeom prst="ellipse">
            <a:avLst/>
          </a:prstGeom>
          <a:solidFill>
            <a:srgbClr val="8C968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728216" y="354238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A製品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67712" y="3044952"/>
            <a:ext cx="182880" cy="182880"/>
          </a:xfrm>
          <a:prstGeom prst="ellipse">
            <a:avLst/>
          </a:prstGeom>
          <a:solidFill>
            <a:srgbClr val="8C968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496312" y="2999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B製品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25619" y="1777594"/>
            <a:ext cx="182880" cy="182880"/>
          </a:xfrm>
          <a:prstGeom prst="ellipse">
            <a:avLst/>
          </a:prstGeom>
          <a:solidFill>
            <a:srgbClr val="8C968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54219" y="173187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C製品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37683" y="2290572"/>
            <a:ext cx="182880" cy="182880"/>
          </a:xfrm>
          <a:prstGeom prst="ellipse">
            <a:avLst/>
          </a:prstGeom>
          <a:solidFill>
            <a:srgbClr val="8C968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66283" y="22448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E製品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47872" y="3105302"/>
            <a:ext cx="182880" cy="182880"/>
          </a:xfrm>
          <a:prstGeom prst="ellipse">
            <a:avLst/>
          </a:prstGeom>
          <a:solidFill>
            <a:srgbClr val="8C968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76472" y="305958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F製品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45997" y="2290572"/>
            <a:ext cx="182880" cy="182880"/>
          </a:xfrm>
          <a:prstGeom prst="ellipse">
            <a:avLst/>
          </a:prstGeom>
          <a:solidFill>
            <a:srgbClr val="8C968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574597" y="22448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G製品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96973" y="1644091"/>
            <a:ext cx="329184" cy="329184"/>
          </a:xfrm>
          <a:prstGeom prst="ellipse">
            <a:avLst/>
          </a:prstGeom>
          <a:solidFill>
            <a:srgbClr val="2F52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90165" y="1653235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D製品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13258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管理機能 多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0690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7620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管理機能 少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 安い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価格 高い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1325880"/>
            <a:ext cx="2423160" cy="3017520"/>
          </a:xfrm>
          <a:prstGeom prst="roundRect">
            <a:avLst>
              <a:gd name="adj" fmla="val 2264"/>
            </a:avLst>
          </a:prstGeom>
          <a:solidFill>
            <a:srgbClr val="E2F0D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14813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D製品を推す理由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46520" y="1874520"/>
            <a:ext cx="2103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1人月額300円で、候補の中で2番目に安い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部署単位の共有と操作ログに対応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上位のC・E製品は機能過多で割高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6-3　優先リスト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順位付けした結果を見せるとき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改善要望は「スマホからの承認」が最も多くの票を集めた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80744"/>
            <a:ext cx="402336" cy="402336"/>
          </a:xfrm>
          <a:prstGeom prst="ellipse">
            <a:avLst/>
          </a:prstGeom>
          <a:solidFill>
            <a:srgbClr val="2F5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807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258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スマホから申請を承認したい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3400" y="1435608"/>
            <a:ext cx="3657600" cy="292608"/>
          </a:xfrm>
          <a:prstGeom prst="roundRect">
            <a:avLst>
              <a:gd name="adj" fmla="val 15625"/>
            </a:avLst>
          </a:prstGeom>
          <a:solidFill>
            <a:srgbClr val="2F52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92440" y="132588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128票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965960"/>
            <a:ext cx="402336" cy="402336"/>
          </a:xfrm>
          <a:prstGeom prst="ellipse">
            <a:avLst/>
          </a:prstGeom>
          <a:solidFill>
            <a:srgbClr val="E2F0D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965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911096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会議室の空きを一覧で見たい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4343400" y="2020824"/>
            <a:ext cx="2743200" cy="292608"/>
          </a:xfrm>
          <a:prstGeom prst="roundRect">
            <a:avLst>
              <a:gd name="adj" fmla="val 15625"/>
            </a:avLst>
          </a:prstGeom>
          <a:solidFill>
            <a:srgbClr val="A9D18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78040" y="191109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96票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402336" cy="402336"/>
          </a:xfrm>
          <a:prstGeom prst="ellipse">
            <a:avLst/>
          </a:prstGeom>
          <a:solidFill>
            <a:srgbClr val="E2F0D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2551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2496312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経費の領収書を写真で出したい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343400" y="2606040"/>
            <a:ext cx="2314575" cy="292608"/>
          </a:xfrm>
          <a:prstGeom prst="roundRect">
            <a:avLst>
              <a:gd name="adj" fmla="val 15625"/>
            </a:avLst>
          </a:prstGeom>
          <a:solidFill>
            <a:srgbClr val="A9D1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49415" y="2496312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81票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136392"/>
            <a:ext cx="402336" cy="402336"/>
          </a:xfrm>
          <a:prstGeom prst="ellipse">
            <a:avLst/>
          </a:prstGeom>
          <a:solidFill>
            <a:srgbClr val="E2F0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3081528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共有フォルダを検索しやすく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4343400" y="3191256"/>
            <a:ext cx="1628775" cy="292608"/>
          </a:xfrm>
          <a:prstGeom prst="roundRect">
            <a:avLst>
              <a:gd name="adj" fmla="val 15625"/>
            </a:avLst>
          </a:prstGeom>
          <a:solidFill>
            <a:srgbClr val="A9D18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63615" y="30815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57票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721608"/>
            <a:ext cx="402336" cy="402336"/>
          </a:xfrm>
          <a:prstGeom prst="ellipse">
            <a:avLst/>
          </a:prstGeom>
          <a:solidFill>
            <a:srgbClr val="E2F0D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" y="37216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666744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社内FAQをもっと見つけやすく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4343400" y="3776472"/>
            <a:ext cx="1200150" cy="292608"/>
          </a:xfrm>
          <a:prstGeom prst="roundRect">
            <a:avLst>
              <a:gd name="adj" fmla="val 15625"/>
            </a:avLst>
          </a:prstGeom>
          <a:solidFill>
            <a:srgbClr val="A9D18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634990" y="3666744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42票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2026年9月の社内アンケート（回答312人、1人3票まで）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業務の流れを説明したい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ステップ数が多い業務を、誰が・どの順に・何をするかで整理する型。メッセージの例：「経費精算は3部署・8ステップで回る」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スイムレーン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7-1　スイムレーン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複数の部署や担当をまたぐ業務を見せるとき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折り返しステップ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7-2　折り返しステップ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10前後のステップを順番どおりに見せるとき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フェーズ＋ステップ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7-3　フェーズ＋ステップ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多くのステップを大きな段階でまとめたいとき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全体→拡大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7-4　全体→拡大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長い業務のうち、1つの工程を詳しく見せたいとき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フロー＋担当表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7-5　フロー＋担当表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各ステップの担当や受け渡す資料まで示したいとき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38404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08192" y="39136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例外・差し戻し付き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7-6　例外・差し戻し付き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42428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通常の流れと例外の流れを両方見せたいとき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7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7-1　スイムレーン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複数の部署や担当をまたぐ業務を見せるとき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経費精算は3部署・8ステップ。経理での照合で滞りやすい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1024128"/>
          </a:xfrm>
          <a:prstGeom prst="rect">
            <a:avLst>
              <a:gd name="adj" fmla="val 5357"/>
            </a:avLst>
          </a:prstGeom>
          <a:solidFill>
            <a:srgbClr val="F3F8E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98448"/>
            <a:ext cx="960120" cy="1024128"/>
          </a:xfrm>
          <a:prstGeom prst="rect">
            <a:avLst>
              <a:gd name="adj" fmla="val 5714"/>
            </a:avLst>
          </a:prstGeom>
          <a:solidFill>
            <a:srgbClr val="E2F0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298448"/>
            <a:ext cx="960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95728"/>
            <a:ext cx="8229600" cy="1024128"/>
          </a:xfrm>
          <a:prstGeom prst="rect">
            <a:avLst>
              <a:gd name="adj" fmla="val 535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95728"/>
            <a:ext cx="960120" cy="1024128"/>
          </a:xfrm>
          <a:prstGeom prst="rect">
            <a:avLst>
              <a:gd name="adj" fmla="val 5714"/>
            </a:avLst>
          </a:prstGeom>
          <a:solidFill>
            <a:srgbClr val="E2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395728"/>
            <a:ext cx="960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上長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1024128"/>
          </a:xfrm>
          <a:prstGeom prst="rect">
            <a:avLst>
              <a:gd name="adj" fmla="val 5357"/>
            </a:avLst>
          </a:prstGeom>
          <a:solidFill>
            <a:srgbClr val="F3F8EF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3493008"/>
            <a:ext cx="960120" cy="1024128"/>
          </a:xfrm>
          <a:prstGeom prst="rect">
            <a:avLst>
              <a:gd name="adj" fmla="val 5714"/>
            </a:avLst>
          </a:prstGeom>
          <a:solidFill>
            <a:srgbClr val="E2F0D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493008"/>
            <a:ext cx="960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経理部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72768" y="153619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09344" y="153619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領収書を受け取る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481328" y="142646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481328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22576" y="1819656"/>
            <a:ext cx="109728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50592" y="153619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487168" y="153619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精算を入力する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59152" y="142646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359152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0" y="1819656"/>
            <a:ext cx="502920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03320" y="1819656"/>
            <a:ext cx="91" cy="795528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28416" y="263347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364992" y="263347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内容を確認する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36976" y="252374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36976" y="2523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78224" y="2916936"/>
            <a:ext cx="109728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206240" y="263347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42816" y="263347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承認する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14800" y="252374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114800" y="2523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56048" y="2916936"/>
            <a:ext cx="502920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58968" y="2916936"/>
            <a:ext cx="91" cy="795528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084064" y="373075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2F523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120640" y="373075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領収書と照合する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92624" y="3621024"/>
            <a:ext cx="237744" cy="237744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992624" y="3621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833872" y="4014216"/>
            <a:ext cx="109728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961888" y="373075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998464" y="373075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仕訳を登録する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70448" y="362102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870448" y="3621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711696" y="4014216"/>
            <a:ext cx="109728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839712" y="373075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876288" y="373075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振込を予約する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748272" y="362102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748272" y="3621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589520" y="4014216"/>
            <a:ext cx="502920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8092440" y="2121408"/>
            <a:ext cx="91" cy="1892808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717536" y="1536192"/>
            <a:ext cx="74980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754112" y="1536192"/>
            <a:ext cx="676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入金を確認する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626096" y="1426464"/>
            <a:ext cx="237744" cy="237744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626096" y="1426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4992624" y="433425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平均3日滞留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7-2　折り返しステップ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10前後のステップを順番どおりに見せるとき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新入社員のPCは、10のステップを経て入社日に手渡す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申請を受付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94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人事部から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84248" y="19659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3716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86000" y="1463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18288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機種を手配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2194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納期2週間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30168" y="19659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94760" y="13716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931920" y="1463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18288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初期設定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931920" y="2194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標準イメージ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76088" y="19659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40680" y="13716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77840" y="1463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577840" y="18288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IDを作成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194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メール・ポータル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22008" y="19659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86600" y="137160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223760" y="146304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182880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権限を付与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19456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所属部署に合わせる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ソフトを導入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069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部署ごとの指定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984248" y="384048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14884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286000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2286000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動作を確認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4069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チェックリスト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30168" y="384048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79476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2F523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931920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3931920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入社日に手渡し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3931920" y="4069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受領書に署名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76088" y="384048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44068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577840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5577840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使い方を説明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5577840" y="4069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30分の説明会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22008" y="384048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086600" y="3246120"/>
            <a:ext cx="1463040" cy="1188720"/>
          </a:xfrm>
          <a:prstGeom prst="roundRect">
            <a:avLst>
              <a:gd name="adj" fmla="val 4615"/>
            </a:avLst>
          </a:prstGeom>
          <a:solidFill>
            <a:srgbClr val="F3F8E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223760" y="33375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1800" dirty="0"/>
          </a:p>
        </p:txBody>
      </p:sp>
      <p:sp>
        <p:nvSpPr>
          <p:cNvPr id="51" name="Text 49"/>
          <p:cNvSpPr txBox="1"/>
          <p:nvPr/>
        </p:nvSpPr>
        <p:spPr>
          <a:xfrm>
            <a:off x="7223760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受領書を保管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7223760" y="4069080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資産台帳に登録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818120" y="2560320"/>
            <a:ext cx="91" cy="338328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>
            <a:off x="1234440" y="2898648"/>
            <a:ext cx="6583680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234440" y="2898648"/>
            <a:ext cx="91" cy="329184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3886200" y="446227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入社日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7-3　フェーズ＋ステップ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多くのステップを大きな段階でまとめたいとき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権限の棚卸しは、4つのフェーズ・14ステップで進める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148840" cy="566928"/>
          </a:xfrm>
          <a:prstGeom prst="homePlate">
            <a:avLst/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325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準備</a:t>
            </a:r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4月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057400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205740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86968" y="20574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対象システムを決める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679192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4360" y="2679192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2679192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権限一覧を出力する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00984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" y="330098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330098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部署ごとに分ける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532888" y="1325880"/>
            <a:ext cx="2148840" cy="566928"/>
          </a:xfrm>
          <a:prstGeom prst="chevron">
            <a:avLst/>
          </a:prstGeom>
          <a:solidFill>
            <a:srgbClr val="E2F0D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880360" y="1325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</a:t>
            </a:r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5月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78608" y="2057400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670048" y="205740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962656" y="20574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部署長に一覧を送る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78608" y="2679192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70048" y="2679192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962656" y="2679192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不要な権限に印を付ける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78608" y="3300984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670048" y="330098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2962656" y="330098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不明な権限を問い合わせる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578608" y="3922776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670048" y="3922776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962656" y="392277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回答を回収する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08576" y="1325880"/>
            <a:ext cx="2148840" cy="566928"/>
          </a:xfrm>
          <a:prstGeom prst="chevron">
            <a:avLst/>
          </a:prstGeom>
          <a:solidFill>
            <a:srgbClr val="E2F0D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956048" y="1325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是正</a:t>
            </a:r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6月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54296" y="2057400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45736" y="205740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038344" y="20574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不要な権限を削除する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654296" y="2679192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45736" y="2679192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038344" y="2679192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削除結果を記録する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54296" y="3300984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2F523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745736" y="330098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038344" y="330098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責任者が承認する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684264" y="1325880"/>
            <a:ext cx="2148840" cy="566928"/>
          </a:xfrm>
          <a:prstGeom prst="chevron">
            <a:avLst/>
          </a:prstGeom>
          <a:solidFill>
            <a:srgbClr val="E2F0D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031736" y="13258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報告</a:t>
            </a:r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7月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729984" y="2057400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821424" y="2057400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7114032" y="2057400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結果を集計する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729984" y="2679192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821424" y="2679192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7114032" y="2679192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監査部門に報告する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729984" y="3300984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821424" y="3300984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7114032" y="3300984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次年度の改善点をまとめる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729984" y="3922776"/>
            <a:ext cx="1901952" cy="512064"/>
          </a:xfrm>
          <a:prstGeom prst="roundRect">
            <a:avLst>
              <a:gd name="adj" fmla="val 10714"/>
            </a:avLst>
          </a:prstGeom>
          <a:solidFill>
            <a:srgbClr val="F3F8E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21424" y="3922776"/>
            <a:ext cx="2926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7114032" y="3922776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手順書を更新する</a:t>
            </a:r>
            <a:endParaRPr lang="en-US" sz="1150" dirty="0"/>
          </a:p>
        </p:txBody>
      </p:sp>
      <p:sp>
        <p:nvSpPr>
          <p:cNvPr id="55" name="Text 53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7-4　全体→拡大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長い業務のうち、1つの工程を詳しく見せたいとき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購買の6工程のうち、ミスの多い「検収」を5つの作業に分ける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購入を依頼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709928" y="1577340"/>
            <a:ext cx="128016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56232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56232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見積を取る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108960" y="1577340"/>
            <a:ext cx="128016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55264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255264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発注する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07992" y="1577340"/>
            <a:ext cx="128016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54296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2F523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54296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検収する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07024" y="1577340"/>
            <a:ext cx="128016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53328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53328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支払う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06056" y="1577340"/>
            <a:ext cx="128016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452360" y="132588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52360" y="13258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記帳する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 flipH="1">
            <a:off x="457200" y="1828800"/>
            <a:ext cx="4197096" cy="411480"/>
          </a:xfrm>
          <a:prstGeom prst="line">
            <a:avLst/>
          </a:prstGeom>
          <a:noFill/>
          <a:ln w="12700">
            <a:solidFill>
              <a:srgbClr val="2F5233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888736" y="1828800"/>
            <a:ext cx="2798064" cy="411480"/>
          </a:xfrm>
          <a:prstGeom prst="line">
            <a:avLst/>
          </a:prstGeom>
          <a:noFill/>
          <a:ln w="12700">
            <a:solidFill>
              <a:srgbClr val="2F5233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57200" y="2240280"/>
            <a:ext cx="8229600" cy="2286000"/>
          </a:xfrm>
          <a:prstGeom prst="rect">
            <a:avLst>
              <a:gd name="adj" fmla="val 2400"/>
            </a:avLst>
          </a:prstGeom>
          <a:solidFill>
            <a:srgbClr val="F3F8EF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" y="251460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2606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3-1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95528" y="28620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納品物を受け取る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9552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納品書と一緒に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75688" y="3086100"/>
            <a:ext cx="19202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286000" y="251460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2225">
            <a:solidFill>
              <a:srgbClr val="C8691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395728" y="2606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2395728" y="28620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数量を照合する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39572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発注書と比べる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75888" y="3086100"/>
            <a:ext cx="19202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886200" y="251460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95928" y="2606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3-3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995928" y="28620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品質を確認する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399592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破損・型番違い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276088" y="3086100"/>
            <a:ext cx="19202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486400" y="251460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596128" y="2606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596128" y="28620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検収書を作る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559612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担当と上長が押印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876288" y="3086100"/>
            <a:ext cx="19202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7086600" y="2514600"/>
            <a:ext cx="13716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196328" y="26060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3-5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7196328" y="286207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システムに登録する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196328" y="32918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支払処理へ連携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" y="3886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ミスの7割は「3-2 数量の照合」で発生。</a:t>
            </a:r>
            <a:pPr indent="0" marL="0">
              <a:buNone/>
            </a:pPr>
            <a:r>
              <a:rPr lang="en-US" sz="13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分納のときに発注書の残数と照合できていない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7-5　フロー＋担当表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各ステップの担当や受け渡す資料まで示したいとき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月次締めの7作業は、担当と受け渡す資料をそろえて引き継ぐ</a:t>
            </a:r>
            <a:endParaRPr lang="en-US" sz="2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98448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1005840"/>
                <a:gridCol w="1600200"/>
                <a:gridCol w="1600200"/>
                <a:gridCol w="15087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作業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担当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受け取るもの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渡すもの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F52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期限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売上データを確定する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売上一覧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確定済み売上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経費の入力を締める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各部署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精算データ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経費一覧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仮払金を精算する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経理部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仮払台帳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精算済み台帳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2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仕訳を確認する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経理部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仕訳一覧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確認済み仕訳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E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試算表を作る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経理部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確認済み仕訳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試算表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差異を分析する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経理部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試算表・予算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差異報告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48235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経営会議に報告する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経理部長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差異報告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会議資料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6301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6営業日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9144" marB="9144" anchor="ctr">
                    <a:lnL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4の仕訳確認は担当者1人に集中しているため、来期から2人で分担する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7-6　例外・差し戻し付き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通常の流れと例外の流れを両方見せたいとき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申請処理は6ステップ。不備と期限超過の2つの例外を決めておく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508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6072" y="15087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申請を受け付ける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09928" y="18516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74520" y="1508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947672" y="15087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書類をそろえる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81528" y="18516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46120" y="1508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19272" y="15087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内容を審査する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53128" y="18516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17720" y="1508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90872" y="15087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責任者が承認する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24728" y="18516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508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62472" y="15087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処理を実行する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96328" y="1851660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60920" y="1508760"/>
            <a:ext cx="1188720" cy="685800"/>
          </a:xfrm>
          <a:prstGeom prst="roundRect">
            <a:avLst>
              <a:gd name="adj" fmla="val 8000"/>
            </a:avLst>
          </a:prstGeom>
          <a:solidFill>
            <a:srgbClr val="E2F0D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34072" y="1508760"/>
            <a:ext cx="1042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結果を通知する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通常の流れ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2194560"/>
            <a:ext cx="91" cy="1051560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3913632" y="2514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不備あり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29184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520440" y="33375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差し戻す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不備の箇所を伝え、2の書類準備へ戻す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 flipH="1">
            <a:off x="2468880" y="3749040"/>
            <a:ext cx="914400" cy="91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2468880" y="2212848"/>
            <a:ext cx="91" cy="1536192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583680" y="2194560"/>
            <a:ext cx="91" cy="1051560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656832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3日を超えた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29184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FBE5D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172200" y="333756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責任者に知らせる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システムが自動で通知し、当日中に対応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0292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例外の流れ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08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システム処理の流れを説明したい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細かくなりがちな処理を、順番・データ・構成のどれを見せたいかで描き分ける型。メッセージの例：「表示までに5つの部品が連携する」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シーケンス図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8-1　シーケンス図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998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部品どうしのやり取りを時間順に見せるとき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2788920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データフロー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8-2　データフロー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0998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データがどこから来て、どう変わり、どこへ行くかを見せるとき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2788920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構成図＋処理番号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8-3　構成図＋処理番号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09981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細かい構成図の上で処理の順番を示したいとき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447288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バッチの時間割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8-4　バッチの時間割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6112" y="37581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夜間処理などの開始・終了時刻と順番を見せるとき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37560" y="3447288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152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5" action="ppaction://hlinksldjump" tooltip="状態遷移図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8-5　状態遷移図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7581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データや申請の状態がどう変わるかを見せるとき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3447288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08192" y="34930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6" action="ppaction://hlinksldjump" tooltip="概要→詳細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8-6　概要→詳細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6108192" y="37581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全体の流れの1か所だけを細かく見せたいとき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105656"/>
            <a:ext cx="242316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1513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7" action="ppaction://hlinksldjump" tooltip="正常系＋異常系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8-7　正常系＋異常系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416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エラー時にどう回復するかまで見せたいとき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8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8-1　シーケンス図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部品どうしのやり取りを時間順に見せるとき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照会画面の表示では、5つの部品が8回やり取りする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211580" y="1691640"/>
            <a:ext cx="91" cy="2880360"/>
          </a:xfrm>
          <a:prstGeom prst="line">
            <a:avLst/>
          </a:prstGeom>
          <a:noFill/>
          <a:ln w="12700">
            <a:solidFill>
              <a:srgbClr val="C5D6B8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40280" y="12801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2F0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4028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Webサーバ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03220" y="1691640"/>
            <a:ext cx="91" cy="2880360"/>
          </a:xfrm>
          <a:prstGeom prst="line">
            <a:avLst/>
          </a:prstGeom>
          <a:noFill/>
          <a:ln w="12700">
            <a:solidFill>
              <a:srgbClr val="C5D6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31920" y="12801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2F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認証サーバ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94860" y="1691640"/>
            <a:ext cx="91" cy="2880360"/>
          </a:xfrm>
          <a:prstGeom prst="line">
            <a:avLst/>
          </a:prstGeom>
          <a:noFill/>
          <a:ln w="12700">
            <a:solidFill>
              <a:srgbClr val="C5D6B8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623560" y="12801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2F0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2356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APサーバ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86500" y="1691640"/>
            <a:ext cx="91" cy="2880360"/>
          </a:xfrm>
          <a:prstGeom prst="line">
            <a:avLst/>
          </a:prstGeom>
          <a:noFill/>
          <a:ln w="12700">
            <a:solidFill>
              <a:srgbClr val="C5D6B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315200" y="1280160"/>
            <a:ext cx="1325880" cy="411480"/>
          </a:xfrm>
          <a:prstGeom prst="roundRect">
            <a:avLst>
              <a:gd name="adj" fmla="val 13333"/>
            </a:avLst>
          </a:prstGeom>
          <a:solidFill>
            <a:srgbClr val="E2F0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0" y="12801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データベース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78140" y="1691640"/>
            <a:ext cx="91" cy="2880360"/>
          </a:xfrm>
          <a:prstGeom prst="line">
            <a:avLst/>
          </a:prstGeom>
          <a:noFill/>
          <a:ln w="12700">
            <a:solidFill>
              <a:srgbClr val="C5D6B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1211580" y="2011680"/>
            <a:ext cx="1664208" cy="91"/>
          </a:xfrm>
          <a:prstGeom prst="line">
            <a:avLst/>
          </a:prstGeom>
          <a:noFill/>
          <a:ln w="15875">
            <a:solidFill>
              <a:srgbClr val="2F523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303020" y="17647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　画面を開く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03220" y="2340864"/>
            <a:ext cx="1664208" cy="91"/>
          </a:xfrm>
          <a:prstGeom prst="line">
            <a:avLst/>
          </a:prstGeom>
          <a:noFill/>
          <a:ln w="15875">
            <a:solidFill>
              <a:srgbClr val="2F5233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994660" y="20939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　IDを照会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 flipH="1">
            <a:off x="2930652" y="2670048"/>
            <a:ext cx="1664208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2994660" y="242316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　認証OK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03220" y="2999232"/>
            <a:ext cx="3355848" cy="91"/>
          </a:xfrm>
          <a:prstGeom prst="line">
            <a:avLst/>
          </a:prstGeom>
          <a:noFill/>
          <a:ln w="15875">
            <a:solidFill>
              <a:srgbClr val="2F5233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2994660" y="275234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　利用者情報を要求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86500" y="3328416"/>
            <a:ext cx="1664208" cy="91"/>
          </a:xfrm>
          <a:prstGeom prst="line">
            <a:avLst/>
          </a:prstGeom>
          <a:noFill/>
          <a:ln w="25400">
            <a:solidFill>
              <a:srgbClr val="C8691C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377940" y="308152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　データを検索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flipH="1">
            <a:off x="6313932" y="3657600"/>
            <a:ext cx="1664208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377940" y="341071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　検索結果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 flipH="1">
            <a:off x="2930652" y="3986784"/>
            <a:ext cx="3355848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2994660" y="373989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　画面データ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H="1">
            <a:off x="1239012" y="4315968"/>
            <a:ext cx="1664208" cy="91"/>
          </a:xfrm>
          <a:prstGeom prst="line">
            <a:avLst/>
          </a:prstGeom>
          <a:noFill/>
          <a:ln w="15875">
            <a:solidFill>
              <a:srgbClr val="8C9687"/>
            </a:solidFill>
            <a:prstDash val="dash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1303020" y="4069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　画面を表示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3840480" y="457200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5のデータ検索が全体の処理時間の6割を占める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8-2　データフロー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データがどこから来て、どう変わり、どこへ行くかを見せるとき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売上データは3か所から取り込み、チェック後に3つの形で出す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入力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12984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129844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1F3E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店舗のレジ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2011680"/>
            <a:ext cx="85039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69748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1F3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ECサイト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 flipV="1">
            <a:off x="2560320" y="2011680"/>
            <a:ext cx="850392" cy="1005840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1F3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取引先からのCSV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2560320" y="2011680"/>
            <a:ext cx="850392" cy="2011680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29000" y="169164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2F0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2044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取り込む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 2:00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2331720"/>
            <a:ext cx="91" cy="34747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29000" y="269748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2F52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5204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形式をチェックする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桁数・日付・重複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0" y="3337560"/>
            <a:ext cx="91" cy="34747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29000" y="3703320"/>
            <a:ext cx="2286000" cy="640080"/>
          </a:xfrm>
          <a:prstGeom prst="roundRect">
            <a:avLst>
              <a:gd name="adj" fmla="val 8571"/>
            </a:avLst>
          </a:prstGeom>
          <a:solidFill>
            <a:srgbClr val="E2F0D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52044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日別・店舗別に集計する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税抜・税込の両方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169164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BE5D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83680" y="16916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エラー一覧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269748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3F8E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売上データベース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3703320"/>
            <a:ext cx="2103120" cy="640080"/>
          </a:xfrm>
          <a:prstGeom prst="roundRect">
            <a:avLst>
              <a:gd name="adj" fmla="val 8571"/>
            </a:avLst>
          </a:prstGeom>
          <a:solidFill>
            <a:srgbClr val="F3F8E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0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日次レポート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 flipV="1">
            <a:off x="5715000" y="2011680"/>
            <a:ext cx="850392" cy="1005840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5715000" y="3017520"/>
            <a:ext cx="850392" cy="1005840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715000" y="4023360"/>
            <a:ext cx="85039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429000" y="443484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エラーの行だけを外し、残りは処理を続ける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8-3　構成図＋処理番号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細かい構成図の上で処理の順番を示したいとき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帳票の出力は、構成図上の6つの処理で完了する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965960" y="1298448"/>
            <a:ext cx="3840480" cy="3273552"/>
          </a:xfrm>
          <a:prstGeom prst="roundRect">
            <a:avLst>
              <a:gd name="adj" fmla="val 1676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210312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サーバ室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1F3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720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利用者のPC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194560" y="169164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2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19456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負荷分散装置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51960" y="169164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2F0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251960" y="1691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APサーバ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51960" y="288036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2F0D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51960" y="28803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データベース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194560" y="288036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F52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194560" y="28803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帳票サーバ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94560" y="393192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2F0D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194560" y="39319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ファイル保管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783080" y="1943100"/>
            <a:ext cx="39319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56232" y="1563624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856232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520440" y="1943100"/>
            <a:ext cx="71323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49040" y="1563624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749040" y="15636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14900" y="2194560"/>
            <a:ext cx="91" cy="66751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038344" y="2404872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038344" y="24048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 flipH="1">
            <a:off x="3538728" y="2194560"/>
            <a:ext cx="713232" cy="66751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575304" y="2267712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575304" y="22677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57500" y="3383280"/>
            <a:ext cx="91" cy="53035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980944" y="3520440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980944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 flipH="1">
            <a:off x="1120140" y="4183380"/>
            <a:ext cx="1074420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1120140" y="2212848"/>
            <a:ext cx="91" cy="1970532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92124" y="3072384"/>
            <a:ext cx="256032" cy="256032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92124" y="30723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1380744"/>
            <a:ext cx="292608" cy="292608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035040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1325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利用者が帳票の出力を依頼する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035040" y="1929384"/>
            <a:ext cx="292608" cy="292608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035040" y="1929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6446520" y="18745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負荷の低いAPサーバに振り分ける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035040" y="2478024"/>
            <a:ext cx="292608" cy="292608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035040" y="24780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24231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帳票に載せるデータを取得する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035040" y="3026664"/>
            <a:ext cx="292608" cy="292608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03504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44652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帳票サーバに作成を依頼する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035040" y="3575304"/>
            <a:ext cx="292608" cy="292608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035040" y="3575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6446520" y="35204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作成したPDFを保管する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035040" y="4123944"/>
            <a:ext cx="292608" cy="292608"/>
          </a:xfrm>
          <a:prstGeom prst="ellipse">
            <a:avLst/>
          </a:prstGeom>
          <a:solidFill>
            <a:srgbClr val="C8691C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035040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4069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利用者がPDFをダウンロードする</a:t>
            </a:r>
            <a:endParaRPr lang="en-US" sz="1150" dirty="0"/>
          </a:p>
        </p:txBody>
      </p:sp>
      <p:sp>
        <p:nvSpPr>
          <p:cNvPr id="56" name="Text 5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8-4　バッチの時間割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夜間処理などの開始・終了時刻と順番を見せるとき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夜間バッチは5:20に終わり、6:00の業務開始まで40分の余裕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22:00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103120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23744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23:00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889504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10128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0:00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75888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096512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1:00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62272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82896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2:00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248656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3:00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35040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4:00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21424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42048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5:00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07808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28432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6:00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94192" y="1600200"/>
            <a:ext cx="91" cy="2743200"/>
          </a:xfrm>
          <a:prstGeom prst="line">
            <a:avLst/>
          </a:prstGeom>
          <a:noFill/>
          <a:ln w="9525">
            <a:solidFill>
              <a:srgbClr val="D5DAD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日次締め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03120" y="1783080"/>
            <a:ext cx="1179576" cy="274320"/>
          </a:xfrm>
          <a:prstGeom prst="roundRect">
            <a:avLst>
              <a:gd name="adj" fmla="val 16667"/>
            </a:avLst>
          </a:prstGeom>
          <a:solidFill>
            <a:srgbClr val="2F523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22494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外部とのデータ連携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889504" y="2295144"/>
            <a:ext cx="1179576" cy="27432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27614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集計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82696" y="2807208"/>
            <a:ext cx="1572768" cy="274320"/>
          </a:xfrm>
          <a:prstGeom prst="roundRect">
            <a:avLst>
              <a:gd name="adj" fmla="val 16667"/>
            </a:avLst>
          </a:prstGeom>
          <a:solidFill>
            <a:srgbClr val="2F523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3273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バックアップ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62272" y="3319272"/>
            <a:ext cx="1965960" cy="274320"/>
          </a:xfrm>
          <a:prstGeom prst="roundRect">
            <a:avLst>
              <a:gd name="adj" fmla="val 16667"/>
            </a:avLst>
          </a:prstGeom>
          <a:solidFill>
            <a:srgbClr val="A9D18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" y="378561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レポート作成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55464" y="3831336"/>
            <a:ext cx="3011851" cy="274320"/>
          </a:xfrm>
          <a:prstGeom prst="roundRect">
            <a:avLst>
              <a:gd name="adj" fmla="val 16667"/>
            </a:avLst>
          </a:prstGeom>
          <a:solidFill>
            <a:srgbClr val="2F5233"/>
          </a:solidFill>
          <a:ln/>
        </p:spPr>
      </p:sp>
      <p:sp>
        <p:nvSpPr>
          <p:cNvPr id="33" name="Shape 31"/>
          <p:cNvSpPr/>
          <p:nvPr/>
        </p:nvSpPr>
        <p:spPr>
          <a:xfrm>
            <a:off x="8394192" y="1600200"/>
            <a:ext cx="91" cy="2743200"/>
          </a:xfrm>
          <a:prstGeom prst="line">
            <a:avLst/>
          </a:prstGeom>
          <a:noFill/>
          <a:ln w="25400">
            <a:solidFill>
              <a:srgbClr val="C869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7315" y="3831336"/>
            <a:ext cx="526877" cy="274320"/>
          </a:xfrm>
          <a:prstGeom prst="rect">
            <a:avLst>
              <a:gd name="adj" fmla="val 20000"/>
            </a:avLst>
          </a:prstGeom>
          <a:solidFill>
            <a:srgbClr val="FBE5D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770035" y="41330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余裕40分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982712" y="1097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業務開始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389120"/>
            <a:ext cx="274320" cy="146304"/>
          </a:xfrm>
          <a:prstGeom prst="roundRect">
            <a:avLst>
              <a:gd name="adj" fmla="val 18750"/>
            </a:avLst>
          </a:prstGeom>
          <a:solidFill>
            <a:srgbClr val="2F523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4343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前の処理を待つ流れ（遅れると全体が遅れる）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8-5　状態遷移図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データや申請の状態がどう変わるかを見せるとき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申請データは6つの状態を持ち、差し戻されると下書きに戻る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463040" cy="658368"/>
          </a:xfrm>
          <a:prstGeom prst="roundRect">
            <a:avLst>
              <a:gd name="adj" fmla="val 27778"/>
            </a:avLst>
          </a:prstGeom>
          <a:solidFill>
            <a:srgbClr val="E2F0D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20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下書き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920240"/>
            <a:ext cx="1463040" cy="658368"/>
          </a:xfrm>
          <a:prstGeom prst="roundRect">
            <a:avLst>
              <a:gd name="adj" fmla="val 27778"/>
            </a:avLst>
          </a:prstGeom>
          <a:solidFill>
            <a:srgbClr val="E2F0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743200" y="1920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1920240"/>
            <a:ext cx="1463040" cy="658368"/>
          </a:xfrm>
          <a:prstGeom prst="roundRect">
            <a:avLst>
              <a:gd name="adj" fmla="val 27778"/>
            </a:avLst>
          </a:prstGeom>
          <a:solidFill>
            <a:srgbClr val="E2F0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920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承認済み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32320" y="1920240"/>
            <a:ext cx="1463040" cy="658368"/>
          </a:xfrm>
          <a:prstGeom prst="roundRect">
            <a:avLst>
              <a:gd name="adj" fmla="val 27778"/>
            </a:avLst>
          </a:prstGeom>
          <a:solidFill>
            <a:srgbClr val="2F523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32320" y="19202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支払完了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0" y="3566160"/>
            <a:ext cx="1463040" cy="658368"/>
          </a:xfrm>
          <a:prstGeom prst="roundRect">
            <a:avLst>
              <a:gd name="adj" fmla="val 27778"/>
            </a:avLst>
          </a:prstGeom>
          <a:solidFill>
            <a:srgbClr val="FBE5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45920" y="35661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差し戻し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937760" y="3566160"/>
            <a:ext cx="1463040" cy="658368"/>
          </a:xfrm>
          <a:prstGeom prst="roundRect">
            <a:avLst>
              <a:gd name="adj" fmla="val 27778"/>
            </a:avLst>
          </a:prstGeom>
          <a:solidFill>
            <a:srgbClr val="2F52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35661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却下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11680" y="2249424"/>
            <a:ext cx="71323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1874520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申請する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206240" y="2249424"/>
            <a:ext cx="71323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4069080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承認する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0" y="2249424"/>
            <a:ext cx="71323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263640" y="19476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支払う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2578608"/>
            <a:ext cx="91" cy="1316736"/>
          </a:xfrm>
          <a:prstGeom prst="line">
            <a:avLst/>
          </a:prstGeom>
          <a:noFill/>
          <a:ln w="15875">
            <a:solidFill>
              <a:srgbClr val="C869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3127248" y="3895344"/>
            <a:ext cx="164592" cy="91"/>
          </a:xfrm>
          <a:prstGeom prst="line">
            <a:avLst/>
          </a:prstGeom>
          <a:noFill/>
          <a:ln w="15875">
            <a:solidFill>
              <a:srgbClr val="C8691C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3364992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差し戻す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 flipH="1">
            <a:off x="1188720" y="3895344"/>
            <a:ext cx="457200" cy="91"/>
          </a:xfrm>
          <a:prstGeom prst="line">
            <a:avLst/>
          </a:prstGeom>
          <a:noFill/>
          <a:ln w="15875">
            <a:solidFill>
              <a:srgbClr val="C869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1188720" y="2596896"/>
            <a:ext cx="91" cy="1298448"/>
          </a:xfrm>
          <a:prstGeom prst="line">
            <a:avLst/>
          </a:prstGeom>
          <a:noFill/>
          <a:ln w="15875">
            <a:solidFill>
              <a:srgbClr val="C8691C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28600" y="30175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修正する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0" y="2578608"/>
            <a:ext cx="91" cy="1316736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895344"/>
            <a:ext cx="107899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931920" y="36118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却下する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3566160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2F523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0" y="35204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終わりの状態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8-6　概要→詳細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全体の流れの1か所だけを細かく見せたいとき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注文処理のうち「在庫引当」は、在庫の有無で処理が分かれる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注文を受け付ける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1947672"/>
            <a:ext cx="91" cy="201168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2167128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2F523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在庫を引き当てる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463040" y="2788920"/>
            <a:ext cx="91" cy="201168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3008376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1F3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3008376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決済する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0" y="3630168"/>
            <a:ext cx="91" cy="201168"/>
          </a:xfrm>
          <a:prstGeom prst="line">
            <a:avLst/>
          </a:prstGeom>
          <a:noFill/>
          <a:ln w="15875">
            <a:solidFill>
              <a:srgbClr val="8C968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849624"/>
            <a:ext cx="2011680" cy="621792"/>
          </a:xfrm>
          <a:prstGeom prst="roundRect">
            <a:avLst>
              <a:gd name="adj" fmla="val 8824"/>
            </a:avLst>
          </a:prstGeom>
          <a:solidFill>
            <a:srgbClr val="F1F3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384962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出荷を指示する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2468880" y="1325880"/>
            <a:ext cx="411480" cy="841248"/>
          </a:xfrm>
          <a:prstGeom prst="line">
            <a:avLst/>
          </a:prstGeom>
          <a:noFill/>
          <a:ln w="12700">
            <a:solidFill>
              <a:srgbClr val="2F5233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468880" y="2788920"/>
            <a:ext cx="411480" cy="1783080"/>
          </a:xfrm>
          <a:prstGeom prst="line">
            <a:avLst/>
          </a:prstGeom>
          <a:noFill/>
          <a:ln w="12700">
            <a:solidFill>
              <a:srgbClr val="2F523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880360" y="1325880"/>
            <a:ext cx="5806440" cy="3246120"/>
          </a:xfrm>
          <a:prstGeom prst="rect">
            <a:avLst>
              <a:gd name="adj" fmla="val 1690"/>
            </a:avLst>
          </a:prstGeom>
          <a:solidFill>
            <a:srgbClr val="F3F8EF"/>
          </a:solidFill>
          <a:ln/>
        </p:spPr>
      </p:sp>
      <p:sp>
        <p:nvSpPr>
          <p:cNvPr id="19" name="Shape 17"/>
          <p:cNvSpPr/>
          <p:nvPr/>
        </p:nvSpPr>
        <p:spPr>
          <a:xfrm>
            <a:off x="3063240" y="182880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08960" y="18288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在庫を照会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251960" y="2112264"/>
            <a:ext cx="21031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480560" y="1737360"/>
            <a:ext cx="1371600" cy="749808"/>
          </a:xfrm>
          <a:prstGeom prst="diamond">
            <a:avLst/>
          </a:prstGeom>
          <a:solidFill>
            <a:srgbClr val="E2F0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80560" y="17373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在庫あり？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852160" y="2112264"/>
            <a:ext cx="25603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5806440" y="182880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はい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1143000" cy="566928"/>
          </a:xfrm>
          <a:prstGeom prst="roundRect">
            <a:avLst>
              <a:gd name="adj" fmla="val 9677"/>
            </a:avLst>
          </a:prstGeom>
          <a:solidFill>
            <a:srgbClr val="2F523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172200" y="182880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引当を確定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269480" y="2112264"/>
            <a:ext cx="164592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452360" y="1828800"/>
            <a:ext cx="1097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182880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予約番号を発行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166360" y="2487168"/>
            <a:ext cx="91" cy="649224"/>
          </a:xfrm>
          <a:prstGeom prst="line">
            <a:avLst/>
          </a:prstGeom>
          <a:noFill/>
          <a:ln w="15875">
            <a:solidFill>
              <a:srgbClr val="C8691C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230368" y="26517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いいえ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80560" y="315468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BE5D6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26280" y="3154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入荷予定を照会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852160" y="3438144"/>
            <a:ext cx="256032" cy="91"/>
          </a:xfrm>
          <a:prstGeom prst="line">
            <a:avLst/>
          </a:prstGeom>
          <a:noFill/>
          <a:ln w="15875">
            <a:solidFill>
              <a:srgbClr val="C8691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26480" y="3154680"/>
            <a:ext cx="2423160" cy="566928"/>
          </a:xfrm>
          <a:prstGeom prst="roundRect">
            <a:avLst>
              <a:gd name="adj" fmla="val 9677"/>
            </a:avLst>
          </a:prstGeom>
          <a:solidFill>
            <a:srgbClr val="FBE5D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172200" y="315468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取り寄せとして受け付ける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3063240" y="4114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処理時間の目安　在庫あり 0.3秒／取り寄せ 1.2秒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8-7　正常系＋異常系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エラー時にどう回復するかまで見せたいとき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ファイル連携は5ステップ。失敗したときの回復手順も決まっている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371600"/>
          </a:xfrm>
          <a:prstGeom prst="rect">
            <a:avLst>
              <a:gd name="adj" fmla="val 4000"/>
            </a:avLst>
          </a:prstGeom>
          <a:solidFill>
            <a:srgbClr val="F3F8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914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正常系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1554480"/>
          </a:xfrm>
          <a:prstGeom prst="rect">
            <a:avLst>
              <a:gd name="adj" fmla="val 3529"/>
            </a:avLst>
          </a:prstGeom>
          <a:solidFill>
            <a:srgbClr val="FDF3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94360" y="3017520"/>
            <a:ext cx="914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異常系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00200" y="1664208"/>
            <a:ext cx="12161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55064" y="1664208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ファイルを受信する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834640" y="2007108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99232" y="1664208"/>
            <a:ext cx="12161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54096" y="1664208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形式をチェックする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33672" y="2007108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98264" y="1664208"/>
            <a:ext cx="12161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53128" y="1664208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データを取り込む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32704" y="2007108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797296" y="1664208"/>
            <a:ext cx="12161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852160" y="1664208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結果を記録する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31736" y="2007108"/>
            <a:ext cx="146304" cy="91"/>
          </a:xfrm>
          <a:prstGeom prst="line">
            <a:avLst/>
          </a:prstGeom>
          <a:noFill/>
          <a:ln w="15875">
            <a:solidFill>
              <a:srgbClr val="54823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196328" y="1664208"/>
            <a:ext cx="1216152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A9D18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51192" y="1664208"/>
            <a:ext cx="11064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完了を通知する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08276" y="2350008"/>
            <a:ext cx="91" cy="877824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263140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届いていない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00200" y="324612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691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691640" y="3246120"/>
            <a:ext cx="116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30分後に再確認。3回で担当者に連絡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07308" y="2350008"/>
            <a:ext cx="91" cy="877824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3662172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形式が違う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99232" y="324612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691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90672" y="3246120"/>
            <a:ext cx="116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送信元に再送を依頼する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06340" y="2350008"/>
            <a:ext cx="91" cy="877824"/>
          </a:xfrm>
          <a:prstGeom prst="line">
            <a:avLst/>
          </a:prstGeom>
          <a:noFill/>
          <a:ln w="15875">
            <a:solidFill>
              <a:srgbClr val="C8691C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061204" y="26060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869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取込に失敗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98264" y="324612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8691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89704" y="3246120"/>
            <a:ext cx="11612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取込前の状態に戻し、担当者に通知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797296" y="324612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4・5で失敗しても、データは取り込み済みのため翌朝に手動で再通知する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09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まとめて締めくくりたい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資料の最初や最後で、全体の流れや要点を押さえるための型。メッセージの例：「本日お願いしたいことは2点」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要点3つのまとめ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9-1　要点3つのまとめ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最後に結論を振り返るとき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50215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2" action="ppaction://hlinksldjump" tooltip="お願い事項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9-2　お願い事項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350215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承認や判断を求めるとき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926080"/>
            <a:ext cx="242316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08192" y="29992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u="sng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3" action="ppaction://hlinksldjump" tooltip="アジェンダ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9-3　アジェンダ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108192" y="332841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資料の冒頭や章の区切りで全体を示すとき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65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4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目次に戻る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9-1　要点3つのまとめ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最後に結論を振り返るとき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まとめ：チャットは費用以上の効果があり、4月に導入できる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658368" cy="658368"/>
          </a:xfrm>
          <a:prstGeom prst="ellipse">
            <a:avLst/>
          </a:prstGeom>
          <a:solidFill>
            <a:srgbClr val="2F5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4813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25880" y="1371600"/>
            <a:ext cx="7360920" cy="896112"/>
          </a:xfrm>
          <a:prstGeom prst="roundRect">
            <a:avLst>
              <a:gd name="adj" fmla="val 6122"/>
            </a:avLst>
          </a:prstGeom>
          <a:solidFill>
            <a:srgbClr val="F3F8E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54480" y="1371600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効果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1371600"/>
            <a:ext cx="5943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連絡・記録・会議の3点で、月約600時間を削減できる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457200" y="2551176"/>
            <a:ext cx="658368" cy="658368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25511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25880" y="2441448"/>
            <a:ext cx="7360920" cy="896112"/>
          </a:xfrm>
          <a:prstGeom prst="roundRect">
            <a:avLst>
              <a:gd name="adj" fmla="val 6122"/>
            </a:avLst>
          </a:prstGeom>
          <a:solidFill>
            <a:srgbClr val="F3F8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54480" y="2441448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441448"/>
            <a:ext cx="5943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年額約250万円。削減時間を人件費に換算すると約4倍の効果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57200" y="3621024"/>
            <a:ext cx="658368" cy="658368"/>
          </a:xfrm>
          <a:prstGeom prst="ellipse">
            <a:avLst/>
          </a:prstGeom>
          <a:solidFill>
            <a:srgbClr val="54823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62102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325880" y="3511296"/>
            <a:ext cx="7360920" cy="896112"/>
          </a:xfrm>
          <a:prstGeom prst="roundRect">
            <a:avLst>
              <a:gd name="adj" fmla="val 6122"/>
            </a:avLst>
          </a:prstGeom>
          <a:solidFill>
            <a:srgbClr val="F3F8E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54480" y="3511296"/>
            <a:ext cx="1005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進め方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3511296"/>
            <a:ext cx="5943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1月に試行、4月に全社導入。現行のメールはそのまま併用できる</a:t>
            </a:r>
            <a:endParaRPr lang="en-US" sz="155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9-2　お願い事項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承認や判断を求めるとき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本日ご判断いただきたいことは2点です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2240280"/>
          </a:xfrm>
          <a:prstGeom prst="roundRect">
            <a:avLst>
              <a:gd name="adj" fmla="val 2449"/>
            </a:avLst>
          </a:prstGeom>
          <a:solidFill>
            <a:srgbClr val="E2F0D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2225">
            <a:solidFill>
              <a:srgbClr val="2F52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5544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チャットツールの全社導入を承認いただくこと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011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年額約250万円、来年度のIT予算内で対応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3347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22225">
            <a:solidFill>
              <a:srgbClr val="2F52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542032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各部門から推進担当者を1名ずつ出していただくこと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9923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月2回・1時間程度の打ち合わせに参加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30752"/>
            <a:ext cx="8229600" cy="795528"/>
          </a:xfrm>
          <a:prstGeom prst="roundRect">
            <a:avLst>
              <a:gd name="adj" fmla="val 6897"/>
            </a:avLst>
          </a:prstGeom>
          <a:solidFill>
            <a:srgbClr val="2F523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730752"/>
            <a:ext cx="7772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ご回答期限　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11月20日（金）</a:t>
            </a:r>
            <a:pPr indent="0" marL="0">
              <a:buNone/>
            </a:pPr>
            <a:r>
              <a:rPr lang="en-US" sz="1300" dirty="0">
                <a:solidFill>
                  <a:srgbClr val="E2F0D9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12月の発注に間に合わせるため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828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9-3　アジェンダ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0" y="182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資料の冒頭や章の区切りで全体を示すとき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4572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本日の流れ（現在は3章「導入案の比較」）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F1F3E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2588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32588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背景　なぜ今検討するのか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F1F3E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196596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196596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現状の課題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65960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C96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60604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2F523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60604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9D18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260604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導入案の比較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F3F8E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324612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4612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費用と効果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3886200"/>
            <a:ext cx="6400800" cy="530352"/>
          </a:xfrm>
          <a:prstGeom prst="roundRect">
            <a:avLst>
              <a:gd name="adj" fmla="val 10345"/>
            </a:avLst>
          </a:prstGeom>
          <a:solidFill>
            <a:srgbClr val="F3F8E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" y="3886200"/>
            <a:ext cx="54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86200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01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スケジュールとお願い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132320" y="1325880"/>
            <a:ext cx="1554480" cy="3090672"/>
          </a:xfrm>
          <a:prstGeom prst="roundRect">
            <a:avLst>
              <a:gd name="adj" fmla="val 3529"/>
            </a:avLst>
          </a:prstGeom>
          <a:solidFill>
            <a:srgbClr val="E2F0D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6948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所要時間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69480" y="1828800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</a:t>
            </a:r>
            <a:pPr indent="0" marL="0">
              <a:buNone/>
            </a:pPr>
            <a:r>
              <a:rPr lang="en-US" sz="1500" b="1" dirty="0">
                <a:solidFill>
                  <a:srgbClr val="2F52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69480" y="2606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5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うち質疑10分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773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54823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  <a:hlinkClick r:id="rId1" action="ppaction://hlinksldjump" tooltip="目次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目次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C9687"/>
                </a:solidFill>
                <a:latin typeface="Meiryo UI"/>
                <a:ea typeface="Meiryo UI"/>
                <a:cs typeface="Meiryo UI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 Pattern Green">
  <a:themeElements>
    <a:clrScheme name="Slide Pattern Green">
      <a:dk1>
        <a:srgbClr val="26301F"/>
      </a:dk1>
      <a:lt1>
        <a:srgbClr val="FFFFFF"/>
      </a:lt1>
      <a:dk2>
        <a:srgbClr val="2F5233"/>
      </a:dk2>
      <a:lt2>
        <a:srgbClr val="E2F0D9"/>
      </a:lt2>
      <a:accent1>
        <a:srgbClr val="548235"/>
      </a:accent1>
      <a:accent2>
        <a:srgbClr val="A9D18E"/>
      </a:accent2>
      <a:accent3>
        <a:srgbClr val="C8691C"/>
      </a:accent3>
      <a:accent4>
        <a:srgbClr val="7F9C6E"/>
      </a:accent4>
      <a:accent5>
        <a:srgbClr val="8C9687"/>
      </a:accent5>
      <a:accent6>
        <a:srgbClr val="D9E7CE"/>
      </a:accent6>
      <a:hlink>
        <a:srgbClr val="548235"/>
      </a:hlink>
      <a:folHlink>
        <a:srgbClr val="7F9C6E"/>
      </a:folHlink>
    </a:clrScheme>
    <a:fontScheme name="Slide Pattern Green">
      <a:majorFont>
        <a:latin typeface="Meiryo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56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スライド配置の型帳</dc:title>
  <dc:subject>PptxGenJS Presentation</dc:subject>
  <dc:creator>PptxGenJS</dc:creator>
  <cp:lastModifiedBy>PptxGenJS</cp:lastModifiedBy>
  <cp:revision>1</cp:revision>
  <dcterms:created xsi:type="dcterms:W3CDTF">2026-10-31T16:47:18Z</dcterms:created>
  <dcterms:modified xsi:type="dcterms:W3CDTF">2026-10-31T16:47:18Z</dcterms:modified>
</cp:coreProperties>
</file>